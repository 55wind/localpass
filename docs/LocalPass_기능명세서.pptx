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Noto Sans KR" panose="020B0200000000000000" pitchFamily="50" charset="-12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4073E48-5A69-AEF7-C996-8E50867D426D}">
          <p14:sldIdLst>
            <p14:sldId id="256"/>
          </p14:sldIdLst>
        </p14:section>
        <p14:section name="개요" id="{C6A8670E-D1EA-C91B-3AEA-461268BF6C1C}">
          <p14:sldIdLst>
            <p14:sldId id="257"/>
            <p14:sldId id="258"/>
            <p14:sldId id="259"/>
          </p14:sldIdLst>
        </p14:section>
        <p14:section name="화면별 기능 명세" id="{1A180FA7-6DCE-F8C5-D90F-68356B9B4E9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판정 로직 · 보안" id="{1819F013-167B-57CA-639D-19B98BD7C19B}">
          <p14:sldIdLst>
            <p14:sldId id="271"/>
            <p14:sldId id="272"/>
          </p14:sldIdLst>
        </p14:section>
        <p14:section name="검증 · 운영" id="{B1C8B977-2EA6-13CB-48DC-8CB74FB94964}">
          <p14:sldIdLst>
            <p14:sldId id="273"/>
            <p14:sldId id="274"/>
          </p14:sldIdLst>
        </p14:section>
        <p14:section name="마무리" id="{4C83142E-BDA7-E090-DD89-FEBA2E7CDA3B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15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53949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291840"/>
            <a:ext cx="5394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2200" dirty="0">
                <a:solidFill>
                  <a:schemeClr val="tx2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57200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500" dirty="0">
                <a:solidFill>
                  <a:schemeClr val="tx2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2000" b="1" dirty="0">
                <a:solidFill>
                  <a:schemeClr val="accent4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2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65176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2000" dirty="0">
                <a:solidFill>
                  <a:srgbClr val="C9CCD8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LocalPass 기능명세서</a:t>
            </a:r>
            <a:endParaRPr lang="ko-KR" alt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100" dirty="0">
                <a:solidFill>
                  <a:schemeClr val="tx2"/>
                </a:solidFill>
              </a:rPr>
              <a:t>LocalPass 기능명세서</a:t>
            </a:r>
            <a:endParaRPr lang="ko-KR" alt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11064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49040"/>
            <a:ext cx="1088136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25000"/>
              </a:lnSpc>
              <a:buNone/>
              <a:defRPr lang="ko-KR" altLang="en-US" sz="2400" dirty="0">
                <a:solidFill>
                  <a:srgbClr val="C9CCD8"/>
                </a:solidFill>
              </a:defRPr>
            </a:lvl1pPr>
          </a:lstStyle>
          <a:p>
            <a:pPr marL="0" indent="0" eaLnBrk="0">
              <a:lnSpc>
                <a:spcPct val="125000"/>
              </a:lnSpc>
              <a:buNone/>
            </a:pPr>
            <a:endParaRPr lang="ko-KR" alt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pass-kappa.vercel.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pass-kappa.vercel.app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 eaLnBrk="0">
              <a:buNone/>
            </a:pPr>
            <a:r>
              <a:rPr lang="ko-KR" altLang="en-US" sz="4600" b="1" dirty="0">
                <a:solidFill>
                  <a:schemeClr val="tx1"/>
                </a:solidFill>
              </a:rPr>
              <a:t>LocalPass</a:t>
            </a:r>
            <a:endParaRPr lang="ko-KR" altLang="en-US" sz="4600" dirty="0"/>
          </a:p>
          <a:p>
            <a:pPr marL="0" indent="0" algn="l" eaLnBrk="0">
              <a:buNone/>
            </a:pPr>
            <a:r>
              <a:rPr lang="ko-KR" altLang="en-US" sz="4600" b="1" dirty="0">
                <a:solidFill>
                  <a:schemeClr val="tx1"/>
                </a:solidFill>
              </a:rPr>
              <a:t>기능명세서</a:t>
            </a:r>
            <a:endParaRPr lang="ko-KR" alt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2918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dirty="0">
                <a:solidFill>
                  <a:schemeClr val="tx2"/>
                </a:solidFill>
              </a:rPr>
              <a:t>외국인 관광객을 위한 로컬 후기 신뢰도 필터링 서비스</a:t>
            </a:r>
            <a:endParaRPr lang="ko-KR" alt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45720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2026 지역혁신 인재양성 연합 페스티벌 · AI·DX 산출물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팀  류황규 · 박건우 · 홍승우 · 황지룡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500" u="sng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서비스  https://localpass-kappa.vercel.app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작성일  2026. 10. 02</a:t>
            </a:r>
            <a:endParaRPr lang="ko-KR" altLang="en-US" sz="1500" dirty="0"/>
          </a:p>
        </p:txBody>
      </p:sp>
      <p:sp>
        <p:nvSpPr>
          <p:cNvPr id="5" name="frame 메인 화면"/>
          <p:cNvSpPr/>
          <p:nvPr/>
        </p:nvSpPr>
        <p:spPr>
          <a:xfrm>
            <a:off x="6318504" y="1380744"/>
            <a:ext cx="5422392" cy="2970657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6" name="screen 메인 화면" descr="메인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5349240" cy="2897505"/>
          </a:xfrm>
          <a:prstGeom prst="rect">
            <a:avLst/>
          </a:prstGeom>
        </p:spPr>
      </p:pic>
      <p:sp>
        <p:nvSpPr>
          <p:cNvPr id="7" name="seal 찐"/>
          <p:cNvSpPr/>
          <p:nvPr/>
        </p:nvSpPr>
        <p:spPr>
          <a:xfrm rot="-300000">
            <a:off x="6172200" y="109728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찐</a:t>
            </a:r>
            <a:endParaRPr lang="ko-KR" altLang="en-US" sz="1700" dirty="0"/>
          </a:p>
        </p:txBody>
      </p:sp>
      <p:sp>
        <p:nvSpPr>
          <p:cNvPr id="8" name="qr card"/>
          <p:cNvSpPr/>
          <p:nvPr/>
        </p:nvSpPr>
        <p:spPr>
          <a:xfrm>
            <a:off x="10104120" y="4526280"/>
            <a:ext cx="1600200" cy="187452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9" name="qr site" descr="사이트 QR 코드 https://localpass-kappa.vercel.a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4599432"/>
            <a:ext cx="1417320" cy="1417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104120" y="6035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사이트 바로가기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서비스 개요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800" dirty="0">
                <a:solidFill>
                  <a:schemeClr val="tx2"/>
                </a:solidFill>
              </a:rPr>
              <a:t>공공 관광데이터와 네이버 블로그 후기를 결합하고, 협찬 여부와 AI 작성 여부를 이중으로 걸러 진짜 사람의 로컬 추천만 다국어로 제공합니다.</a:t>
            </a:r>
            <a:endParaRPr lang="ko-KR" altLang="en-US" sz="1800" dirty="0"/>
          </a:p>
        </p:txBody>
      </p:sp>
      <p:sp>
        <p:nvSpPr>
          <p:cNvPr id="4" name="card 문제"/>
          <p:cNvSpPr/>
          <p:nvPr/>
        </p:nvSpPr>
        <p:spPr>
          <a:xfrm>
            <a:off x="548640" y="2148840"/>
            <a:ext cx="3520440" cy="4069080"/>
          </a:xfrm>
          <a:prstGeom prst="roundRect">
            <a:avLst>
              <a:gd name="adj" fmla="val 31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048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문제</a:t>
            </a:r>
            <a:endParaRPr lang="ko-KR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정보 접근 비대칭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신뢰도 높은 로컬 정보는 한국어 네이버 블로그에만 있음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번역해도 협찬·광고·AI 작성 글을 외국인은 가려낼 수 없음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광고 수익 구조상 유명 장소에만 콘텐츠가 쏠려 지방은 사각지대</a:t>
            </a:r>
            <a:endParaRPr lang="ko-KR" altLang="en-US" sz="1700" dirty="0"/>
          </a:p>
        </p:txBody>
      </p:sp>
      <p:sp>
        <p:nvSpPr>
          <p:cNvPr id="8" name="card 해결"/>
          <p:cNvSpPr/>
          <p:nvPr/>
        </p:nvSpPr>
        <p:spPr>
          <a:xfrm>
            <a:off x="4297680" y="2148840"/>
            <a:ext cx="3520440" cy="4069080"/>
          </a:xfrm>
          <a:prstGeom prst="roundRect">
            <a:avLst>
              <a:gd name="adj" fmla="val 311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4048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해결</a:t>
            </a:r>
            <a:endParaRPr lang="ko-KR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이중 신뢰도 필터 + 공식 데이터</a:t>
            </a:r>
            <a:endParaRPr lang="ko-KR" alt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7490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한국관광공사 TourAPI로 전국 관광지·축제·전통시장 확보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협찬: 표기 규칙 + Qwen 문맥 판단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AI 작성: Fast-DetectGPT로 판별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판정 근거를 도장 배지와 함께 투명하게 공개</a:t>
            </a:r>
            <a:endParaRPr lang="ko-KR" altLang="en-US" sz="1700" dirty="0"/>
          </a:p>
        </p:txBody>
      </p:sp>
      <p:sp>
        <p:nvSpPr>
          <p:cNvPr id="12" name="card 차별점"/>
          <p:cNvSpPr/>
          <p:nvPr/>
        </p:nvSpPr>
        <p:spPr>
          <a:xfrm>
            <a:off x="8046720" y="2148840"/>
            <a:ext cx="3520440" cy="4069080"/>
          </a:xfrm>
          <a:prstGeom prst="roundRect">
            <a:avLst>
              <a:gd name="adj" fmla="val 31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4048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차별점</a:t>
            </a:r>
            <a:endParaRPr lang="ko-KR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072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경쟁 6곳 모두 검증 없음</a:t>
            </a:r>
            <a:endParaRPr lang="ko-KR" alt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490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크리에이트립, 망고플레이트, 와그, 트래지, 캐치테이블, 네이버지도 모두 신뢰도 검증 없음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광고 수익과 이해상충이 없는 제3자 필터링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1200"/>
              </a:spcAft>
              <a:buSzPct val="100000"/>
              <a:buChar char="•"/>
            </a:pPr>
            <a:r>
              <a:rPr lang="ko-KR" altLang="en-US" sz="1700" dirty="0">
                <a:solidFill>
                  <a:schemeClr val="tx1"/>
                </a:solidFill>
              </a:rPr>
              <a:t>개인정보 비식별화·프롬프트 인젝션 차단까지 포함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시스템 구성도</a:t>
            </a:r>
            <a:endParaRPr lang="ko-KR" altLang="en-US" sz="3000" dirty="0"/>
          </a:p>
        </p:txBody>
      </p:sp>
      <p:sp>
        <p:nvSpPr>
          <p:cNvPr id="3" name="user"/>
          <p:cNvSpPr/>
          <p:nvPr/>
        </p:nvSpPr>
        <p:spPr>
          <a:xfrm>
            <a:off x="548640" y="2606040"/>
            <a:ext cx="21945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D9D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2679192"/>
            <a:ext cx="186537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50" b="1" dirty="0">
                <a:solidFill>
                  <a:schemeClr val="tx1"/>
                </a:solidFill>
              </a:rPr>
              <a:t>외국인 관광객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브라우저 · 모바일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영·일·중·한 4개 언어</a:t>
            </a:r>
            <a:endParaRPr lang="ko-KR" altLang="en-US" sz="1550" dirty="0"/>
          </a:p>
        </p:txBody>
      </p:sp>
      <p:sp>
        <p:nvSpPr>
          <p:cNvPr id="5" name="vercel"/>
          <p:cNvSpPr/>
          <p:nvPr/>
        </p:nvSpPr>
        <p:spPr>
          <a:xfrm>
            <a:off x="3200400" y="1325880"/>
            <a:ext cx="3931920" cy="434340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463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Vercel · FastAPI</a:t>
            </a:r>
            <a:endParaRPr lang="ko-KR" altLang="en-US" sz="180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rgbClr val="C9CCD8"/>
                </a:solidFill>
              </a:rPr>
              <a:t>서울 리전(icn1) · 쓸 때만 실행</a:t>
            </a:r>
            <a:endParaRPr lang="ko-KR" altLang="en-US" sz="1800" dirty="0"/>
          </a:p>
        </p:txBody>
      </p:sp>
      <p:sp>
        <p:nvSpPr>
          <p:cNvPr id="7" name="vercel step 1"/>
          <p:cNvSpPr/>
          <p:nvPr/>
        </p:nvSpPr>
        <p:spPr>
          <a:xfrm>
            <a:off x="3429000" y="228600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2E3348"/>
          </a:solidFill>
          <a:ln>
            <a:solidFill>
              <a:srgbClr val="2E3348"/>
            </a:solidFill>
          </a:ln>
        </p:spPr>
        <p:txBody>
          <a:bodyPr wrap="square" lIns="76200" tIns="76200" rIns="76200" bIns="7620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① 개인정보 비식별화 · 인젝션 규칙 차단</a:t>
            </a:r>
            <a:endParaRPr lang="ko-KR" altLang="en-US" sz="1300" dirty="0"/>
          </a:p>
        </p:txBody>
      </p:sp>
      <p:sp>
        <p:nvSpPr>
          <p:cNvPr id="8" name="vercel step 2"/>
          <p:cNvSpPr/>
          <p:nvPr/>
        </p:nvSpPr>
        <p:spPr>
          <a:xfrm>
            <a:off x="3429000" y="3090672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2E3348"/>
          </a:solidFill>
          <a:ln>
            <a:solidFill>
              <a:srgbClr val="2E3348"/>
            </a:solidFill>
          </a:ln>
        </p:spPr>
        <p:txBody>
          <a:bodyPr wrap="square" lIns="76200" tIns="76200" rIns="76200" bIns="7620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② 협찬 표기 규칙 · 신뢰도 점수 · 도장 배지</a:t>
            </a:r>
            <a:endParaRPr lang="ko-KR" altLang="en-US" sz="1300" dirty="0"/>
          </a:p>
        </p:txBody>
      </p:sp>
      <p:sp>
        <p:nvSpPr>
          <p:cNvPr id="9" name="vercel step 3"/>
          <p:cNvSpPr/>
          <p:nvPr/>
        </p:nvSpPr>
        <p:spPr>
          <a:xfrm>
            <a:off x="3429000" y="3895344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2E3348"/>
          </a:solidFill>
          <a:ln>
            <a:solidFill>
              <a:srgbClr val="2E3348"/>
            </a:solidFill>
          </a:ln>
        </p:spPr>
        <p:txBody>
          <a:bodyPr wrap="square" lIns="76200" tIns="76200" rIns="76200" bIns="7620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③ 장소·후기 조회, 관련 글 선별, 캐시</a:t>
            </a:r>
            <a:endParaRPr lang="ko-KR" altLang="en-US" sz="1300" dirty="0"/>
          </a:p>
        </p:txBody>
      </p:sp>
      <p:sp>
        <p:nvSpPr>
          <p:cNvPr id="10" name="vercel step 4"/>
          <p:cNvSpPr/>
          <p:nvPr/>
        </p:nvSpPr>
        <p:spPr>
          <a:xfrm>
            <a:off x="3429000" y="4700016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2E3348"/>
          </a:solidFill>
          <a:ln>
            <a:solidFill>
              <a:srgbClr val="2E3348"/>
            </a:solidFill>
          </a:ln>
        </p:spPr>
        <p:txBody>
          <a:bodyPr wrap="square" lIns="76200" tIns="76200" rIns="76200" bIns="7620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④ 원격 GPU 기동 상태 확인(콜드 스타트 안내)</a:t>
            </a:r>
            <a:endParaRPr lang="ko-KR" alt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3429000"/>
            <a:ext cx="457200" cy="914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ext 1"/>
          <p:cNvSpPr/>
          <p:nvPr/>
        </p:nvSpPr>
        <p:spPr>
          <a:xfrm>
            <a:off x="7726680" y="1325880"/>
            <a:ext cx="388620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9525">
            <a:solidFill>
              <a:srgbClr val="D9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91272" y="1399032"/>
            <a:ext cx="3557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50" b="1" dirty="0">
                <a:solidFill>
                  <a:schemeClr val="tx1"/>
                </a:solidFill>
              </a:rPr>
              <a:t>한국관광공사 TourAPI 4.0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장소·축제·운영시간, 공식 번역(국·영·일·중)</a:t>
            </a:r>
            <a:endParaRPr lang="ko-KR" altLang="en-US" sz="1550" dirty="0"/>
          </a:p>
        </p:txBody>
      </p:sp>
      <p:sp>
        <p:nvSpPr>
          <p:cNvPr id="14" name="Shape 12"/>
          <p:cNvSpPr/>
          <p:nvPr/>
        </p:nvSpPr>
        <p:spPr>
          <a:xfrm flipV="1">
            <a:off x="7132320" y="1792224"/>
            <a:ext cx="594360" cy="170992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ext 2"/>
          <p:cNvSpPr/>
          <p:nvPr/>
        </p:nvSpPr>
        <p:spPr>
          <a:xfrm>
            <a:off x="7726680" y="2441448"/>
            <a:ext cx="388620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9525">
            <a:solidFill>
              <a:srgbClr val="D9DB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91272" y="2514600"/>
            <a:ext cx="3557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50" b="1" dirty="0">
                <a:solidFill>
                  <a:schemeClr val="tx1"/>
                </a:solidFill>
              </a:rPr>
              <a:t>NAVER API HUB · 블로그 검색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후기 원문 후보 (공식 API 요약만 사용)</a:t>
            </a:r>
            <a:endParaRPr lang="ko-KR" altLang="en-US" sz="1550" dirty="0"/>
          </a:p>
        </p:txBody>
      </p:sp>
      <p:sp>
        <p:nvSpPr>
          <p:cNvPr id="17" name="Shape 15"/>
          <p:cNvSpPr/>
          <p:nvPr/>
        </p:nvSpPr>
        <p:spPr>
          <a:xfrm flipV="1">
            <a:off x="7132320" y="2907792"/>
            <a:ext cx="594360" cy="5943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ext 3"/>
          <p:cNvSpPr/>
          <p:nvPr/>
        </p:nvSpPr>
        <p:spPr>
          <a:xfrm>
            <a:off x="7726680" y="3557016"/>
            <a:ext cx="3886200" cy="932688"/>
          </a:xfrm>
          <a:prstGeom prst="roundRect">
            <a:avLst>
              <a:gd name="adj" fmla="val 9804"/>
            </a:avLst>
          </a:prstGeom>
          <a:solidFill>
            <a:schemeClr val="accent5"/>
          </a:solidFill>
          <a:ln w="9525">
            <a:solidFill>
              <a:srgbClr val="D9DB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91272" y="3630168"/>
            <a:ext cx="3557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50" b="1" dirty="0">
                <a:solidFill>
                  <a:schemeClr val="tx1"/>
                </a:solidFill>
              </a:rPr>
              <a:t>Modal GPU (L4) · Qwen2.5-7B-Instruct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vLLM · 보안 분석 · 협찬 문맥 판단 · 번역</a:t>
            </a:r>
            <a:endParaRPr lang="ko-KR" alt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32320" y="3502152"/>
            <a:ext cx="594360" cy="521208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ext 4"/>
          <p:cNvSpPr/>
          <p:nvPr/>
        </p:nvSpPr>
        <p:spPr>
          <a:xfrm>
            <a:off x="7726680" y="4672584"/>
            <a:ext cx="3886200" cy="932688"/>
          </a:xfrm>
          <a:prstGeom prst="roundRect">
            <a:avLst>
              <a:gd name="adj" fmla="val 9804"/>
            </a:avLst>
          </a:prstGeom>
          <a:solidFill>
            <a:schemeClr val="accent5"/>
          </a:solidFill>
          <a:ln w="9525">
            <a:solidFill>
              <a:srgbClr val="D9DB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91272" y="4745736"/>
            <a:ext cx="3557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50" b="1" dirty="0">
                <a:solidFill>
                  <a:schemeClr val="tx1"/>
                </a:solidFill>
              </a:rPr>
              <a:t>Modal CPU · Fast-DetectGPT</a:t>
            </a:r>
            <a:endParaRPr lang="ko-KR" altLang="en-US" sz="155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Qwen2.5-1.5B 기반 AI 작성 판별</a:t>
            </a:r>
            <a:endParaRPr lang="ko-KR" alt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132320" y="3502152"/>
            <a:ext cx="594360" cy="1636776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Modal 두 서비스는 요청이 있을 때만 켜지고, 마지막 사용 5분 뒤 자동으로 꺼집니다 (대기 중 요금 0원). 모든 원격 호출은 API 키로 인증합니다.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기능 목록</a:t>
            </a:r>
            <a:endParaRPr lang="ko-KR" altLang="en-US" sz="3000" dirty="0"/>
          </a:p>
        </p:txBody>
      </p:sp>
      <p:graphicFrame>
        <p:nvGraphicFramePr>
          <p:cNvPr id="5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bg1"/>
                          </a:solidFill>
                        </a:rPr>
                        <a:t>기능 ID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bg1"/>
                          </a:solidFill>
                        </a:rPr>
                        <a:t>기능명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bg1"/>
                          </a:solidFill>
                        </a:rPr>
                        <a:t>쪽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F-01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메인 화면 · 언어 전환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서비스 소개, 실제 검사 과정 데모, 전국 장소 검색창, 4개 언어 전환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F-02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지역 선택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성수 · 전주 · 부산 · 강릉 · 경주 · 제주 + 전국 검색, 좌표·반경 기반 조회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F-03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장소 목록 · 카테고리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관광지·문화시설·축제·전통시장·맛집 탭, 사진·번역명·후기 검사 요약 카드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F-04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관심사 필터 · 정렬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9개 관심사 다중 선택, 신뢰도순 · 가까운 순 · 이름순 정렬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F-05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지방 커버리지 · 전국 검색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지방 축제·전통시장, TourAPI 키워드 검색으로 전국 확장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F-06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장소 상세 정보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운영시간·요금·소개, 관광공사 공식 번역 우선 (없으면 Qwen 번역)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F-07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후기 신뢰도 분석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블로그 후기 7단계 검사, 도장 배지·점수·근거를 실시간 표시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F-08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분석 진행 표시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스피너 · n/6건 완료 · 경과 시간, 남은 후기 자리 표시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F-09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의심 후기 숨김 · 근거 공개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협찬·AI 의심 글은 기본 숨김, 펼치면 판단 근거 공개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F-10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원문 확인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개인정보가 가려진 한국어 원문 보기, 원본 글 링크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F-11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직접 후기 검사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후기를 붙여 넣어 같은 7단계로 검사, 샘플 3종 제공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F-12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인젝션 차단 · 개인정보 가림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AI 조작 문구 차단(분석 안 함), 연락처 등 비식별화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F-13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다국어 지원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화면·후기 요약·장소명·주소를 영·일·중·한으로, 출력 언어 검증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F-14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GPU 온디맨드 · 콜드 스타트 안내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쓸 때만 GPU 기동, 켜지는 동안 경과 시간 표시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accent1"/>
                          </a:solidFill>
                        </a:rPr>
                        <a:t>F-15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b="1" dirty="0">
                          <a:solidFill>
                            <a:schemeClr val="tx1"/>
                          </a:solidFill>
                        </a:rPr>
                        <a:t>모바일 반응형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390px 폭에서 모든 기능 제공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>
                        <a:buNone/>
                      </a:pPr>
                      <a:r>
                        <a:rPr lang="ko-KR" altLang="en-US" sz="125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메인 화면 · 언어 전환</a:t>
            </a:r>
            <a:endParaRPr lang="ko-KR" altLang="en-US" sz="3000" dirty="0"/>
          </a:p>
        </p:txBody>
      </p:sp>
      <p:sp>
        <p:nvSpPr>
          <p:cNvPr id="3" name="seal F-01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F-01</a:t>
            </a:r>
            <a:endParaRPr lang="ko-KR" altLang="en-US" sz="1700" dirty="0"/>
          </a:p>
        </p:txBody>
      </p:sp>
      <p:sp>
        <p:nvSpPr>
          <p:cNvPr id="4" name="frame 메인 화면 · 언어 전환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메인 화면 · 언어 전환" descr="메인 화면 · 언어 전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8071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메인 화면 (한국어)</a:t>
            </a:r>
            <a:endParaRPr lang="ko-KR" altLang="en-US" sz="1300" dirty="0"/>
          </a:p>
        </p:txBody>
      </p:sp>
      <p:sp>
        <p:nvSpPr>
          <p:cNvPr id="7" name="description"/>
          <p:cNvSpPr txBox="1"/>
          <p:nvPr/>
        </p:nvSpPr>
        <p:spPr>
          <a:xfrm>
            <a:off x="7543800" y="1325880"/>
            <a:ext cx="41148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기능 설명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서비스 한 줄 소개와 실제 검사 과정 데모 (협찬 표기 발견 → '의심' 도장)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전국 어디든 장소 검색창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상단 바에서 EN · 日本語 · 中文 · 한국어 전환, 데이터 상태(실데이터/샘플) 표시</a:t>
            </a:r>
            <a:endParaRPr lang="ko-KR" altLang="en-US" sz="170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처리 방식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첫 접속 시 /api/status로 TourAPI·네이버·AI 연결 상태 확인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선택 언어는 브라우저에 저장해 다음 방문에도 유지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검사 데모 애니메이션은 첫 진입 1회만, '움직임 줄이기' 설정 존중</a:t>
            </a:r>
            <a:endParaRPr lang="ko-KR" altLang="en-US" sz="170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디자인 근거</a:t>
            </a:r>
            <a:endParaRPr lang="ko-KR" altLang="en-US" sz="1700" dirty="0"/>
          </a:p>
          <a:p>
            <a:pPr marL="0" indent="0" eaLnBrk="0">
              <a:lnSpc>
                <a:spcPct val="95000"/>
              </a:lnSpc>
              <a:spcAft>
                <a:spcPts val="200"/>
              </a:spcAft>
              <a:buNone/>
            </a:pPr>
            <a:r>
              <a:rPr lang="ko-KR" altLang="en-US" sz="1450" dirty="0">
                <a:solidFill>
                  <a:schemeClr val="tx2"/>
                </a:solidFill>
              </a:rPr>
              <a:t>한국관광공사(knto.or.kr) 구성 + 공정관광(GDWEB 수상작)의 파스텔 밴드·라인 일러스트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지역 선택 · 장소 목록</a:t>
            </a:r>
            <a:endParaRPr lang="ko-KR" altLang="en-US" sz="3000" dirty="0"/>
          </a:p>
        </p:txBody>
      </p:sp>
      <p:sp>
        <p:nvSpPr>
          <p:cNvPr id="3" name="seal F-02·03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F-02·03</a:t>
            </a:r>
            <a:endParaRPr lang="ko-KR" altLang="en-US" sz="1400" dirty="0"/>
          </a:p>
        </p:txBody>
      </p:sp>
      <p:sp>
        <p:nvSpPr>
          <p:cNvPr id="4" name="frame 지역 7개 패널 (성수동 선택 시 101곳)"/>
          <p:cNvSpPr/>
          <p:nvPr/>
        </p:nvSpPr>
        <p:spPr>
          <a:xfrm>
            <a:off x="51206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지역 7개 패널 (성수동 선택 시 101곳)" descr="지역 7개 패널 (성수동 선택 시 101곳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029200" cy="3143250"/>
          </a:xfrm>
          <a:prstGeom prst="rect">
            <a:avLst/>
          </a:prstGeom>
        </p:spPr>
      </p:pic>
      <p:sp>
        <p:nvSpPr>
          <p:cNvPr id="6" name="frame 성수동 장소 카드 · 후기 검사 요약"/>
          <p:cNvSpPr/>
          <p:nvPr/>
        </p:nvSpPr>
        <p:spPr>
          <a:xfrm>
            <a:off x="654710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성수동 장소 카드 · 후기 검사 요약" descr="성수동 장소 카드 · 후기 검사 요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지역 7개 패널 (성수동 선택 시 101곳)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성수동 장소 카드 · 후기 검사 요약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548640" y="50292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F-02 지역 선택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성수·전주 데모 지역 + 부산·강릉·경주·제주, 전국 검색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TourAPI locationBasedList2: 중심 좌표 + 반경 1.5km</a:t>
            </a:r>
            <a:endParaRPr lang="ko-KR" altLang="en-US" sz="1700" dirty="0"/>
          </a:p>
        </p:txBody>
      </p:sp>
      <p:sp>
        <p:nvSpPr>
          <p:cNvPr id="11" name="description"/>
          <p:cNvSpPr txBox="1"/>
          <p:nvPr/>
        </p:nvSpPr>
        <p:spPr>
          <a:xfrm>
            <a:off x="6583680" y="50292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F-03 장소 목록 · 카테고리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관광지·문화시설·축제·전통시장·맛집 탭, 번역명 + 한글 이름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카드마다 후기 검사 요약: 검사 n건 · 신뢰 n · 의심 n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필터 · 정렬 · 전국 검색</a:t>
            </a:r>
            <a:endParaRPr lang="ko-KR" altLang="en-US" sz="3000" dirty="0"/>
          </a:p>
        </p:txBody>
      </p:sp>
      <p:sp>
        <p:nvSpPr>
          <p:cNvPr id="3" name="seal F-04·05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F-04·05</a:t>
            </a:r>
            <a:endParaRPr lang="ko-KR" altLang="en-US" sz="1400" dirty="0"/>
          </a:p>
        </p:txBody>
      </p:sp>
      <p:sp>
        <p:nvSpPr>
          <p:cNvPr id="4" name="frame 부산 맛집 · 가까운 순 정렬"/>
          <p:cNvSpPr/>
          <p:nvPr/>
        </p:nvSpPr>
        <p:spPr>
          <a:xfrm>
            <a:off x="51206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부산 맛집 · 가까운 순 정렬" descr="부산 맛집 · 가까운 순 정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029200" cy="3143250"/>
          </a:xfrm>
          <a:prstGeom prst="rect">
            <a:avLst/>
          </a:prstGeom>
        </p:spPr>
      </p:pic>
      <p:sp>
        <p:nvSpPr>
          <p:cNvPr id="6" name="frame 전국 검색: '안동 하회마을'"/>
          <p:cNvSpPr/>
          <p:nvPr/>
        </p:nvSpPr>
        <p:spPr>
          <a:xfrm>
            <a:off x="654710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전국 검색: '안동 하회마을'" descr="전국 검색: '안동 하회마을'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부산 맛집 · 가까운 순 정렬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전국 검색: '안동 하회마을'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548640" y="50292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F-04 관심사 필터 · 정렬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관심사 9종 다중 선택 (자연·역사·카페·음식·시장·야간 등)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신뢰도순(기본) · 가까운 순 · 이름순 정렬</a:t>
            </a:r>
            <a:endParaRPr lang="ko-KR" altLang="en-US" sz="1700" dirty="0"/>
          </a:p>
        </p:txBody>
      </p:sp>
      <p:sp>
        <p:nvSpPr>
          <p:cNvPr id="11" name="description"/>
          <p:cNvSpPr txBox="1"/>
          <p:nvPr/>
        </p:nvSpPr>
        <p:spPr>
          <a:xfrm>
            <a:off x="6583680" y="50292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F-05 지방 커버리지 · 전국 검색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지방 축제·전통시장도 공식 데이터로 (전주 29곳)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searchKeyword2로 전국 어디든 검색, 후기 분석도 그대로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장소 상세 정보</a:t>
            </a:r>
            <a:endParaRPr lang="ko-KR" altLang="en-US" sz="3000" dirty="0"/>
          </a:p>
        </p:txBody>
      </p:sp>
      <p:sp>
        <p:nvSpPr>
          <p:cNvPr id="3" name="seal F-06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F-06</a:t>
            </a:r>
            <a:endParaRPr lang="ko-KR" altLang="en-US" sz="1700" dirty="0"/>
          </a:p>
        </p:txBody>
      </p:sp>
      <p:sp>
        <p:nvSpPr>
          <p:cNvPr id="4" name="frame 전주 남부시장 (한국어)"/>
          <p:cNvSpPr/>
          <p:nvPr/>
        </p:nvSpPr>
        <p:spPr>
          <a:xfrm>
            <a:off x="512064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전주 남부시장 (한국어)" descr="전주 남부시장 (한국어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171476" cy="4617720"/>
          </a:xfrm>
          <a:prstGeom prst="rect">
            <a:avLst/>
          </a:prstGeom>
        </p:spPr>
      </p:pic>
      <p:sp>
        <p:nvSpPr>
          <p:cNvPr id="6" name="frame 누메로뜨레쓰 (영어)"/>
          <p:cNvSpPr/>
          <p:nvPr/>
        </p:nvSpPr>
        <p:spPr>
          <a:xfrm>
            <a:off x="4003580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누메로뜨레쓰 (영어)" descr="누메로뜨레쓰 (영어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56" y="1280160"/>
            <a:ext cx="3171476" cy="4617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전주 남부시장 (한국어)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040156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누메로뜨레쓰 (영어)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7760271" y="1280160"/>
            <a:ext cx="3898329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기능 설명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대표 사진, 주소, 이용시간, 쉬는 날, 요금, 축제 기간, 전화, 홈페이지, 소개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번역 출처 표시: 관광공사 공식 번역 / Qwen 기계 번역</a:t>
            </a:r>
            <a:endParaRPr lang="ko-KR" altLang="en-US" sz="180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처리 방식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TourAPI detailCommon2(소개·홈페이지) + detailIntro2(운영시간 등)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외국어 1순위: 관광공사 영·일·중 서비스, 괄호 속 한글명·좌표로 같은 장소 매칭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공식 번역이 없으면 Qwen 번역 + 지명 용어집(전주→Jeonju 등)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후기 신뢰도 분석</a:t>
            </a:r>
            <a:endParaRPr lang="ko-KR" altLang="en-US" sz="3000" dirty="0"/>
          </a:p>
        </p:txBody>
      </p:sp>
      <p:sp>
        <p:nvSpPr>
          <p:cNvPr id="3" name="seal F-07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F-07</a:t>
            </a:r>
            <a:endParaRPr lang="ko-KR" altLang="en-US" sz="1700" dirty="0"/>
          </a:p>
        </p:txBody>
      </p:sp>
      <p:sp>
        <p:nvSpPr>
          <p:cNvPr id="4" name="frame 후기 분석"/>
          <p:cNvSpPr/>
          <p:nvPr/>
        </p:nvSpPr>
        <p:spPr>
          <a:xfrm>
            <a:off x="512064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후기 분석" descr="후기 분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171476" cy="4617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누메로뜨레쓰 후기 6건 (영어)</a:t>
            </a:r>
            <a:endParaRPr lang="ko-KR" altLang="en-US" sz="1300" dirty="0"/>
          </a:p>
        </p:txBody>
      </p:sp>
      <p:sp>
        <p:nvSpPr>
          <p:cNvPr id="7" name="description"/>
          <p:cNvSpPr txBox="1"/>
          <p:nvPr/>
        </p:nvSpPr>
        <p:spPr>
          <a:xfrm>
            <a:off x="4251960" y="1280160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기능 설명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장소를 열면 네이버 블로그 후기 6건을 수집해 7단계 검사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후기마다 도장 배지(신뢰·참고·의심·차단), 신뢰도 점수, 판단 근거, 번역 요약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분석이 끝나는 대로 한 건씩 화면에 표시 (실시간 스트리밍)</a:t>
            </a:r>
            <a:endParaRPr lang="ko-KR" altLang="en-US" sz="180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후기 선별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NAVER API HUB 최신순 + 관련도순 병합, 장소명이 들어간 글만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제목에 장소명이 있는 글 우선, 본문에만 스친 글은 지역명도 있어야 인정</a:t>
            </a:r>
            <a:endParaRPr lang="ko-KR" altLang="en-US" sz="1800" dirty="0"/>
          </a:p>
        </p:txBody>
      </p:sp>
      <p:graphicFrame>
        <p:nvGraphicFramePr>
          <p:cNvPr id="10" name="signa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3977640"/>
          <a:ext cx="74066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b="1" dirty="0">
                          <a:solidFill>
                            <a:schemeClr val="bg1"/>
                          </a:solidFill>
                        </a:rPr>
                        <a:t>표시 신호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b="1" dirty="0">
                          <a:solidFill>
                            <a:schemeClr val="bg1"/>
                          </a:solidFill>
                        </a:rPr>
                        <a:t>판단 근거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b="1" dirty="0">
                          <a:solidFill>
                            <a:schemeClr val="bg1"/>
                          </a:solidFill>
                        </a:rPr>
                        <a:t>담당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협찬 표기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공정위 문구: 협찬 · 제공받아 · 원고료 · 체험단 · #광고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규칙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홍보성 문맥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표기 없는 할인·예약 유도, 단점 없는 과장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Qwen2.5-7B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AI 작성 확률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문장이 언어모델에게 얼마나 예측 가능한지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Fast-DetectGPT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AI 문체 (보조)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격식체 상투구, 개인 일화 부재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Qwen2.5-7B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AI 조작 문구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'이전 지시 무시' 등 숨은 명령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규칙 + Qwen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개인정보 가림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전화·이메일·계좌 등 마스킹 건수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규칙</a:t>
                      </a:r>
                      <a:endParaRPr lang="ko-KR" altLang="en-US" sz="13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분석 진행 표시</a:t>
            </a:r>
            <a:endParaRPr lang="ko-KR" altLang="en-US" sz="3000" dirty="0"/>
          </a:p>
        </p:txBody>
      </p:sp>
      <p:sp>
        <p:nvSpPr>
          <p:cNvPr id="3" name="seal F-08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F-08</a:t>
            </a:r>
            <a:endParaRPr lang="ko-KR" altLang="en-US" sz="1700" dirty="0"/>
          </a:p>
        </p:txBody>
      </p:sp>
      <p:sp>
        <p:nvSpPr>
          <p:cNvPr id="4" name="frame 분석 중: 0/6건 완료 · 0:13"/>
          <p:cNvSpPr/>
          <p:nvPr/>
        </p:nvSpPr>
        <p:spPr>
          <a:xfrm>
            <a:off x="512064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분석 중: 0/6건 완료 · 0:13" descr="분석 중: 0/6건 완료 · 0: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171476" cy="4617720"/>
          </a:xfrm>
          <a:prstGeom prst="rect">
            <a:avLst/>
          </a:prstGeom>
        </p:spPr>
      </p:pic>
      <p:sp>
        <p:nvSpPr>
          <p:cNvPr id="6" name="frame 완료: 6건 · 1분 15초"/>
          <p:cNvSpPr/>
          <p:nvPr/>
        </p:nvSpPr>
        <p:spPr>
          <a:xfrm>
            <a:off x="4003580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완료: 6건 · 1분 15초" descr="완료: 6건 · 1분 15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56" y="1280160"/>
            <a:ext cx="3171476" cy="4617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분석 중: 0/6건 완료 · 0:13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040156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완료: 6건 · 1분 15초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7760271" y="1280160"/>
            <a:ext cx="3898329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950" b="1" dirty="0">
                <a:solidFill>
                  <a:schemeClr val="accent1"/>
                </a:solidFill>
              </a:rPr>
              <a:t>기능 설명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후기 한 건을 AI 모델 두 개가 읽어 몇 초씩 걸리므로, 돌아가고 있음을 계속 보여줌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스피너, 'n/6건 완료', 경과 시간을 1초마다 갱신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아직 안 끝난 후기는 자리 표시로 남은 개수를 보여줌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완료되면 소요 시간 표시</a:t>
            </a:r>
            <a:endParaRPr lang="ko-KR" altLang="en-US" sz="195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950" b="1" dirty="0">
                <a:solidFill>
                  <a:schemeClr val="accent1"/>
                </a:solidFill>
              </a:rPr>
              <a:t>처리 방식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분석 결과를 한 건씩 스트리밍(NDJSON)으로 받아 끝나는 대로 표시</a:t>
            </a:r>
            <a:endParaRPr lang="ko-KR" altLang="en-US" sz="19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750" dirty="0">
                <a:solidFill>
                  <a:schemeClr val="tx1"/>
                </a:solidFill>
              </a:rPr>
              <a:t>GPU가 꺼져 있으면 하단 '켜는 중' 안내도 함께 표시 (F-14)</a:t>
            </a:r>
            <a:endParaRPr lang="ko-KR" alt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의심 후기 숨김 · 원문 확인</a:t>
            </a:r>
            <a:endParaRPr lang="ko-KR" altLang="en-US" sz="3000" dirty="0"/>
          </a:p>
        </p:txBody>
      </p:sp>
      <p:sp>
        <p:nvSpPr>
          <p:cNvPr id="3" name="seal F-09·10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F-09·10</a:t>
            </a:r>
            <a:endParaRPr lang="ko-KR" altLang="en-US" sz="1400" dirty="0"/>
          </a:p>
        </p:txBody>
      </p:sp>
      <p:sp>
        <p:nvSpPr>
          <p:cNvPr id="4" name="frame 펼친 의심 후기와 판단 근거"/>
          <p:cNvSpPr/>
          <p:nvPr/>
        </p:nvSpPr>
        <p:spPr>
          <a:xfrm>
            <a:off x="512064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펼친 의심 후기와 판단 근거" descr="펼친 의심 후기와 판단 근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171476" cy="4617720"/>
          </a:xfrm>
          <a:prstGeom prst="rect">
            <a:avLst/>
          </a:prstGeom>
        </p:spPr>
      </p:pic>
      <p:sp>
        <p:nvSpPr>
          <p:cNvPr id="6" name="frame 번역 요약 아래 한국어 원문"/>
          <p:cNvSpPr/>
          <p:nvPr/>
        </p:nvSpPr>
        <p:spPr>
          <a:xfrm>
            <a:off x="4003580" y="1243584"/>
            <a:ext cx="3244628" cy="469087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번역 요약 아래 한국어 원문" descr="번역 요약 아래 한국어 원문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56" y="1280160"/>
            <a:ext cx="3171476" cy="4617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펼친 의심 후기와 판단 근거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040156" y="6007608"/>
            <a:ext cx="3171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번역 요약 아래 한국어 원문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7760271" y="1280160"/>
            <a:ext cx="3898329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50" b="1" dirty="0">
                <a:solidFill>
                  <a:schemeClr val="accent1"/>
                </a:solidFill>
              </a:rPr>
              <a:t>F-09 의심 후기 숨김 · 근거 공개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협찬·AI 의심, 차단 후기는 기본으로 숨기고 'n건 숨김' 안내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'보기'로 펼치면 판단 근거 공개 → 판단은 사용자에게, 지우지 않음</a:t>
            </a:r>
            <a:endParaRPr lang="ko-KR" altLang="en-US" sz="185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850" b="1" dirty="0">
                <a:solidFill>
                  <a:schemeClr val="accent1"/>
                </a:solidFill>
              </a:rPr>
              <a:t>F-10 원문 확인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번역 요약 아래 한국어 원문, 블로그 원본 글 링크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개인정보를 가린 원문만 textContent로 출력 (XSS 차단)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본문 크롤링 없이 검색 API 요약만 사용 (robots.txt 준수)</a:t>
            </a:r>
            <a:endParaRPr lang="ko-KR" alt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직접 후기 검사 · 인젝션 차단</a:t>
            </a:r>
            <a:endParaRPr lang="ko-KR" altLang="en-US" sz="3000" dirty="0"/>
          </a:p>
        </p:txBody>
      </p:sp>
      <p:sp>
        <p:nvSpPr>
          <p:cNvPr id="3" name="seal F-11·12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F-11·12</a:t>
            </a:r>
            <a:endParaRPr lang="ko-KR" altLang="en-US" sz="1400" dirty="0"/>
          </a:p>
        </p:txBody>
      </p:sp>
      <p:sp>
        <p:nvSpPr>
          <p:cNvPr id="4" name="frame 협찬 글 → '의심' (신뢰도 37)"/>
          <p:cNvSpPr/>
          <p:nvPr/>
        </p:nvSpPr>
        <p:spPr>
          <a:xfrm>
            <a:off x="51206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협찬 글 → '의심' (신뢰도 37)" descr="협찬 글 → '의심' (신뢰도 3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029200" cy="3143250"/>
          </a:xfrm>
          <a:prstGeom prst="rect">
            <a:avLst/>
          </a:prstGeom>
        </p:spPr>
      </p:pic>
      <p:sp>
        <p:nvSpPr>
          <p:cNvPr id="6" name="frame 인젝션 → '차단' + 개인정보 1건 가림"/>
          <p:cNvSpPr/>
          <p:nvPr/>
        </p:nvSpPr>
        <p:spPr>
          <a:xfrm>
            <a:off x="654710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인젝션 → '차단' + 개인정보 1건 가림" descr="인젝션 → '차단' + 개인정보 1건 가림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협찬 글 → '의심' (신뢰도 37)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인젝션 → '차단' + 개인정보 1건 가림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548640" y="50292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50" b="1" dirty="0">
                <a:solidFill>
                  <a:schemeClr val="accent1"/>
                </a:solidFill>
              </a:rPr>
              <a:t>F-11 직접 후기 검사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붙여 넣은 후기를 같은 7단계로 검사 (샘플 3종)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협찬 글 '의심'(37) · 진짜 후기 '신뢰'(89)</a:t>
            </a:r>
            <a:endParaRPr lang="ko-KR" altLang="en-US" sz="1850" dirty="0"/>
          </a:p>
        </p:txBody>
      </p:sp>
      <p:sp>
        <p:nvSpPr>
          <p:cNvPr id="11" name="description"/>
          <p:cNvSpPr txBox="1"/>
          <p:nvPr/>
        </p:nvSpPr>
        <p:spPr>
          <a:xfrm>
            <a:off x="6583680" y="50292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50" b="1" dirty="0">
                <a:solidFill>
                  <a:schemeClr val="accent1"/>
                </a:solidFill>
              </a:rPr>
              <a:t>F-12 인젝션 차단 · 개인정보 가림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'이전 지시 무시' 같은 글은 AI에 보내지 않고 '차단'</a:t>
            </a:r>
            <a:endParaRPr lang="ko-KR" altLang="en-US" sz="18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50" dirty="0">
                <a:solidFill>
                  <a:schemeClr val="tx1"/>
                </a:solidFill>
              </a:rPr>
              <a:t>전화번호 등 개인정보는 분석 전에 가림</a:t>
            </a:r>
            <a:endParaRPr lang="ko-KR" alt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다국어 지원</a:t>
            </a:r>
            <a:endParaRPr lang="ko-KR" altLang="en-US" sz="3000" dirty="0"/>
          </a:p>
        </p:txBody>
      </p:sp>
      <p:sp>
        <p:nvSpPr>
          <p:cNvPr id="3" name="seal F-13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F-13</a:t>
            </a:r>
            <a:endParaRPr lang="ko-KR" altLang="en-US" sz="1700" dirty="0"/>
          </a:p>
        </p:txBody>
      </p:sp>
      <p:sp>
        <p:nvSpPr>
          <p:cNvPr id="4" name="frame 일본어 화면"/>
          <p:cNvSpPr/>
          <p:nvPr/>
        </p:nvSpPr>
        <p:spPr>
          <a:xfrm>
            <a:off x="51206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일본어 화면" descr="일본어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029200" cy="3143250"/>
          </a:xfrm>
          <a:prstGeom prst="rect">
            <a:avLst/>
          </a:prstGeom>
        </p:spPr>
      </p:pic>
      <p:sp>
        <p:nvSpPr>
          <p:cNvPr id="6" name="frame 중국어 화면 (카드별 검사 요약)"/>
          <p:cNvSpPr/>
          <p:nvPr/>
        </p:nvSpPr>
        <p:spPr>
          <a:xfrm>
            <a:off x="6547104" y="1243584"/>
            <a:ext cx="5102352" cy="32164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중국어 화면 (카드별 검사 요약)" descr="중국어 화면 (카드별 검사 요약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일본어 화면</a:t>
            </a:r>
            <a:endParaRPr lang="ko-KR" alt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453313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중국어 화면 (카드별 검사 요약)</a:t>
            </a:r>
            <a:endParaRPr lang="ko-KR" altLang="en-US" sz="1300" dirty="0"/>
          </a:p>
        </p:txBody>
      </p:sp>
      <p:sp>
        <p:nvSpPr>
          <p:cNvPr id="10" name="description"/>
          <p:cNvSpPr txBox="1"/>
          <p:nvPr/>
        </p:nvSpPr>
        <p:spPr>
          <a:xfrm>
            <a:off x="548640" y="502920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기능 설명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화면 문구·후기 번역 요약·장소명을 영·일·중·한으로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주소는 영문 표기 + 한국어 주소 병기 (택시·지도 앱용)</a:t>
            </a:r>
            <a:endParaRPr lang="ko-KR" altLang="en-US" sz="1800" dirty="0"/>
          </a:p>
        </p:txBody>
      </p:sp>
      <p:sp>
        <p:nvSpPr>
          <p:cNvPr id="11" name="description"/>
          <p:cNvSpPr txBox="1"/>
          <p:nvPr/>
        </p:nvSpPr>
        <p:spPr>
          <a:xfrm>
            <a:off x="6583680" y="502920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번역 품질 관리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출력 언어 검증(한글·가나·한자 비율) 후 어긋나면 재요청</a:t>
            </a:r>
            <a:endParaRPr lang="ko-KR" altLang="en-US" sz="18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7B 모델의 고유명사 음차 오류 → '기계 번역' 표시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GPU 온디맨드 · 콜드 스타트 안내</a:t>
            </a:r>
            <a:endParaRPr lang="ko-KR" altLang="en-US" sz="3000" dirty="0"/>
          </a:p>
        </p:txBody>
      </p:sp>
      <p:sp>
        <p:nvSpPr>
          <p:cNvPr id="3" name="seal F-14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F-14</a:t>
            </a:r>
            <a:endParaRPr lang="ko-KR" altLang="en-US" sz="1700" dirty="0"/>
          </a:p>
        </p:txBody>
      </p:sp>
      <p:sp>
        <p:nvSpPr>
          <p:cNvPr id="4" name="frame 콜드 스타트 안내"/>
          <p:cNvSpPr/>
          <p:nvPr/>
        </p:nvSpPr>
        <p:spPr>
          <a:xfrm>
            <a:off x="512064" y="1335024"/>
            <a:ext cx="6748272" cy="424510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콜드 스타트 안내" descr="콜드 스타트 안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8071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GPU가 꺼져 있을 때 접속 → 하단에 기동 경과 시간 표시</a:t>
            </a:r>
            <a:endParaRPr lang="ko-KR" altLang="en-US" sz="1300" dirty="0"/>
          </a:p>
        </p:txBody>
      </p:sp>
      <p:sp>
        <p:nvSpPr>
          <p:cNvPr id="7" name="description"/>
          <p:cNvSpPr txBox="1"/>
          <p:nvPr/>
        </p:nvSpPr>
        <p:spPr>
          <a:xfrm>
            <a:off x="7543800" y="13258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기능 설명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사이트 접속·분석 시작 때만 Modal GPU를 깨우고, 앱 서버만 켜서는 기동하지 않음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켜지는 동안 'AI 분석 서버(GPU)를 켜는 중 · m:ss' 표시, 준비되면 '준비 완료'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기동 중 들어온 분석 요청은 실패하지 않고 준비될 때까지 대기</a:t>
            </a:r>
            <a:endParaRPr lang="ko-KR" altLang="en-US" sz="170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비용 정책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마지막 사용 5분 뒤 자동 종료 → 대기 중 요금 0원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준비되면 상태 확인 중단 → 사용이 없으면 GPU가 제때 꺼짐</a:t>
            </a:r>
            <a:endParaRPr lang="ko-KR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530352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2분 41초</a:t>
            </a:r>
            <a:endParaRPr lang="ko-KR" altLang="en-US" sz="2200" dirty="0"/>
          </a:p>
          <a:p>
            <a:pPr marL="0" indent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GPU 콜드 스타트</a:t>
            </a:r>
            <a:endParaRPr lang="ko-KR" alt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933688" y="530352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3.6초</a:t>
            </a:r>
            <a:endParaRPr lang="ko-KR" altLang="en-US" sz="2200" dirty="0"/>
          </a:p>
          <a:p>
            <a:pPr marL="0" indent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켜진 뒤 응답 1건</a:t>
            </a:r>
            <a:endParaRPr lang="ko-KR" alt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323576" y="5303520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2200" b="1" dirty="0">
                <a:solidFill>
                  <a:schemeClr val="accent1"/>
                </a:solidFill>
              </a:rPr>
              <a:t>5분</a:t>
            </a:r>
            <a:endParaRPr lang="ko-KR" altLang="en-US" sz="2200" dirty="0"/>
          </a:p>
          <a:p>
            <a:pPr marL="0" indent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미사용 시 자동 종료</a:t>
            </a:r>
            <a:endParaRPr lang="ko-KR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1783080" y="347472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모바일 반응형</a:t>
            </a:r>
            <a:endParaRPr lang="ko-KR" altLang="en-US" sz="3000" dirty="0"/>
          </a:p>
        </p:txBody>
      </p:sp>
      <p:sp>
        <p:nvSpPr>
          <p:cNvPr id="3" name="seal F-15"/>
          <p:cNvSpPr/>
          <p:nvPr/>
        </p:nvSpPr>
        <p:spPr>
          <a:xfrm rot="-300000">
            <a:off x="548640" y="429768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F-15</a:t>
            </a:r>
            <a:endParaRPr lang="ko-KR" altLang="en-US" sz="1700" dirty="0"/>
          </a:p>
        </p:txBody>
      </p:sp>
      <p:sp>
        <p:nvSpPr>
          <p:cNvPr id="4" name="frame 19_mobile_main.jpg"/>
          <p:cNvSpPr/>
          <p:nvPr/>
        </p:nvSpPr>
        <p:spPr>
          <a:xfrm>
            <a:off x="512064" y="1243584"/>
            <a:ext cx="2185806" cy="464515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5" name="screen 19_mobile_main.jpg" descr="19_mobile_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2112654" cy="4572000"/>
          </a:xfrm>
          <a:prstGeom prst="rect">
            <a:avLst/>
          </a:prstGeom>
        </p:spPr>
      </p:pic>
      <p:sp>
        <p:nvSpPr>
          <p:cNvPr id="6" name="frame 20_mobile_regions.jpg"/>
          <p:cNvSpPr/>
          <p:nvPr/>
        </p:nvSpPr>
        <p:spPr>
          <a:xfrm>
            <a:off x="2990478" y="1243584"/>
            <a:ext cx="2185806" cy="464515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7" name="screen 20_mobile_regions.jpg" descr="20_mobile_regio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054" y="1280160"/>
            <a:ext cx="2112654" cy="4572000"/>
          </a:xfrm>
          <a:prstGeom prst="rect">
            <a:avLst/>
          </a:prstGeom>
        </p:spPr>
      </p:pic>
      <p:sp>
        <p:nvSpPr>
          <p:cNvPr id="8" name="frame 21_mobile_reviews.jpg"/>
          <p:cNvSpPr/>
          <p:nvPr/>
        </p:nvSpPr>
        <p:spPr>
          <a:xfrm>
            <a:off x="5468892" y="1243584"/>
            <a:ext cx="2185806" cy="4645152"/>
          </a:xfrm>
          <a:prstGeom prst="rect">
            <a:avLst/>
          </a:prstGeom>
          <a:solidFill>
            <a:schemeClr val="bg1"/>
          </a:solidFill>
          <a:ln w="9525">
            <a:solidFill>
              <a:srgbClr val="D9DBE3"/>
            </a:solidFill>
            <a:prstDash val="solid"/>
          </a:ln>
          <a:effectLst>
            <a:outerShdw blurRad="101600" dist="25400" dir="5400000" algn="bl" rotWithShape="0">
              <a:srgbClr val="1E2233">
                <a:alpha val="18000"/>
              </a:srgbClr>
            </a:outerShdw>
          </a:effectLst>
        </p:spPr>
      </p:sp>
      <p:pic>
        <p:nvPicPr>
          <p:cNvPr id="9" name="screen 21_mobile_reviews.jpg" descr="21_mobile_review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468" y="1280160"/>
            <a:ext cx="2112654" cy="4572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5961888"/>
            <a:ext cx="2112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메인</a:t>
            </a:r>
            <a:endParaRPr lang="ko-KR" alt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3027054" y="5961888"/>
            <a:ext cx="2112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지역 선택</a:t>
            </a:r>
            <a:endParaRPr lang="ko-KR" alt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505468" y="5961888"/>
            <a:ext cx="2112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후기 분석</a:t>
            </a:r>
            <a:endParaRPr lang="ko-KR" altLang="en-US" sz="1300" dirty="0"/>
          </a:p>
        </p:txBody>
      </p:sp>
      <p:sp>
        <p:nvSpPr>
          <p:cNvPr id="13" name="description"/>
          <p:cNvSpPr txBox="1"/>
          <p:nvPr/>
        </p:nvSpPr>
        <p:spPr>
          <a:xfrm>
            <a:off x="8258202" y="1280160"/>
            <a:ext cx="3400398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650" b="1" dirty="0">
                <a:solidFill>
                  <a:schemeClr val="accent1"/>
                </a:solidFill>
              </a:rPr>
              <a:t>기능 설명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스마트폰(390px 폭)에서도 모든 기능 제공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지역 패널은 세로로 쌓고, 카테고리 탭은 가로 스크롤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장소 상세는 전체 화면 시트로 표시</a:t>
            </a:r>
            <a:endParaRPr lang="ko-KR" altLang="en-US" sz="165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650" b="1" dirty="0">
                <a:solidFill>
                  <a:schemeClr val="accent1"/>
                </a:solidFill>
              </a:rPr>
              <a:t>접근성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키보드 초점 표시, 상세 시트 Esc로 닫기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'움직임 줄이기' 설정 시 애니메이션 최소화</a:t>
            </a:r>
            <a:endParaRPr lang="ko-KR" altLang="en-US" sz="16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450" dirty="0">
                <a:solidFill>
                  <a:schemeClr val="tx1"/>
                </a:solidFill>
              </a:rPr>
              <a:t>도장 배지와 글자 라벨을 함께 표시해 색에만 의존하지 않음</a:t>
            </a:r>
            <a:endParaRPr lang="ko-KR" alt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신뢰도 판정 파이프라인</a:t>
            </a:r>
            <a:endParaRPr lang="ko-KR" alt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</a:t>
            </a:r>
            <a:endParaRPr lang="ko-KR" alt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수집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TourAPI 장소 + 네이버 블로그 검색 요약</a:t>
            </a:r>
            <a:endParaRPr lang="ko-KR" alt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21488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</a:t>
            </a:r>
            <a:endParaRPr lang="ko-KR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개인정보 가리기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전화, 이메일, 주민번호, 카드, 계좌, 메신저 ID</a:t>
            </a:r>
            <a:endParaRPr lang="ko-KR" alt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37490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3</a:t>
            </a:r>
            <a:endParaRPr lang="ko-KR" alt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숨은 명령 차단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규칙 탐지 시 AI에 전달 X</a:t>
            </a:r>
            <a:endParaRPr lang="ko-KR" alt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53492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4</a:t>
            </a:r>
            <a:endParaRPr lang="ko-KR" alt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협찬 표기 찾기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공정위 지침 표기 문구</a:t>
            </a:r>
            <a:endParaRPr lang="ko-KR" alt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69494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5</a:t>
            </a:r>
            <a:endParaRPr lang="ko-KR" alt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683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문맥 읽기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Qwen2.5-7B 보안 분류 · 협찬 등급 · 번역</a:t>
            </a:r>
            <a:endParaRPr lang="ko-KR" altLang="en-US" sz="1400" dirty="0"/>
          </a:p>
        </p:txBody>
      </p:sp>
      <p:sp>
        <p:nvSpPr>
          <p:cNvPr id="18" name="step 6"/>
          <p:cNvSpPr/>
          <p:nvPr/>
        </p:nvSpPr>
        <p:spPr>
          <a:xfrm>
            <a:off x="85496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1371600"/>
            <a:ext cx="384048" cy="3840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6</a:t>
            </a:r>
            <a:endParaRPr lang="ko-KR" alt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685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AI 작성 판별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Fast-DetectGPT + Qwen 문체 평균</a:t>
            </a:r>
            <a:endParaRPr lang="ko-KR" altLang="en-US" sz="1400" dirty="0"/>
          </a:p>
        </p:txBody>
      </p:sp>
      <p:sp>
        <p:nvSpPr>
          <p:cNvPr id="21" name="step 7"/>
          <p:cNvSpPr/>
          <p:nvPr/>
        </p:nvSpPr>
        <p:spPr>
          <a:xfrm>
            <a:off x="10149840" y="1234440"/>
            <a:ext cx="1463040" cy="205740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7</a:t>
            </a:r>
            <a:endParaRPr lang="ko-KR" alt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68712" y="1837944"/>
            <a:ext cx="12435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1"/>
                </a:solidFill>
              </a:rPr>
              <a:t>판정 도장</a:t>
            </a:r>
            <a:endParaRPr lang="ko-KR" altLang="en-US" sz="1400" dirty="0"/>
          </a:p>
          <a:p>
            <a:pPr marL="0" indent="0" eaLnBrk="0">
              <a:buNone/>
            </a:pPr>
            <a:r>
              <a:rPr lang="ko-KR" altLang="en-US" sz="1350" dirty="0">
                <a:solidFill>
                  <a:schemeClr val="tx2"/>
                </a:solidFill>
              </a:rPr>
              <a:t>신뢰, 참고, 의심, 차단 중 하나</a:t>
            </a:r>
            <a:endParaRPr lang="ko-KR" altLang="en-US" sz="1400" dirty="0"/>
          </a:p>
        </p:txBody>
      </p:sp>
      <p:graphicFrame>
        <p:nvGraphicFramePr>
          <p:cNvPr id="24" name="badge 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676656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배지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조건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화면 표시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accent2"/>
                          </a:solidFill>
                        </a:rPr>
                        <a:t>신뢰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점수 ≥ 0.70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기본 노출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accent3"/>
                          </a:solidFill>
                        </a:rPr>
                        <a:t>참고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0.40 ≤ 점수 &lt; 0.70, 또는 AI 분석 실패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기본 노출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협찬·AI 의심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협찬 판정, 또는 점수 &lt; 0.40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기본 숨김 · 펼치기 가능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차단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프롬프트 인젝션 탐지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분석 안 함 · 사유만 표시</a:t>
                      </a:r>
                      <a:endParaRPr lang="ko-KR" alt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description"/>
          <p:cNvSpPr txBox="1"/>
          <p:nvPr/>
        </p:nvSpPr>
        <p:spPr>
          <a:xfrm>
            <a:off x="7589520" y="356616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550" b="1" dirty="0">
                <a:solidFill>
                  <a:schemeClr val="accent1"/>
                </a:solidFill>
              </a:rPr>
              <a:t>신뢰도 점수 (1.0에서 감점)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chemeClr val="tx1"/>
                </a:solidFill>
              </a:rPr>
              <a:t>공정위 협찬 표기 발견: −0.50 (협찬 확정)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chemeClr val="tx1"/>
                </a:solidFill>
              </a:rPr>
              <a:t>문맥 협찬 등급: possible −0.15 · likely −0.35 · explicit −0.48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chemeClr val="tx1"/>
                </a:solidFill>
              </a:rPr>
              <a:t>AI 작성 확률 p: −0.5 × p (판별기·문체 신호 평균)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50" dirty="0">
                <a:solidFill>
                  <a:schemeClr val="tx1"/>
                </a:solidFill>
              </a:rPr>
              <a:t>AI 조작 의심 문구: −0.20</a:t>
            </a:r>
            <a:endParaRPr lang="ko-KR" altLang="en-US" sz="1550" dirty="0"/>
          </a:p>
          <a:p>
            <a:pPr marL="0" indent="0" eaLnBrk="0">
              <a:lnSpc>
                <a:spcPct val="9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lang="ko-KR" altLang="en-US" sz="1550" b="1" dirty="0">
                <a:solidFill>
                  <a:schemeClr val="accent1"/>
                </a:solidFill>
              </a:rPr>
              <a:t>7B 모델 안정화</a:t>
            </a:r>
            <a:endParaRPr lang="ko-KR" altLang="en-US" sz="1550" dirty="0"/>
          </a:p>
          <a:p>
            <a:pPr marL="0" indent="0" eaLnBrk="0">
              <a:lnSpc>
                <a:spcPct val="95000"/>
              </a:lnSpc>
              <a:spcAft>
                <a:spcPts val="200"/>
              </a:spcAft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숫자 점수 대신 등급(none/possible/likely/explicit, low/medium/high)으로 받아 코드에서 점수화</a:t>
            </a:r>
            <a:endParaRPr lang="ko-KR" altLang="en-US" sz="15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보안 설계</a:t>
            </a:r>
            <a:endParaRPr lang="ko-KR" altLang="en-US" sz="3000" dirty="0"/>
          </a:p>
        </p:txBody>
      </p:sp>
      <p:sp>
        <p:nvSpPr>
          <p:cNvPr id="3" name="security 1"/>
          <p:cNvSpPr/>
          <p:nvPr/>
        </p:nvSpPr>
        <p:spPr>
          <a:xfrm>
            <a:off x="548640" y="1234440"/>
            <a:ext cx="5440680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al 개인"/>
          <p:cNvSpPr/>
          <p:nvPr/>
        </p:nvSpPr>
        <p:spPr>
          <a:xfrm rot="-300000">
            <a:off x="777240" y="146304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개인</a:t>
            </a:r>
            <a:endParaRPr lang="ko-KR" alt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개인정보 비식별화</a:t>
            </a:r>
            <a:endParaRPr lang="ko-KR" alt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분석 전에 정규식으로 전화·이메일·주민번호·카드·계좌·메신저ID 마스킹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AI 모델·화면에는 가려진 텍스트만 전달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가린 건수를 후기마다 표시</a:t>
            </a:r>
            <a:endParaRPr lang="ko-KR" altLang="en-US" sz="1550" dirty="0"/>
          </a:p>
        </p:txBody>
      </p:sp>
      <p:sp>
        <p:nvSpPr>
          <p:cNvPr id="7" name="security 2"/>
          <p:cNvSpPr/>
          <p:nvPr/>
        </p:nvSpPr>
        <p:spPr>
          <a:xfrm>
            <a:off x="6172200" y="1234440"/>
            <a:ext cx="5440680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eal 인젝"/>
          <p:cNvSpPr/>
          <p:nvPr/>
        </p:nvSpPr>
        <p:spPr>
          <a:xfrm rot="-300000">
            <a:off x="6400800" y="146304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인젝</a:t>
            </a:r>
            <a:endParaRPr lang="ko-KR" alt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490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프롬프트 인젝션 3중 방어</a:t>
            </a:r>
            <a:endParaRPr lang="ko-KR" alt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48840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① 규칙 탐지: 명백한 조작 문구는 AI에 전달하지 않고 차단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② Qwen 보안 분류: 문맥상 조작 의도를 정상·의심·차단으로 분류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③ 외부 글은 &lt;review&gt; 데이터로만 전달, 특수 토큰 제거, JSON 스키마 강제</a:t>
            </a:r>
            <a:endParaRPr lang="ko-KR" altLang="en-US" sz="1550" dirty="0"/>
          </a:p>
        </p:txBody>
      </p:sp>
      <p:sp>
        <p:nvSpPr>
          <p:cNvPr id="11" name="security 3"/>
          <p:cNvSpPr/>
          <p:nvPr/>
        </p:nvSpPr>
        <p:spPr>
          <a:xfrm>
            <a:off x="548640" y="3794760"/>
            <a:ext cx="5440680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eal 키"/>
          <p:cNvSpPr/>
          <p:nvPr/>
        </p:nvSpPr>
        <p:spPr>
          <a:xfrm rot="-300000">
            <a:off x="777240" y="402336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키</a:t>
            </a:r>
            <a:endParaRPr lang="ko-KR" alt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키 · 접근 관리</a:t>
            </a:r>
            <a:endParaRPr lang="ko-KR" alt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09160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API 키는 .env와 Vercel 환경변수(민감 값 암호화)에만 보관, 저장소 커밋 기록 검사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Modal GPU·판별기는 API 키 인증 → 키 없이 호출하면 401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블로그 원문은 textContent로만 출력 (XSS 차단)</a:t>
            </a:r>
            <a:endParaRPr lang="ko-KR" altLang="en-US" sz="1550" dirty="0"/>
          </a:p>
        </p:txBody>
      </p:sp>
      <p:sp>
        <p:nvSpPr>
          <p:cNvPr id="15" name="security 4"/>
          <p:cNvSpPr/>
          <p:nvPr/>
        </p:nvSpPr>
        <p:spPr>
          <a:xfrm>
            <a:off x="6172200" y="3794760"/>
            <a:ext cx="5440680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eal 최소"/>
          <p:cNvSpPr/>
          <p:nvPr/>
        </p:nvSpPr>
        <p:spPr>
          <a:xfrm rot="-300000">
            <a:off x="6400800" y="402336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최소</a:t>
            </a:r>
            <a:endParaRPr lang="ko-KR" alt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수집 범위 최소화</a:t>
            </a:r>
            <a:endParaRPr lang="ko-KR" alt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709160"/>
            <a:ext cx="4983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네이버 공식 검색 API 요약만 사용, 본문 크롤링 안 함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네이버 블로그 robots.txt의 AI·RAG 봇 금지 정책 준수</a:t>
            </a:r>
            <a:endParaRPr lang="ko-KR" altLang="en-US" sz="15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사용자 계정·개인정보를 수집하지 않음</a:t>
            </a:r>
            <a:endParaRPr lang="ko-KR" alt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검증 결과와 한계</a:t>
            </a:r>
            <a:endParaRPr lang="ko-KR" alt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548640" y="128016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0.92</a:t>
            </a:r>
            <a:endParaRPr lang="ko-KR" alt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8600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AUROC · 에세이 1000자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KatFish 한국어 벤치마크(ACL 2025), 보정에 쓰지 않은 절반으로 평가</a:t>
            </a:r>
            <a:endParaRPr lang="ko-KR" altLang="en-US" sz="1500" dirty="0"/>
          </a:p>
        </p:txBody>
      </p:sp>
      <p:sp>
        <p:nvSpPr>
          <p:cNvPr id="6" name="stat 2"/>
          <p:cNvSpPr/>
          <p:nvPr/>
        </p:nvSpPr>
        <p:spPr>
          <a:xfrm>
            <a:off x="3364992" y="128016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93592" y="1444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0.66</a:t>
            </a:r>
            <a:endParaRPr lang="ko-KR" alt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8600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AUROC · 요약 길이 200자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블로그 요약처럼 짧은 글에서는 판별력이 낮아짐</a:t>
            </a:r>
            <a:endParaRPr lang="ko-KR" altLang="en-US" sz="1500" dirty="0"/>
          </a:p>
        </p:txBody>
      </p:sp>
      <p:sp>
        <p:nvSpPr>
          <p:cNvPr id="9" name="stat 3"/>
          <p:cNvSpPr/>
          <p:nvPr/>
        </p:nvSpPr>
        <p:spPr>
          <a:xfrm>
            <a:off x="6181344" y="128016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1444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56개</a:t>
            </a:r>
            <a:endParaRPr lang="ko-KR" alt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28600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단위 테스트 통과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개인정보·인젝션·협찬 규칙, 점수·배지, 매칭, 주소 영문 변환, 콜드 스타트</a:t>
            </a:r>
            <a:endParaRPr lang="ko-KR" altLang="en-US" sz="1500" dirty="0"/>
          </a:p>
        </p:txBody>
      </p:sp>
      <p:sp>
        <p:nvSpPr>
          <p:cNvPr id="12" name="stat 4"/>
          <p:cNvSpPr/>
          <p:nvPr/>
        </p:nvSpPr>
        <p:spPr>
          <a:xfrm>
            <a:off x="8997696" y="128016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6296" y="144475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4000" b="1" dirty="0">
                <a:solidFill>
                  <a:schemeClr val="accent1"/>
                </a:solidFill>
              </a:rPr>
              <a:t>2.214</a:t>
            </a:r>
            <a:endParaRPr lang="ko-KR" alt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28600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원격 = 로컬 판별 점수</a:t>
            </a:r>
            <a:endParaRPr lang="ko-KR" altLang="en-US" sz="1500" dirty="0"/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Modal 판별기와 로컬 계산 결과 일치 확인</a:t>
            </a:r>
            <a:endParaRPr lang="ko-KR" altLang="en-US" sz="1500" dirty="0"/>
          </a:p>
        </p:txBody>
      </p:sp>
      <p:sp>
        <p:nvSpPr>
          <p:cNvPr id="15" name="description"/>
          <p:cNvSpPr txBox="1"/>
          <p:nvPr/>
        </p:nvSpPr>
        <p:spPr>
          <a:xfrm>
            <a:off x="548640" y="3749040"/>
            <a:ext cx="5394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50" b="1" dirty="0">
                <a:solidFill>
                  <a:schemeClr val="accent1"/>
                </a:solidFill>
              </a:rPr>
              <a:t>실제 데이터 시연 결과</a:t>
            </a:r>
            <a:endParaRPr lang="ko-KR" altLang="en-US" sz="17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누메로뜨레쓰(성수): 후기 6건 중 신뢰 3 · 참고 1 · 의심 2 (해시태그 홍보, 할인·예약 유도 탐지)</a:t>
            </a:r>
            <a:endParaRPr lang="ko-KR" altLang="en-US" sz="175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50" dirty="0">
                <a:solidFill>
                  <a:schemeClr val="tx1"/>
                </a:solidFill>
              </a:rPr>
              <a:t>직접 검사: 협찬 글 '의심'(37), 진짜 후기 '신뢰'(89), 인젝션 '차단' + 개인정보 1건 가림</a:t>
            </a:r>
            <a:endParaRPr lang="ko-KR" altLang="en-US" sz="1750" dirty="0"/>
          </a:p>
        </p:txBody>
      </p:sp>
      <p:sp>
        <p:nvSpPr>
          <p:cNvPr id="16" name="description"/>
          <p:cNvSpPr txBox="1"/>
          <p:nvPr/>
        </p:nvSpPr>
        <p:spPr>
          <a:xfrm>
            <a:off x="6217920" y="3749040"/>
            <a:ext cx="5440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95000"/>
              </a:lnSpc>
              <a:spcAft>
                <a:spcPts val="500"/>
              </a:spcAft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한계 (참고 지표로 제공)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짧은 글은 정확도 하락 → AI 판별은 참고 지표로만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보정 데이터는 에세이·논문 → 블로그 후기와 분야 차이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7B 모델의 고유명사 번역 오류 가능 → 한글 원래 이름 병기, 공식 번역 우선</a:t>
            </a:r>
            <a:endParaRPr lang="ko-KR" altLang="en-US" sz="1700" dirty="0"/>
          </a:p>
          <a:p>
            <a:pPr marL="190500" indent="-190500" eaLnBrk="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tx1"/>
                </a:solidFill>
              </a:rPr>
              <a:t>표기 없는 협찬은 완벽히 잡지 못함 → 근거를 공개하고 숨기되 지우지 않음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tx1"/>
                </a:solidFill>
              </a:rPr>
              <a:t>기술 스택 · 운영 비용</a:t>
            </a:r>
            <a:endParaRPr lang="ko-KR" altLang="en-US" sz="3000" dirty="0"/>
          </a:p>
        </p:txBody>
      </p:sp>
      <p:graphicFrame>
        <p:nvGraphicFramePr>
          <p:cNvPr id="20" name="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구성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기술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웹 서버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Vercel · FastAPI (Python)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화면·API, 보안 필터, 판정 로직 (서울 리전)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Hobby 무료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관광 데이터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한국관광공사 TourAPI 4.0 (국·영·일·중)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장소·축제·운영시간·공식 번역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무료 (개발계정 일 1,000회)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후기 수집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NAVER API HUB 블로그 검색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후기 원문 후보 (공식 API 요약)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현재 임시 무료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언어 모델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Qwen2.5-7B-Instruct · vLLM · Modal L4 GPU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분류, 협찬 문맥, 번역·요약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쓸 때만 약 $0.8/시간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AI 작성 판별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Fast-DetectGPT · Qwen2.5-1.5B · Modal CPU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AI 작성 확률 (무료 오픈 모델)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쓸 때만, 소액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HTML · CSS · JavaScript (프레임워크 없음)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4개 언어, 반응형, 실시간 스트리밍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소스 관리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GitHub 비공개 저장소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버전 관리, 키는 저장소에 없음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무료</a:t>
                      </a:r>
                      <a:endParaRPr lang="ko-KR" altLang="en-US" sz="14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50" dirty="0">
                <a:solidFill>
                  <a:schemeClr val="tx2"/>
                </a:solidFill>
              </a:rPr>
              <a:t>Modal은 월 $30 무료 크레딧을 제공하고, 두 서비스 모두 사용하지 않으면 5분 뒤 꺼지므로 시연 1시간에 $1~2 수준입니다. GPT 계열 유료 API를 쓰지 않아 데이터가 외부 AI 회사로 나가지 않습니다.</a:t>
            </a:r>
            <a:endParaRPr lang="ko-KR" alt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68B9E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 eaLnBrk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번역은 이미 다들 합니다.</a:t>
            </a:r>
            <a:endParaRPr lang="ko-KR" altLang="en-US" sz="4800" dirty="0"/>
          </a:p>
          <a:p>
            <a:pPr marL="0" indent="0" algn="l" eaLnBrk="0">
              <a:buNone/>
            </a:pPr>
            <a:r>
              <a:rPr lang="ko-KR" altLang="en-US" sz="4800" b="1" dirty="0">
                <a:solidFill>
                  <a:schemeClr val="bg1"/>
                </a:solidFill>
              </a:rPr>
              <a:t>우리는 그 정보가 진짜인지 가려냅니다.</a:t>
            </a:r>
            <a:endParaRPr lang="ko-KR" alt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4904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lnSpc>
                <a:spcPct val="125000"/>
              </a:lnSpc>
              <a:buNone/>
            </a:pPr>
            <a:r>
              <a:rPr lang="ko-KR" altLang="en-US" sz="24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서비스  https://localpass-kappa.vercel.app</a:t>
            </a:r>
            <a:endParaRPr lang="ko-KR" altLang="en-US" sz="2400" dirty="0"/>
          </a:p>
          <a:p>
            <a:pPr marL="0" indent="0" eaLnBrk="0">
              <a:lnSpc>
                <a:spcPct val="125000"/>
              </a:lnSpc>
              <a:buNone/>
            </a:pPr>
            <a:r>
              <a:rPr lang="ko-KR" altLang="en-US" sz="2400" dirty="0">
                <a:solidFill>
                  <a:srgbClr val="C9CCD8"/>
                </a:solidFill>
              </a:rPr>
              <a:t>소스  제출 ZIP의 03_소스코드 (GitHub 비공개 저장소)</a:t>
            </a:r>
            <a:endParaRPr lang="ko-KR" altLang="en-US" sz="2400" dirty="0"/>
          </a:p>
          <a:p>
            <a:pPr marL="0" indent="0" eaLnBrk="0">
              <a:lnSpc>
                <a:spcPct val="125000"/>
              </a:lnSpc>
              <a:buNone/>
            </a:pPr>
            <a:r>
              <a:rPr lang="ko-KR" altLang="en-US" sz="2400" dirty="0">
                <a:solidFill>
                  <a:srgbClr val="C9CCD8"/>
                </a:solidFill>
              </a:rPr>
              <a:t>팀  류황규 · 박건우 · 홍승우 · 황지룡</a:t>
            </a:r>
            <a:endParaRPr lang="ko-KR" altLang="en-US" sz="2400" dirty="0"/>
          </a:p>
          <a:p>
            <a:pPr marL="0" indent="0" eaLnBrk="0">
              <a:lnSpc>
                <a:spcPct val="125000"/>
              </a:lnSpc>
              <a:buNone/>
            </a:pPr>
            <a:r>
              <a:rPr lang="ko-KR" altLang="en-US" sz="2400" dirty="0">
                <a:solidFill>
                  <a:srgbClr val="C9CCD8"/>
                </a:solidFill>
              </a:rPr>
              <a:t>2026 지역혁신 인재양성 연합 페스티벌 · AI·DX 산출물</a:t>
            </a:r>
            <a:endParaRPr lang="ko-KR" altLang="en-US" sz="2400" dirty="0"/>
          </a:p>
        </p:txBody>
      </p:sp>
      <p:sp>
        <p:nvSpPr>
          <p:cNvPr id="4" name="seal 찐"/>
          <p:cNvSpPr/>
          <p:nvPr/>
        </p:nvSpPr>
        <p:spPr>
          <a:xfrm rot="-300000">
            <a:off x="10607040" y="548640"/>
            <a:ext cx="1051560" cy="585216"/>
          </a:xfrm>
          <a:prstGeom prst="roundRect">
            <a:avLst>
              <a:gd name="adj" fmla="val 1562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찐</a:t>
            </a:r>
            <a:endParaRPr lang="ko-KR" alt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Pass">
  <a:themeElements>
    <a:clrScheme name="LocalPass">
      <a:dk1>
        <a:srgbClr val="1E2233"/>
      </a:dk1>
      <a:lt1>
        <a:srgbClr val="FFFFFF"/>
      </a:lt1>
      <a:dk2>
        <a:srgbClr val="4A5068"/>
      </a:dk2>
      <a:lt2>
        <a:srgbClr val="F5F5F7"/>
      </a:lt2>
      <a:accent1>
        <a:srgbClr val="C8283F"/>
      </a:accent1>
      <a:accent2>
        <a:srgbClr val="1F6F57"/>
      </a:accent2>
      <a:accent3>
        <a:srgbClr val="9A6410"/>
      </a:accent3>
      <a:accent4>
        <a:srgbClr val="FBE4E7"/>
      </a:accent4>
      <a:accent5>
        <a:srgbClr val="DCEBF5"/>
      </a:accent5>
      <a:accent6>
        <a:srgbClr val="E2EADB"/>
      </a:accent6>
      <a:hlink>
        <a:srgbClr val="C8283F"/>
      </a:hlink>
      <a:folHlink>
        <a:srgbClr val="4A5068"/>
      </a:folHlink>
    </a:clrScheme>
    <a:fontScheme name="LocalPass">
      <a:majorFont>
        <a:latin typeface="Noto Sans KR"/>
        <a:ea typeface="Noto Sans KR"/>
        <a:cs typeface=""/>
        <a:font script="Jpan" typeface="游ゴシック Light"/>
        <a:font script="Hang" typeface="Noto Sans K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Noto Sans KR"/>
        <a:cs typeface="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2507</Words>
  <Application>Microsoft Office PowerPoint</Application>
  <PresentationFormat>와이드스크린</PresentationFormat>
  <Paragraphs>423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Noto Sans KR</vt:lpstr>
      <vt:lpstr>LocalPass</vt:lpstr>
      <vt:lpstr>LocalPass 기능명세서</vt:lpstr>
      <vt:lpstr>서비스 개요</vt:lpstr>
      <vt:lpstr>시스템 구성도</vt:lpstr>
      <vt:lpstr>기능 목록</vt:lpstr>
      <vt:lpstr>메인 화면 · 언어 전환</vt:lpstr>
      <vt:lpstr>지역 선택 · 장소 목록</vt:lpstr>
      <vt:lpstr>필터 · 정렬 · 전국 검색</vt:lpstr>
      <vt:lpstr>장소 상세 정보</vt:lpstr>
      <vt:lpstr>후기 신뢰도 분석</vt:lpstr>
      <vt:lpstr>분석 진행 표시</vt:lpstr>
      <vt:lpstr>의심 후기 숨김 · 원문 확인</vt:lpstr>
      <vt:lpstr>직접 후기 검사 · 인젝션 차단</vt:lpstr>
      <vt:lpstr>다국어 지원</vt:lpstr>
      <vt:lpstr>GPU 온디맨드 · 콜드 스타트 안내</vt:lpstr>
      <vt:lpstr>모바일 반응형</vt:lpstr>
      <vt:lpstr>신뢰도 판정 파이프라인</vt:lpstr>
      <vt:lpstr>보안 설계</vt:lpstr>
      <vt:lpstr>검증 결과와 한계</vt:lpstr>
      <vt:lpstr>기술 스택 · 운영 비용</vt:lpstr>
      <vt:lpstr>번역은 이미 다들 합니다. 우리는 그 정보가 진짜인지 가려냅니다.</vt:lpstr>
    </vt:vector>
  </TitlesOfParts>
  <Company>2026 지역혁신 인재양성 연합 페스티벌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LocalPass 기능명세서</dc:title>
  <dc:subject>PptxGenJS Presentation</dc:subject>
  <dc:creator>류황규, 박건우, 홍승우, 황지룡</dc:creator>
  <cp:lastModifiedBy>건우 박</cp:lastModifiedBy>
  <cp:revision>2</cp:revision>
  <dcterms:created xsi:type="dcterms:W3CDTF">2026-10-02T09:53:21Z</dcterms:created>
  <dcterms:modified xsi:type="dcterms:W3CDTF">2026-10-02T09:54:08Z</dcterms:modified>
</cp:coreProperties>
</file>