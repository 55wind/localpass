
<file path=[Content_Types].xml><?xml version="1.0" encoding="utf-8"?>
<Types xmlns="http://schemas.openxmlformats.org/package/2006/content-types">
  <Default Extension="fntdata" ContentType="application/x-fontdata"/>
  <Default Extension="jpg" ContentType="image/jp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embedTrueTypeFonts="1" saveSubsetFonts="1" autoCompressPictures="0">
  <p:sldMasterIdLst>
    <p:sldMasterId id="2147483648" r:id="rId1"/>
  </p:sldMasterIdLst>
  <p:notesMasterIdLst>
    <p:notesMasterId r:id="rId22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</p:sldIdLst>
  <p:sldSz cx="12192000" cy="6858000"/>
  <p:notesSz cx="6858000" cy="12192000"/>
  <p:embeddedFontLst>
    <p:embeddedFont>
      <p:font typeface="Noto Sans KR" panose="020B0200000000000000" pitchFamily="50" charset="-127"/>
      <p:regular r:id="rId23"/>
      <p:bold r:id="rId24"/>
    </p:embeddedFont>
  </p:embeddedFontLst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표지" id="{379A4904-667C-C4BC-F5F1-3097EAC0EDA0}">
          <p14:sldIdLst>
            <p14:sldId id="256"/>
          </p14:sldIdLst>
        </p14:section>
        <p14:section name="개요" id="{8E1110CB-41AD-3BBC-D3CD-80FCC6D585D6}">
          <p14:sldIdLst>
            <p14:sldId id="257"/>
            <p14:sldId id="258"/>
            <p14:sldId id="259"/>
          </p14:sldIdLst>
        </p14:section>
        <p14:section name="화면별 기능 명세" id="{2656B93E-B41F-86FA-6A22-BD33E48257D2}">
          <p14:sldIdLst>
            <p14:sldId id="260"/>
            <p14:sldId id="261"/>
            <p14:sldId id="262"/>
            <p14:sldId id="263"/>
            <p14:sldId id="264"/>
            <p14:sldId id="265"/>
            <p14:sldId id="266"/>
            <p14:sldId id="267"/>
            <p14:sldId id="268"/>
            <p14:sldId id="269"/>
            <p14:sldId id="270"/>
          </p14:sldIdLst>
        </p14:section>
        <p14:section name="판정 로직 · 보안" id="{DE99212C-DF5A-29E3-9B31-7679DA52FACE}">
          <p14:sldIdLst>
            <p14:sldId id="271"/>
            <p14:sldId id="272"/>
          </p14:sldIdLst>
        </p14:section>
        <p14:section name="검증 · 운영" id="{78919FA7-BC9E-E6B4-40C8-2AF0B228DAE2}">
          <p14:sldIdLst>
            <p14:sldId id="273"/>
            <p14:sldId id="274"/>
          </p14:sldIdLst>
        </p14:section>
        <p14:section name="마무리" id="{8A9626A1-933C-B409-348B-03D3B2BBF618}">
          <p14:sldIdLst>
            <p14:sldId id="275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viewProps" Target="view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font" Target="fonts/font2.fntdata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font" Target="fonts/font1.fntdata"/><Relationship Id="rId28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notesMaster" Target="notesMasters/notesMaster1.xml"/><Relationship Id="rId27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20507370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VER">
    <p:bg>
      <p:bgPr>
        <a:solidFill>
          <a:schemeClr val="accent4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640080" y="1234440"/>
            <a:ext cx="5394960" cy="192024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buNone/>
              <a:defRPr lang="ko-KR" altLang="en-US" sz="4600" b="1" dirty="0">
                <a:solidFill>
                  <a:schemeClr val="tx1"/>
                </a:solidFill>
              </a:defRPr>
            </a:lvl1pPr>
          </a:lstStyle>
          <a:p>
            <a:pPr marL="0" indent="0" algn="l" eaLnBrk="0">
              <a:buNone/>
            </a:pPr>
            <a:endParaRPr lang="ko-KR" altLang="en-US" sz="4600" dirty="0"/>
          </a:p>
        </p:txBody>
      </p:sp>
      <p:sp>
        <p:nvSpPr>
          <p:cNvPr id="3" name="Text 0"/>
          <p:cNvSpPr>
            <a:spLocks noGrp="1"/>
          </p:cNvSpPr>
          <p:nvPr>
            <p:ph type="body" idx="101" hasCustomPrompt="1"/>
          </p:nvPr>
        </p:nvSpPr>
        <p:spPr>
          <a:xfrm>
            <a:off x="640080" y="3291840"/>
            <a:ext cx="5394960" cy="100584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>
              <a:buNone/>
              <a:defRPr lang="ko-KR" altLang="en-US" sz="2200" dirty="0">
                <a:solidFill>
                  <a:schemeClr val="tx2"/>
                </a:solidFill>
              </a:defRPr>
            </a:lvl1pPr>
          </a:lstStyle>
          <a:p>
            <a:pPr marL="0" indent="0" eaLnBrk="0">
              <a:buNone/>
            </a:pPr>
            <a:endParaRPr lang="ko-KR" altLang="en-US" sz="2200" dirty="0"/>
          </a:p>
        </p:txBody>
      </p:sp>
      <p:sp>
        <p:nvSpPr>
          <p:cNvPr id="4" name="Text 0"/>
          <p:cNvSpPr>
            <a:spLocks noGrp="1"/>
          </p:cNvSpPr>
          <p:nvPr>
            <p:ph type="body" idx="102" hasCustomPrompt="1"/>
          </p:nvPr>
        </p:nvSpPr>
        <p:spPr>
          <a:xfrm>
            <a:off x="640080" y="4572000"/>
            <a:ext cx="5394960" cy="173736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>
              <a:buNone/>
              <a:defRPr lang="ko-KR" altLang="en-US" sz="1500" dirty="0">
                <a:solidFill>
                  <a:schemeClr val="tx2"/>
                </a:solidFill>
              </a:defRPr>
            </a:lvl1pPr>
          </a:lstStyle>
          <a:p>
            <a:pPr marL="0" indent="0" eaLnBrk="0">
              <a:buNone/>
            </a:pPr>
            <a:endParaRPr lang="ko-KR" altLang="en-US" sz="1500" dirty="0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IVIDER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body" idx="100" hasCustomPrompt="1"/>
          </p:nvPr>
        </p:nvSpPr>
        <p:spPr>
          <a:xfrm>
            <a:off x="640080" y="2103120"/>
            <a:ext cx="3657600" cy="54864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>
              <a:buNone/>
              <a:defRPr lang="ko-KR" altLang="en-US" sz="2000" b="1" dirty="0">
                <a:solidFill>
                  <a:schemeClr val="accent4"/>
                </a:solidFill>
              </a:defRPr>
            </a:lvl1pPr>
          </a:lstStyle>
          <a:p>
            <a:pPr marL="0" indent="0" eaLnBrk="0">
              <a:buNone/>
            </a:pPr>
            <a:endParaRPr lang="ko-KR" altLang="en-US" sz="2000" dirty="0"/>
          </a:p>
        </p:txBody>
      </p:sp>
      <p:sp>
        <p:nvSpPr>
          <p:cNvPr id="3" name="Text 0"/>
          <p:cNvSpPr>
            <a:spLocks noGrp="1"/>
          </p:cNvSpPr>
          <p:nvPr>
            <p:ph type="title" idx="101" hasCustomPrompt="1"/>
          </p:nvPr>
        </p:nvSpPr>
        <p:spPr>
          <a:xfrm>
            <a:off x="640080" y="2651760"/>
            <a:ext cx="10881360" cy="118872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buNone/>
              <a:defRPr lang="ko-KR" altLang="en-US" sz="4800" b="1" dirty="0">
                <a:solidFill>
                  <a:schemeClr val="bg1"/>
                </a:solidFill>
              </a:defRPr>
            </a:lvl1pPr>
          </a:lstStyle>
          <a:p>
            <a:pPr marL="0" indent="0" algn="l" eaLnBrk="0">
              <a:buNone/>
            </a:pPr>
            <a:endParaRPr lang="ko-KR" altLang="en-US" sz="4800" dirty="0"/>
          </a:p>
        </p:txBody>
      </p:sp>
      <p:sp>
        <p:nvSpPr>
          <p:cNvPr id="4" name="Text 0"/>
          <p:cNvSpPr>
            <a:spLocks noGrp="1"/>
          </p:cNvSpPr>
          <p:nvPr>
            <p:ph type="body" idx="102" hasCustomPrompt="1"/>
          </p:nvPr>
        </p:nvSpPr>
        <p:spPr>
          <a:xfrm>
            <a:off x="640080" y="3931920"/>
            <a:ext cx="10515600" cy="91440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>
              <a:buNone/>
              <a:defRPr lang="ko-KR" altLang="en-US" sz="2000" dirty="0">
                <a:solidFill>
                  <a:srgbClr val="C9CCD8"/>
                </a:solidFill>
              </a:defRPr>
            </a:lvl1pPr>
          </a:lstStyle>
          <a:p>
            <a:pPr marL="0" indent="0" eaLnBrk="0">
              <a:buNone/>
            </a:pPr>
            <a:endParaRPr lang="ko-KR" altLang="en-US" sz="2000" dirty="0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00800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eaLnBrk="0">
              <a:buNone/>
            </a:pPr>
            <a:r>
              <a:rPr lang="ko-KR" altLang="en-US" sz="1100" dirty="0">
                <a:solidFill>
                  <a:schemeClr val="tx2"/>
                </a:solidFill>
              </a:rPr>
              <a:t>LocalPass 기능명세서</a:t>
            </a:r>
            <a:endParaRPr lang="ko-KR" altLang="en-US" sz="1100" dirty="0"/>
          </a:p>
        </p:txBody>
      </p:sp>
      <p:sp>
        <p:nvSpPr>
          <p:cNvPr id="3" name="Text 1"/>
          <p:cNvSpPr>
            <a:spLocks noGrp="1"/>
          </p:cNvSpPr>
          <p:nvPr>
            <p:ph type="title" idx="101" hasCustomPrompt="1"/>
          </p:nvPr>
        </p:nvSpPr>
        <p:spPr>
          <a:xfrm>
            <a:off x="548640" y="347472"/>
            <a:ext cx="11064240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buNone/>
              <a:defRPr lang="ko-KR" altLang="en-US" sz="3000" b="1" dirty="0">
                <a:solidFill>
                  <a:schemeClr val="tx1"/>
                </a:solidFill>
              </a:defRPr>
            </a:lvl1pPr>
          </a:lstStyle>
          <a:p>
            <a:pPr marL="0" indent="0" algn="l" eaLnBrk="0">
              <a:buNone/>
            </a:pPr>
            <a:endParaRPr lang="ko-KR" alt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400800"/>
            <a:ext cx="548640" cy="29260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100">
                <a:solidFill>
                  <a:srgbClr val="868B9E"/>
                </a:solidFill>
              </a:defRPr>
            </a:lvl1pPr>
          </a:lstStyle>
          <a:p>
            <a:pPr algn="r" eaLnBrk="0"/>
            <a:fld id="{F7021451-1387-4CA6-816F-3879F97B5CBC}" type="slidenum">
              <a:rPr lang="ko-KR" altLang="en-US" b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FEATURE"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00800"/>
            <a:ext cx="54864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eaLnBrk="0">
              <a:buNone/>
            </a:pPr>
            <a:r>
              <a:rPr lang="ko-KR" altLang="en-US" sz="1100" dirty="0">
                <a:solidFill>
                  <a:schemeClr val="tx2"/>
                </a:solidFill>
              </a:rPr>
              <a:t>LocalPass 기능명세서</a:t>
            </a:r>
            <a:endParaRPr lang="ko-KR" altLang="en-US" sz="1100" dirty="0"/>
          </a:p>
        </p:txBody>
      </p:sp>
      <p:sp>
        <p:nvSpPr>
          <p:cNvPr id="3" name="Text 1"/>
          <p:cNvSpPr>
            <a:spLocks noGrp="1"/>
          </p:cNvSpPr>
          <p:nvPr>
            <p:ph type="title" idx="101" hasCustomPrompt="1"/>
          </p:nvPr>
        </p:nvSpPr>
        <p:spPr>
          <a:xfrm>
            <a:off x="1783080" y="347472"/>
            <a:ext cx="9829800" cy="73152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buNone/>
              <a:defRPr lang="ko-KR" altLang="en-US" sz="3000" b="1" dirty="0">
                <a:solidFill>
                  <a:schemeClr val="tx1"/>
                </a:solidFill>
              </a:defRPr>
            </a:lvl1pPr>
          </a:lstStyle>
          <a:p>
            <a:pPr marL="0" indent="0" algn="l" eaLnBrk="0">
              <a:buNone/>
            </a:pPr>
            <a:endParaRPr lang="ko-KR" altLang="en-US" sz="3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400800"/>
            <a:ext cx="548640" cy="29260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100">
                <a:solidFill>
                  <a:srgbClr val="868B9E"/>
                </a:solidFill>
              </a:defRPr>
            </a:lvl1pPr>
          </a:lstStyle>
          <a:p>
            <a:pPr algn="r" eaLnBrk="0"/>
            <a:fld id="{F7021451-1387-4CA6-816F-3879F97B5CBC}" type="slidenum">
              <a:rPr lang="ko-KR" altLang="en-US" b="0"/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LOSING">
    <p:bg>
      <p:bgPr>
        <a:solidFill>
          <a:schemeClr val="tx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640080" y="1417320"/>
            <a:ext cx="11064240" cy="182880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 algn="l">
              <a:buNone/>
              <a:defRPr lang="ko-KR" altLang="en-US" sz="4800" b="1" dirty="0">
                <a:solidFill>
                  <a:schemeClr val="bg1"/>
                </a:solidFill>
              </a:defRPr>
            </a:lvl1pPr>
          </a:lstStyle>
          <a:p>
            <a:pPr marL="0" indent="0" algn="l" eaLnBrk="0">
              <a:buNone/>
            </a:pPr>
            <a:endParaRPr lang="ko-KR" altLang="en-US" sz="4800" dirty="0"/>
          </a:p>
        </p:txBody>
      </p:sp>
      <p:sp>
        <p:nvSpPr>
          <p:cNvPr id="3" name="Text 0"/>
          <p:cNvSpPr>
            <a:spLocks noGrp="1"/>
          </p:cNvSpPr>
          <p:nvPr>
            <p:ph type="body" idx="101" hasCustomPrompt="1"/>
          </p:nvPr>
        </p:nvSpPr>
        <p:spPr>
          <a:xfrm>
            <a:off x="640080" y="3749040"/>
            <a:ext cx="10881360" cy="2468880"/>
          </a:xfrm>
          <a:prstGeom prst="rect">
            <a:avLst/>
          </a:prstGeom>
          <a:noFill/>
          <a:ln/>
        </p:spPr>
        <p:txBody>
          <a:bodyPr wrap="square" rtlCol="0"/>
          <a:lstStyle>
            <a:lvl1pPr marL="0" indent="0">
              <a:lnSpc>
                <a:spcPct val="125000"/>
              </a:lnSpc>
              <a:buNone/>
              <a:defRPr lang="ko-KR" altLang="en-US" sz="2400" dirty="0">
                <a:solidFill>
                  <a:srgbClr val="C9CCD8"/>
                </a:solidFill>
              </a:defRPr>
            </a:lvl1pPr>
          </a:lstStyle>
          <a:p>
            <a:pPr marL="0" indent="0" eaLnBrk="0">
              <a:lnSpc>
                <a:spcPct val="125000"/>
              </a:lnSpc>
              <a:buNone/>
            </a:pPr>
            <a:endParaRPr lang="ko-KR" altLang="en-US" sz="2400" dirty="0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7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400800"/>
            <a:ext cx="548640" cy="29260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100">
                <a:solidFill>
                  <a:srgbClr val="868B9E"/>
                </a:solidFill>
              </a:defRPr>
            </a:lvl1pPr>
          </a:lstStyle>
          <a:p>
            <a:pPr algn="r" eaLnBrk="0"/>
            <a:fld id="{F7021451-1387-4CA6-816F-3879F97B5CBC}" type="slidenum">
              <a:rPr lang="ko-KR" altLang="en-US" b="0"/>
              <a:t>‹#›</a:t>
            </a:fld>
            <a:endParaRPr lang="ko-KR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 alt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hyperlink" Target="https://localpass-kappa.vercel.app" TargetMode="External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2.xml"/><Relationship Id="rId5" Type="http://schemas.openxmlformats.org/officeDocument/2006/relationships/image" Target="../media/image2.png"/><Relationship Id="rId4" Type="http://schemas.openxmlformats.org/officeDocument/2006/relationships/image" Target="../media/image1.jp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4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4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4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jp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5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3.jp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4.jp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.jp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6.jp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8.jp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jp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5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jp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11.jp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jp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13.jp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jpg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15.jp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6.jp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5.xml"/><Relationship Id="rId4" Type="http://schemas.openxmlformats.org/officeDocument/2006/relationships/image" Target="../media/image17.jp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8.jp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5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jp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5.xml"/><Relationship Id="rId5" Type="http://schemas.openxmlformats.org/officeDocument/2006/relationships/image" Target="../media/image21.jpg"/><Relationship Id="rId4" Type="http://schemas.openxmlformats.org/officeDocument/2006/relationships/image" Target="../media/image20.jpg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4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4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4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4.xml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hyperlink" Target="https://localpass-kappa.vercel.app" TargetMode="External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640080" y="1234440"/>
            <a:ext cx="5394960" cy="192024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l" eaLnBrk="0">
              <a:buNone/>
            </a:pPr>
            <a:r>
              <a:rPr lang="ko-KR" altLang="en-US" sz="4600" b="1" dirty="0">
                <a:solidFill>
                  <a:schemeClr val="tx1"/>
                </a:solidFill>
              </a:rPr>
              <a:t>LocalPass</a:t>
            </a:r>
            <a:endParaRPr lang="ko-KR" altLang="en-US" sz="4600" dirty="0"/>
          </a:p>
          <a:p>
            <a:pPr marL="0" indent="0" algn="l" eaLnBrk="0">
              <a:buNone/>
            </a:pPr>
            <a:r>
              <a:rPr lang="ko-KR" altLang="en-US" sz="4600" b="1" dirty="0">
                <a:solidFill>
                  <a:schemeClr val="tx1"/>
                </a:solidFill>
              </a:rPr>
              <a:t>기능명세서</a:t>
            </a:r>
            <a:endParaRPr lang="ko-KR" altLang="en-US" sz="4600" dirty="0"/>
          </a:p>
        </p:txBody>
      </p:sp>
      <p:sp>
        <p:nvSpPr>
          <p:cNvPr id="3" name="Text 0"/>
          <p:cNvSpPr>
            <a:spLocks noGrp="1"/>
          </p:cNvSpPr>
          <p:nvPr>
            <p:ph type="body" idx="101" hasCustomPrompt="1"/>
          </p:nvPr>
        </p:nvSpPr>
        <p:spPr>
          <a:xfrm>
            <a:off x="640080" y="3291840"/>
            <a:ext cx="539496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eaLnBrk="0">
              <a:buNone/>
            </a:pPr>
            <a:r>
              <a:rPr lang="ko-KR" altLang="en-US" sz="2200" dirty="0">
                <a:solidFill>
                  <a:schemeClr val="tx2"/>
                </a:solidFill>
              </a:rPr>
              <a:t>외국인 관광객을 위한 로컬 후기 신뢰도 필터링 서비스</a:t>
            </a:r>
            <a:endParaRPr lang="ko-KR" altLang="en-US" sz="2200" dirty="0"/>
          </a:p>
        </p:txBody>
      </p:sp>
      <p:sp>
        <p:nvSpPr>
          <p:cNvPr id="4" name="Text 0"/>
          <p:cNvSpPr>
            <a:spLocks noGrp="1"/>
          </p:cNvSpPr>
          <p:nvPr>
            <p:ph type="body" idx="102" hasCustomPrompt="1"/>
          </p:nvPr>
        </p:nvSpPr>
        <p:spPr>
          <a:xfrm>
            <a:off x="640080" y="4572000"/>
            <a:ext cx="5394960" cy="1737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eaLnBrk="0">
              <a:buNone/>
            </a:pPr>
            <a:r>
              <a:rPr lang="ko-KR" altLang="en-US" sz="1500" dirty="0">
                <a:solidFill>
                  <a:schemeClr val="tx2"/>
                </a:solidFill>
              </a:rPr>
              <a:t>2026 지역혁신 인재양성 연합 페스티벌 · AI·DX 산출물</a:t>
            </a:r>
            <a:endParaRPr lang="ko-KR" altLang="en-US" sz="1500" dirty="0"/>
          </a:p>
          <a:p>
            <a:pPr marL="0" indent="0" eaLnBrk="0">
              <a:buNone/>
            </a:pPr>
            <a:r>
              <a:rPr lang="ko-KR" altLang="en-US" sz="1500" dirty="0">
                <a:solidFill>
                  <a:schemeClr val="tx2"/>
                </a:solidFill>
              </a:rPr>
              <a:t>팀  류황규 · 박건우 · 홍승우 · 황지룡</a:t>
            </a:r>
            <a:endParaRPr lang="ko-KR" altLang="en-US" sz="1500" dirty="0"/>
          </a:p>
          <a:p>
            <a:pPr marL="0" indent="0" eaLnBrk="0">
              <a:buNone/>
            </a:pPr>
            <a:r>
              <a:rPr lang="ko-KR" altLang="en-US" sz="1500" u="sng" dirty="0">
                <a:solidFill>
                  <a:schemeClr val="tx2"/>
                </a:solidFill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서비스  https://localpass-kappa.vercel.app</a:t>
            </a:r>
            <a:endParaRPr lang="ko-KR" altLang="en-US" sz="1500" dirty="0"/>
          </a:p>
          <a:p>
            <a:pPr marL="0" indent="0" eaLnBrk="0">
              <a:buNone/>
            </a:pPr>
            <a:r>
              <a:rPr lang="ko-KR" altLang="en-US" sz="1500" dirty="0">
                <a:solidFill>
                  <a:schemeClr val="tx2"/>
                </a:solidFill>
              </a:rPr>
              <a:t>작성일  2026. 10. 02</a:t>
            </a:r>
            <a:endParaRPr lang="ko-KR" altLang="en-US" sz="1500" dirty="0"/>
          </a:p>
        </p:txBody>
      </p:sp>
      <p:sp>
        <p:nvSpPr>
          <p:cNvPr id="5" name="frame 메인 화면"/>
          <p:cNvSpPr/>
          <p:nvPr/>
        </p:nvSpPr>
        <p:spPr>
          <a:xfrm>
            <a:off x="6318504" y="1380744"/>
            <a:ext cx="5422392" cy="2970657"/>
          </a:xfrm>
          <a:prstGeom prst="rect">
            <a:avLst/>
          </a:prstGeom>
          <a:solidFill>
            <a:schemeClr val="bg1"/>
          </a:solidFill>
          <a:ln w="9525">
            <a:solidFill>
              <a:srgbClr val="D9DBE3"/>
            </a:solidFill>
            <a:prstDash val="solid"/>
          </a:ln>
          <a:effectLst>
            <a:outerShdw blurRad="101600" dist="25400" dir="5400000" algn="bl" rotWithShape="0">
              <a:srgbClr val="1E2233">
                <a:alpha val="18000"/>
              </a:srgbClr>
            </a:outerShdw>
          </a:effectLst>
        </p:spPr>
      </p:sp>
      <p:pic>
        <p:nvPicPr>
          <p:cNvPr id="6" name="screen 메인 화면" descr="메인 화면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355080" y="1417320"/>
            <a:ext cx="5349240" cy="2897505"/>
          </a:xfrm>
          <a:prstGeom prst="rect">
            <a:avLst/>
          </a:prstGeom>
        </p:spPr>
      </p:pic>
      <p:sp>
        <p:nvSpPr>
          <p:cNvPr id="7" name="seal 찐"/>
          <p:cNvSpPr/>
          <p:nvPr/>
        </p:nvSpPr>
        <p:spPr>
          <a:xfrm rot="-300000">
            <a:off x="6172200" y="1097280"/>
            <a:ext cx="1051560" cy="585216"/>
          </a:xfrm>
          <a:prstGeom prst="roundRect">
            <a:avLst>
              <a:gd name="adj" fmla="val 15625"/>
            </a:avLst>
          </a:prstGeom>
          <a:solidFill>
            <a:schemeClr val="accent1"/>
          </a:solidFill>
          <a:ln w="12700">
            <a:solidFill>
              <a:schemeClr val="accent1"/>
            </a:solidFill>
          </a:ln>
        </p:spPr>
        <p:txBody>
          <a:bodyPr wrap="square" lIns="0" tIns="0" rIns="0" bIns="0" rtlCol="0" anchor="ctr"/>
          <a:lstStyle/>
          <a:p>
            <a:pPr marL="0" indent="0" algn="ctr" eaLnBrk="0">
              <a:buNone/>
            </a:pPr>
            <a:r>
              <a:rPr lang="ko-KR" altLang="en-US" sz="1700" b="1" dirty="0">
                <a:solidFill>
                  <a:schemeClr val="bg1"/>
                </a:solidFill>
              </a:rPr>
              <a:t>찐</a:t>
            </a:r>
            <a:endParaRPr lang="ko-KR" altLang="en-US" sz="1700" dirty="0"/>
          </a:p>
        </p:txBody>
      </p:sp>
      <p:sp>
        <p:nvSpPr>
          <p:cNvPr id="8" name="qr card"/>
          <p:cNvSpPr/>
          <p:nvPr/>
        </p:nvSpPr>
        <p:spPr>
          <a:xfrm>
            <a:off x="10104120" y="4526280"/>
            <a:ext cx="1600200" cy="1874520"/>
          </a:xfrm>
          <a:prstGeom prst="roundRect">
            <a:avLst>
              <a:gd name="adj" fmla="val 4571"/>
            </a:avLst>
          </a:prstGeom>
          <a:solidFill>
            <a:schemeClr val="bg1"/>
          </a:solidFill>
          <a:ln w="12700">
            <a:solidFill>
              <a:schemeClr val="bg1"/>
            </a:solidFill>
            <a:prstDash val="solid"/>
          </a:ln>
        </p:spPr>
      </p:sp>
      <p:pic>
        <p:nvPicPr>
          <p:cNvPr id="9" name="qr site" descr="사이트 QR 코드 https://localpass-kappa.vercel.app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195560" y="4599432"/>
            <a:ext cx="1417320" cy="1417320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10104120" y="6035040"/>
            <a:ext cx="16002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 eaLnBrk="0">
              <a:buNone/>
            </a:pPr>
            <a:r>
              <a:rPr lang="ko-KR" altLang="en-US" sz="1200" b="1" dirty="0">
                <a:solidFill>
                  <a:schemeClr val="tx1"/>
                </a:solidFill>
              </a:rPr>
              <a:t>사이트 바로가기</a:t>
            </a:r>
            <a:endParaRPr lang="ko-KR" alt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>
            <a:spLocks noGrp="1"/>
          </p:cNvSpPr>
          <p:nvPr>
            <p:ph type="title" idx="101" hasCustomPrompt="1"/>
          </p:nvPr>
        </p:nvSpPr>
        <p:spPr>
          <a:xfrm>
            <a:off x="548640" y="347472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 eaLnBrk="0">
              <a:buNone/>
            </a:pPr>
            <a:r>
              <a:rPr lang="ko-KR" altLang="en-US" sz="3000" b="1" dirty="0">
                <a:solidFill>
                  <a:schemeClr val="tx1"/>
                </a:solidFill>
              </a:rPr>
              <a:t>서비스 개요</a:t>
            </a:r>
            <a:endParaRPr lang="ko-KR" altLang="en-US" sz="30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188720"/>
            <a:ext cx="11064240" cy="7772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eaLnBrk="0">
              <a:buNone/>
            </a:pPr>
            <a:r>
              <a:rPr lang="ko-KR" altLang="en-US" sz="1800" dirty="0">
                <a:solidFill>
                  <a:schemeClr val="tx2"/>
                </a:solidFill>
              </a:rPr>
              <a:t>공공 관광데이터와 네이버 블로그 후기를 결합하고, 숨은 광고·AI 작성 글은 걸러내고 협찬 글은 표시해 진짜 사람의 로컬 추천을 다국어로 제공합니다.</a:t>
            </a:r>
            <a:endParaRPr lang="ko-KR" altLang="en-US" sz="1800" dirty="0"/>
          </a:p>
        </p:txBody>
      </p:sp>
      <p:sp>
        <p:nvSpPr>
          <p:cNvPr id="4" name="card 문제"/>
          <p:cNvSpPr/>
          <p:nvPr/>
        </p:nvSpPr>
        <p:spPr>
          <a:xfrm>
            <a:off x="548640" y="2148840"/>
            <a:ext cx="3520440" cy="4069080"/>
          </a:xfrm>
          <a:prstGeom prst="roundRect">
            <a:avLst>
              <a:gd name="adj" fmla="val 3117"/>
            </a:avLst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5" name="Text 3"/>
          <p:cNvSpPr txBox="1"/>
          <p:nvPr/>
        </p:nvSpPr>
        <p:spPr>
          <a:xfrm>
            <a:off x="822960" y="2404872"/>
            <a:ext cx="2971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eaLnBrk="0">
              <a:buNone/>
            </a:pPr>
            <a:r>
              <a:rPr lang="ko-KR" altLang="en-US" sz="1600" b="1" dirty="0">
                <a:solidFill>
                  <a:schemeClr val="accent1"/>
                </a:solidFill>
              </a:rPr>
              <a:t>문제</a:t>
            </a:r>
            <a:endParaRPr lang="ko-KR" altLang="en-US" sz="16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2807208"/>
            <a:ext cx="2971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eaLnBrk="0">
              <a:buNone/>
            </a:pPr>
            <a:r>
              <a:rPr lang="ko-KR" altLang="en-US" sz="2200" b="1" dirty="0">
                <a:solidFill>
                  <a:schemeClr val="tx1"/>
                </a:solidFill>
              </a:rPr>
              <a:t>정보 접근 비대칭</a:t>
            </a:r>
            <a:endParaRPr lang="ko-KR" altLang="en-US" sz="2200" dirty="0"/>
          </a:p>
        </p:txBody>
      </p:sp>
      <p:sp>
        <p:nvSpPr>
          <p:cNvPr id="7" name="Text 5"/>
          <p:cNvSpPr txBox="1"/>
          <p:nvPr/>
        </p:nvSpPr>
        <p:spPr>
          <a:xfrm>
            <a:off x="822960" y="3749040"/>
            <a:ext cx="306324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90500" indent="-190500" eaLnBrk="0">
              <a:lnSpc>
                <a:spcPct val="95000"/>
              </a:lnSpc>
              <a:spcAft>
                <a:spcPts val="1200"/>
              </a:spcAft>
              <a:buSzPct val="100000"/>
              <a:buChar char="•"/>
            </a:pPr>
            <a:r>
              <a:rPr lang="ko-KR" altLang="en-US" sz="1700" dirty="0">
                <a:solidFill>
                  <a:schemeClr val="tx1"/>
                </a:solidFill>
              </a:rPr>
              <a:t>신뢰도 높은 로컬 정보는 한국어 네이버 블로그에만 있음</a:t>
            </a:r>
            <a:endParaRPr lang="ko-KR" altLang="en-US" sz="1700" dirty="0"/>
          </a:p>
          <a:p>
            <a:pPr marL="190500" indent="-190500" eaLnBrk="0">
              <a:lnSpc>
                <a:spcPct val="95000"/>
              </a:lnSpc>
              <a:spcAft>
                <a:spcPts val="1200"/>
              </a:spcAft>
              <a:buSzPct val="100000"/>
              <a:buChar char="•"/>
            </a:pPr>
            <a:r>
              <a:rPr lang="ko-KR" altLang="en-US" sz="1700" dirty="0">
                <a:solidFill>
                  <a:schemeClr val="tx1"/>
                </a:solidFill>
              </a:rPr>
              <a:t>번역해도 숨은 광고·AI 작성 글을 외국인은 가려낼 수 없음</a:t>
            </a:r>
            <a:endParaRPr lang="ko-KR" altLang="en-US" sz="1700" dirty="0"/>
          </a:p>
          <a:p>
            <a:pPr marL="190500" indent="-190500" eaLnBrk="0">
              <a:lnSpc>
                <a:spcPct val="95000"/>
              </a:lnSpc>
              <a:spcAft>
                <a:spcPts val="1200"/>
              </a:spcAft>
              <a:buSzPct val="100000"/>
              <a:buChar char="•"/>
            </a:pPr>
            <a:r>
              <a:rPr lang="ko-KR" altLang="en-US" sz="1700" dirty="0">
                <a:solidFill>
                  <a:schemeClr val="tx1"/>
                </a:solidFill>
              </a:rPr>
              <a:t>광고 수익 구조상 유명 장소에만 콘텐츠가 쏠려 지방은 사각지대</a:t>
            </a:r>
            <a:endParaRPr lang="ko-KR" altLang="en-US" sz="1700" dirty="0"/>
          </a:p>
        </p:txBody>
      </p:sp>
      <p:sp>
        <p:nvSpPr>
          <p:cNvPr id="8" name="card 해결"/>
          <p:cNvSpPr/>
          <p:nvPr/>
        </p:nvSpPr>
        <p:spPr>
          <a:xfrm>
            <a:off x="4297680" y="2148840"/>
            <a:ext cx="3520440" cy="4069080"/>
          </a:xfrm>
          <a:prstGeom prst="roundRect">
            <a:avLst>
              <a:gd name="adj" fmla="val 3117"/>
            </a:avLst>
          </a:prstGeom>
          <a:solidFill>
            <a:schemeClr val="accent6"/>
          </a:solidFill>
          <a:ln w="12700">
            <a:solidFill>
              <a:schemeClr val="accent6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4572000" y="2404872"/>
            <a:ext cx="2971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eaLnBrk="0">
              <a:buNone/>
            </a:pPr>
            <a:r>
              <a:rPr lang="ko-KR" altLang="en-US" sz="1600" b="1" dirty="0">
                <a:solidFill>
                  <a:schemeClr val="accent1"/>
                </a:solidFill>
              </a:rPr>
              <a:t>해결</a:t>
            </a:r>
            <a:endParaRPr lang="ko-KR" altLang="en-US" sz="1600" dirty="0"/>
          </a:p>
        </p:txBody>
      </p:sp>
      <p:sp>
        <p:nvSpPr>
          <p:cNvPr id="10" name="Text 8"/>
          <p:cNvSpPr txBox="1"/>
          <p:nvPr/>
        </p:nvSpPr>
        <p:spPr>
          <a:xfrm>
            <a:off x="4572000" y="2807208"/>
            <a:ext cx="2971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eaLnBrk="0">
              <a:buNone/>
            </a:pPr>
            <a:r>
              <a:rPr lang="ko-KR" altLang="en-US" sz="2200" b="1" dirty="0">
                <a:solidFill>
                  <a:schemeClr val="tx1"/>
                </a:solidFill>
              </a:rPr>
              <a:t>이중 신뢰도 필터 + 공식 데이터</a:t>
            </a:r>
            <a:endParaRPr lang="ko-KR" altLang="en-US" sz="2200" dirty="0"/>
          </a:p>
        </p:txBody>
      </p:sp>
      <p:sp>
        <p:nvSpPr>
          <p:cNvPr id="11" name="Text 9"/>
          <p:cNvSpPr txBox="1"/>
          <p:nvPr/>
        </p:nvSpPr>
        <p:spPr>
          <a:xfrm>
            <a:off x="4572000" y="3749040"/>
            <a:ext cx="306324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90500" indent="-190500" eaLnBrk="0">
              <a:lnSpc>
                <a:spcPct val="95000"/>
              </a:lnSpc>
              <a:spcAft>
                <a:spcPts val="1200"/>
              </a:spcAft>
              <a:buSzPct val="100000"/>
              <a:buChar char="•"/>
            </a:pPr>
            <a:r>
              <a:rPr lang="ko-KR" altLang="en-US" sz="1700" dirty="0">
                <a:solidFill>
                  <a:schemeClr val="tx1"/>
                </a:solidFill>
              </a:rPr>
              <a:t>한국관광공사 TourAPI로 전국 관광지·축제·전통시장 확보</a:t>
            </a:r>
            <a:endParaRPr lang="ko-KR" altLang="en-US" sz="1700" dirty="0"/>
          </a:p>
          <a:p>
            <a:pPr marL="190500" indent="-190500" eaLnBrk="0">
              <a:lnSpc>
                <a:spcPct val="95000"/>
              </a:lnSpc>
              <a:spcAft>
                <a:spcPts val="1200"/>
              </a:spcAft>
              <a:buSzPct val="100000"/>
              <a:buChar char="•"/>
            </a:pPr>
            <a:r>
              <a:rPr lang="ko-KR" altLang="en-US" sz="1700" dirty="0">
                <a:solidFill>
                  <a:schemeClr val="tx1"/>
                </a:solidFill>
              </a:rPr>
              <a:t>협찬 글은 '협찬 고지', 숨은 광고는 Qwen이 판단</a:t>
            </a:r>
            <a:endParaRPr lang="ko-KR" altLang="en-US" sz="1700" dirty="0"/>
          </a:p>
          <a:p>
            <a:pPr marL="190500" indent="-190500" eaLnBrk="0">
              <a:lnSpc>
                <a:spcPct val="95000"/>
              </a:lnSpc>
              <a:spcAft>
                <a:spcPts val="1200"/>
              </a:spcAft>
              <a:buSzPct val="100000"/>
              <a:buChar char="•"/>
            </a:pPr>
            <a:r>
              <a:rPr lang="ko-KR" altLang="en-US" sz="1700" dirty="0">
                <a:solidFill>
                  <a:schemeClr val="tx1"/>
                </a:solidFill>
              </a:rPr>
              <a:t>AI 작성: Fast-DetectGPT로 판별</a:t>
            </a:r>
            <a:endParaRPr lang="ko-KR" altLang="en-US" sz="1700" dirty="0"/>
          </a:p>
          <a:p>
            <a:pPr marL="190500" indent="-190500" eaLnBrk="0">
              <a:lnSpc>
                <a:spcPct val="95000"/>
              </a:lnSpc>
              <a:spcAft>
                <a:spcPts val="1200"/>
              </a:spcAft>
              <a:buSzPct val="100000"/>
              <a:buChar char="•"/>
            </a:pPr>
            <a:r>
              <a:rPr lang="ko-KR" altLang="en-US" sz="1700" dirty="0">
                <a:solidFill>
                  <a:schemeClr val="tx1"/>
                </a:solidFill>
              </a:rPr>
              <a:t>판정 근거를 도장 배지와 함께 투명하게 공개</a:t>
            </a:r>
            <a:endParaRPr lang="ko-KR" altLang="en-US" sz="1700" dirty="0"/>
          </a:p>
        </p:txBody>
      </p:sp>
      <p:sp>
        <p:nvSpPr>
          <p:cNvPr id="12" name="card 차별점"/>
          <p:cNvSpPr/>
          <p:nvPr/>
        </p:nvSpPr>
        <p:spPr>
          <a:xfrm>
            <a:off x="8046720" y="2148840"/>
            <a:ext cx="3520440" cy="4069080"/>
          </a:xfrm>
          <a:prstGeom prst="roundRect">
            <a:avLst>
              <a:gd name="adj" fmla="val 3117"/>
            </a:avLst>
          </a:prstGeom>
          <a:solidFill>
            <a:schemeClr val="accent5"/>
          </a:solidFill>
          <a:ln w="12700">
            <a:solidFill>
              <a:schemeClr val="accent5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8321040" y="2404872"/>
            <a:ext cx="29718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eaLnBrk="0">
              <a:buNone/>
            </a:pPr>
            <a:r>
              <a:rPr lang="ko-KR" altLang="en-US" sz="1600" b="1" dirty="0">
                <a:solidFill>
                  <a:schemeClr val="accent1"/>
                </a:solidFill>
              </a:rPr>
              <a:t>차별점</a:t>
            </a:r>
            <a:endParaRPr lang="ko-KR" altLang="en-US" sz="1600" dirty="0"/>
          </a:p>
        </p:txBody>
      </p:sp>
      <p:sp>
        <p:nvSpPr>
          <p:cNvPr id="14" name="Text 12"/>
          <p:cNvSpPr txBox="1"/>
          <p:nvPr/>
        </p:nvSpPr>
        <p:spPr>
          <a:xfrm>
            <a:off x="8321040" y="2807208"/>
            <a:ext cx="29718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eaLnBrk="0">
              <a:buNone/>
            </a:pPr>
            <a:r>
              <a:rPr lang="ko-KR" altLang="en-US" sz="2200" b="1" dirty="0">
                <a:solidFill>
                  <a:schemeClr val="tx1"/>
                </a:solidFill>
              </a:rPr>
              <a:t>경쟁 6곳 모두 검증 없음</a:t>
            </a:r>
            <a:endParaRPr lang="ko-KR" altLang="en-US" sz="2200" dirty="0"/>
          </a:p>
        </p:txBody>
      </p:sp>
      <p:sp>
        <p:nvSpPr>
          <p:cNvPr id="15" name="Text 13"/>
          <p:cNvSpPr txBox="1"/>
          <p:nvPr/>
        </p:nvSpPr>
        <p:spPr>
          <a:xfrm>
            <a:off x="8321040" y="3749040"/>
            <a:ext cx="3063240" cy="2377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90500" indent="-190500" eaLnBrk="0">
              <a:lnSpc>
                <a:spcPct val="95000"/>
              </a:lnSpc>
              <a:spcAft>
                <a:spcPts val="1200"/>
              </a:spcAft>
              <a:buSzPct val="100000"/>
              <a:buChar char="•"/>
            </a:pPr>
            <a:r>
              <a:rPr lang="ko-KR" altLang="en-US" sz="1700" dirty="0">
                <a:solidFill>
                  <a:schemeClr val="tx1"/>
                </a:solidFill>
              </a:rPr>
              <a:t>크리에이트립, 망고플레이트, 와그, 트래지, 캐치테이블, 네이버지도 모두 신뢰도 검증 없음</a:t>
            </a:r>
            <a:endParaRPr lang="ko-KR" altLang="en-US" sz="1700" dirty="0"/>
          </a:p>
          <a:p>
            <a:pPr marL="190500" indent="-190500" eaLnBrk="0">
              <a:lnSpc>
                <a:spcPct val="95000"/>
              </a:lnSpc>
              <a:spcAft>
                <a:spcPts val="1200"/>
              </a:spcAft>
              <a:buSzPct val="100000"/>
              <a:buChar char="•"/>
            </a:pPr>
            <a:r>
              <a:rPr lang="ko-KR" altLang="en-US" sz="1700" dirty="0">
                <a:solidFill>
                  <a:schemeClr val="tx1"/>
                </a:solidFill>
              </a:rPr>
              <a:t>광고 수익과 이해상충이 없는 제3자 필터링</a:t>
            </a:r>
            <a:endParaRPr lang="ko-KR" altLang="en-US" sz="1700" dirty="0"/>
          </a:p>
          <a:p>
            <a:pPr marL="190500" indent="-190500" eaLnBrk="0">
              <a:lnSpc>
                <a:spcPct val="95000"/>
              </a:lnSpc>
              <a:spcAft>
                <a:spcPts val="1200"/>
              </a:spcAft>
              <a:buSzPct val="100000"/>
              <a:buChar char="•"/>
            </a:pPr>
            <a:r>
              <a:rPr lang="ko-KR" altLang="en-US" sz="1700" dirty="0">
                <a:solidFill>
                  <a:schemeClr val="tx1"/>
                </a:solidFill>
              </a:rPr>
              <a:t>개인정보 비식별화·프롬프트 인젝션 차단까지 포함</a:t>
            </a:r>
            <a:endParaRPr lang="ko-KR" alt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400800"/>
            <a:ext cx="548640" cy="29260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100">
                <a:solidFill>
                  <a:srgbClr val="868B9E"/>
                </a:solidFill>
              </a:defRPr>
            </a:lvl1pPr>
          </a:lstStyle>
          <a:p>
            <a:pPr algn="r" eaLnBrk="0"/>
            <a:fld id="{F7021451-1387-4CA6-816F-3879F97B5CBC}" type="slidenum">
              <a:rPr lang="ko-KR" altLang="en-US" b="0"/>
              <a:t>2</a:t>
            </a:fld>
            <a:endParaRPr lang="ko-KR" alt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>
            <a:spLocks noGrp="1"/>
          </p:cNvSpPr>
          <p:nvPr>
            <p:ph type="title" idx="101" hasCustomPrompt="1"/>
          </p:nvPr>
        </p:nvSpPr>
        <p:spPr>
          <a:xfrm>
            <a:off x="548640" y="347472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 eaLnBrk="0">
              <a:buNone/>
            </a:pPr>
            <a:r>
              <a:rPr lang="ko-KR" altLang="en-US" sz="3000" b="1" dirty="0">
                <a:solidFill>
                  <a:schemeClr val="tx1"/>
                </a:solidFill>
              </a:rPr>
              <a:t>시스템 구성도</a:t>
            </a:r>
            <a:endParaRPr lang="ko-KR" altLang="en-US" sz="3000" dirty="0"/>
          </a:p>
        </p:txBody>
      </p:sp>
      <p:sp>
        <p:nvSpPr>
          <p:cNvPr id="3" name="user"/>
          <p:cNvSpPr/>
          <p:nvPr/>
        </p:nvSpPr>
        <p:spPr>
          <a:xfrm>
            <a:off x="548640" y="2606040"/>
            <a:ext cx="2194560" cy="1645920"/>
          </a:xfrm>
          <a:prstGeom prst="roundRect">
            <a:avLst>
              <a:gd name="adj" fmla="val 5556"/>
            </a:avLst>
          </a:prstGeom>
          <a:solidFill>
            <a:schemeClr val="bg2"/>
          </a:solidFill>
          <a:ln w="9525">
            <a:solidFill>
              <a:srgbClr val="D9DBE3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13232" y="2679192"/>
            <a:ext cx="1865376" cy="149961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eaLnBrk="0">
              <a:buNone/>
            </a:pPr>
            <a:r>
              <a:rPr lang="ko-KR" altLang="en-US" sz="1550" b="1" dirty="0">
                <a:solidFill>
                  <a:schemeClr val="tx1"/>
                </a:solidFill>
              </a:rPr>
              <a:t>외국인 관광객</a:t>
            </a:r>
            <a:endParaRPr lang="ko-KR" altLang="en-US" sz="1550" dirty="0"/>
          </a:p>
          <a:p>
            <a:pPr marL="0" indent="0" eaLnBrk="0">
              <a:buNone/>
            </a:pPr>
            <a:r>
              <a:rPr lang="ko-KR" altLang="en-US" sz="1300" dirty="0">
                <a:solidFill>
                  <a:schemeClr val="tx2"/>
                </a:solidFill>
              </a:rPr>
              <a:t>브라우저 · 모바일</a:t>
            </a:r>
            <a:endParaRPr lang="ko-KR" altLang="en-US" sz="1550" dirty="0"/>
          </a:p>
          <a:p>
            <a:pPr marL="0" indent="0" eaLnBrk="0">
              <a:buNone/>
            </a:pPr>
            <a:r>
              <a:rPr lang="ko-KR" altLang="en-US" sz="1300" dirty="0">
                <a:solidFill>
                  <a:schemeClr val="tx2"/>
                </a:solidFill>
              </a:rPr>
              <a:t>영·일·중·한 4개 언어</a:t>
            </a:r>
            <a:endParaRPr lang="ko-KR" altLang="en-US" sz="1550" dirty="0"/>
          </a:p>
        </p:txBody>
      </p:sp>
      <p:sp>
        <p:nvSpPr>
          <p:cNvPr id="5" name="vercel"/>
          <p:cNvSpPr/>
          <p:nvPr/>
        </p:nvSpPr>
        <p:spPr>
          <a:xfrm>
            <a:off x="3200400" y="1325880"/>
            <a:ext cx="3931920" cy="4343400"/>
          </a:xfrm>
          <a:prstGeom prst="roundRect">
            <a:avLst>
              <a:gd name="adj" fmla="val 2791"/>
            </a:avLst>
          </a:prstGeom>
          <a:solidFill>
            <a:schemeClr val="tx1"/>
          </a:solidFill>
          <a:ln w="12700">
            <a:solidFill>
              <a:schemeClr val="tx1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3429000" y="1463040"/>
            <a:ext cx="3474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eaLnBrk="0">
              <a:buNone/>
            </a:pPr>
            <a:r>
              <a:rPr lang="ko-KR" altLang="en-US" sz="1800" b="1" dirty="0">
                <a:solidFill>
                  <a:schemeClr val="bg1"/>
                </a:solidFill>
              </a:rPr>
              <a:t>Vercel · FastAPI</a:t>
            </a:r>
            <a:endParaRPr lang="ko-KR" altLang="en-US" sz="1800" dirty="0"/>
          </a:p>
          <a:p>
            <a:pPr marL="0" indent="0" eaLnBrk="0">
              <a:buNone/>
            </a:pPr>
            <a:r>
              <a:rPr lang="ko-KR" altLang="en-US" sz="1300" dirty="0">
                <a:solidFill>
                  <a:srgbClr val="C9CCD8"/>
                </a:solidFill>
              </a:rPr>
              <a:t>서울 리전(icn1) · 쓸 때만 실행</a:t>
            </a:r>
            <a:endParaRPr lang="ko-KR" altLang="en-US" sz="1800" dirty="0"/>
          </a:p>
        </p:txBody>
      </p:sp>
      <p:sp>
        <p:nvSpPr>
          <p:cNvPr id="7" name="vercel step 1"/>
          <p:cNvSpPr/>
          <p:nvPr/>
        </p:nvSpPr>
        <p:spPr>
          <a:xfrm>
            <a:off x="3429000" y="2286000"/>
            <a:ext cx="3474720" cy="658368"/>
          </a:xfrm>
          <a:prstGeom prst="roundRect">
            <a:avLst>
              <a:gd name="adj" fmla="val 11111"/>
            </a:avLst>
          </a:prstGeom>
          <a:solidFill>
            <a:srgbClr val="2E3348"/>
          </a:solidFill>
          <a:ln>
            <a:solidFill>
              <a:srgbClr val="2E3348"/>
            </a:solidFill>
          </a:ln>
        </p:spPr>
        <p:txBody>
          <a:bodyPr wrap="square" lIns="76200" tIns="76200" rIns="76200" bIns="76200" rtlCol="0" anchor="ctr"/>
          <a:lstStyle/>
          <a:p>
            <a:pPr marL="0" indent="0" eaLnBrk="0">
              <a:buNone/>
            </a:pPr>
            <a:r>
              <a:rPr lang="ko-KR" altLang="en-US" sz="1300" dirty="0">
                <a:solidFill>
                  <a:schemeClr val="bg1"/>
                </a:solidFill>
              </a:rPr>
              <a:t>① 개인정보 비식별화 · 인젝션 규칙 차단</a:t>
            </a:r>
            <a:endParaRPr lang="ko-KR" altLang="en-US" sz="1300" dirty="0"/>
          </a:p>
        </p:txBody>
      </p:sp>
      <p:sp>
        <p:nvSpPr>
          <p:cNvPr id="8" name="vercel step 2"/>
          <p:cNvSpPr/>
          <p:nvPr/>
        </p:nvSpPr>
        <p:spPr>
          <a:xfrm>
            <a:off x="3429000" y="3090672"/>
            <a:ext cx="3474720" cy="658368"/>
          </a:xfrm>
          <a:prstGeom prst="roundRect">
            <a:avLst>
              <a:gd name="adj" fmla="val 11111"/>
            </a:avLst>
          </a:prstGeom>
          <a:solidFill>
            <a:srgbClr val="2E3348"/>
          </a:solidFill>
          <a:ln>
            <a:solidFill>
              <a:srgbClr val="2E3348"/>
            </a:solidFill>
          </a:ln>
        </p:spPr>
        <p:txBody>
          <a:bodyPr wrap="square" lIns="76200" tIns="76200" rIns="76200" bIns="76200" rtlCol="0" anchor="ctr"/>
          <a:lstStyle/>
          <a:p>
            <a:pPr marL="0" indent="0" eaLnBrk="0">
              <a:buNone/>
            </a:pPr>
            <a:r>
              <a:rPr lang="ko-KR" altLang="en-US" sz="1300" dirty="0">
                <a:solidFill>
                  <a:schemeClr val="bg1"/>
                </a:solidFill>
              </a:rPr>
              <a:t>② 협찬 표기 규칙 · 신뢰도 점수 · 도장 배지</a:t>
            </a:r>
            <a:endParaRPr lang="ko-KR" altLang="en-US" sz="1300" dirty="0"/>
          </a:p>
        </p:txBody>
      </p:sp>
      <p:sp>
        <p:nvSpPr>
          <p:cNvPr id="9" name="vercel step 3"/>
          <p:cNvSpPr/>
          <p:nvPr/>
        </p:nvSpPr>
        <p:spPr>
          <a:xfrm>
            <a:off x="3429000" y="3895344"/>
            <a:ext cx="3474720" cy="658368"/>
          </a:xfrm>
          <a:prstGeom prst="roundRect">
            <a:avLst>
              <a:gd name="adj" fmla="val 11111"/>
            </a:avLst>
          </a:prstGeom>
          <a:solidFill>
            <a:srgbClr val="2E3348"/>
          </a:solidFill>
          <a:ln>
            <a:solidFill>
              <a:srgbClr val="2E3348"/>
            </a:solidFill>
          </a:ln>
        </p:spPr>
        <p:txBody>
          <a:bodyPr wrap="square" lIns="76200" tIns="76200" rIns="76200" bIns="76200" rtlCol="0" anchor="ctr"/>
          <a:lstStyle/>
          <a:p>
            <a:pPr marL="0" indent="0" eaLnBrk="0">
              <a:buNone/>
            </a:pPr>
            <a:r>
              <a:rPr lang="ko-KR" altLang="en-US" sz="1300" dirty="0">
                <a:solidFill>
                  <a:schemeClr val="bg1"/>
                </a:solidFill>
              </a:rPr>
              <a:t>③ 장소·후기 조회, 관련 글 선별, 캐시</a:t>
            </a:r>
            <a:endParaRPr lang="ko-KR" altLang="en-US" sz="1300" dirty="0"/>
          </a:p>
        </p:txBody>
      </p:sp>
      <p:sp>
        <p:nvSpPr>
          <p:cNvPr id="10" name="vercel step 4"/>
          <p:cNvSpPr/>
          <p:nvPr/>
        </p:nvSpPr>
        <p:spPr>
          <a:xfrm>
            <a:off x="3429000" y="4700016"/>
            <a:ext cx="3474720" cy="658368"/>
          </a:xfrm>
          <a:prstGeom prst="roundRect">
            <a:avLst>
              <a:gd name="adj" fmla="val 11111"/>
            </a:avLst>
          </a:prstGeom>
          <a:solidFill>
            <a:srgbClr val="2E3348"/>
          </a:solidFill>
          <a:ln>
            <a:solidFill>
              <a:srgbClr val="2E3348"/>
            </a:solidFill>
          </a:ln>
        </p:spPr>
        <p:txBody>
          <a:bodyPr wrap="square" lIns="76200" tIns="76200" rIns="76200" bIns="76200" rtlCol="0" anchor="ctr"/>
          <a:lstStyle/>
          <a:p>
            <a:pPr marL="0" indent="0" eaLnBrk="0">
              <a:buNone/>
            </a:pPr>
            <a:r>
              <a:rPr lang="ko-KR" altLang="en-US" sz="1300" dirty="0">
                <a:solidFill>
                  <a:schemeClr val="bg1"/>
                </a:solidFill>
              </a:rPr>
              <a:t>④ 원격 GPU 기동 상태 확인(콜드 스타트 안내)</a:t>
            </a:r>
            <a:endParaRPr lang="ko-KR" altLang="en-US" sz="1300" dirty="0"/>
          </a:p>
        </p:txBody>
      </p:sp>
      <p:sp>
        <p:nvSpPr>
          <p:cNvPr id="11" name="Shape 9"/>
          <p:cNvSpPr/>
          <p:nvPr/>
        </p:nvSpPr>
        <p:spPr>
          <a:xfrm>
            <a:off x="2743200" y="3429000"/>
            <a:ext cx="457200" cy="914"/>
          </a:xfrm>
          <a:prstGeom prst="line">
            <a:avLst/>
          </a:prstGeom>
          <a:noFill/>
          <a:ln w="19050">
            <a:solidFill>
              <a:schemeClr val="tx2"/>
            </a:solidFill>
            <a:prstDash val="solid"/>
            <a:tailEnd type="triangle"/>
          </a:ln>
        </p:spPr>
      </p:sp>
      <p:sp>
        <p:nvSpPr>
          <p:cNvPr id="12" name="ext 1"/>
          <p:cNvSpPr/>
          <p:nvPr/>
        </p:nvSpPr>
        <p:spPr>
          <a:xfrm>
            <a:off x="7726680" y="1325880"/>
            <a:ext cx="3886200" cy="932688"/>
          </a:xfrm>
          <a:prstGeom prst="roundRect">
            <a:avLst>
              <a:gd name="adj" fmla="val 9804"/>
            </a:avLst>
          </a:prstGeom>
          <a:solidFill>
            <a:schemeClr val="bg2"/>
          </a:solidFill>
          <a:ln w="9525">
            <a:solidFill>
              <a:srgbClr val="D9DBE3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7891272" y="1399032"/>
            <a:ext cx="3557016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eaLnBrk="0">
              <a:buNone/>
            </a:pPr>
            <a:r>
              <a:rPr lang="ko-KR" altLang="en-US" sz="1550" b="1" dirty="0">
                <a:solidFill>
                  <a:schemeClr val="tx1"/>
                </a:solidFill>
              </a:rPr>
              <a:t>한국관광공사 TourAPI 4.0</a:t>
            </a:r>
            <a:endParaRPr lang="ko-KR" altLang="en-US" sz="1550" dirty="0"/>
          </a:p>
          <a:p>
            <a:pPr marL="0" indent="0" eaLnBrk="0">
              <a:buNone/>
            </a:pPr>
            <a:r>
              <a:rPr lang="ko-KR" altLang="en-US" sz="1300" dirty="0">
                <a:solidFill>
                  <a:schemeClr val="tx2"/>
                </a:solidFill>
              </a:rPr>
              <a:t>장소·축제·운영시간, 공식 번역(국·영·일·중)</a:t>
            </a:r>
            <a:endParaRPr lang="ko-KR" altLang="en-US" sz="1550" dirty="0"/>
          </a:p>
        </p:txBody>
      </p:sp>
      <p:sp>
        <p:nvSpPr>
          <p:cNvPr id="14" name="Shape 12"/>
          <p:cNvSpPr/>
          <p:nvPr/>
        </p:nvSpPr>
        <p:spPr>
          <a:xfrm flipV="1">
            <a:off x="7132320" y="1792224"/>
            <a:ext cx="594360" cy="1709928"/>
          </a:xfrm>
          <a:prstGeom prst="line">
            <a:avLst/>
          </a:prstGeom>
          <a:noFill/>
          <a:ln w="19050">
            <a:solidFill>
              <a:schemeClr val="tx2"/>
            </a:solidFill>
            <a:prstDash val="solid"/>
            <a:tailEnd type="triangle"/>
          </a:ln>
        </p:spPr>
      </p:sp>
      <p:sp>
        <p:nvSpPr>
          <p:cNvPr id="15" name="ext 2"/>
          <p:cNvSpPr/>
          <p:nvPr/>
        </p:nvSpPr>
        <p:spPr>
          <a:xfrm>
            <a:off x="7726680" y="2441448"/>
            <a:ext cx="3886200" cy="932688"/>
          </a:xfrm>
          <a:prstGeom prst="roundRect">
            <a:avLst>
              <a:gd name="adj" fmla="val 9804"/>
            </a:avLst>
          </a:prstGeom>
          <a:solidFill>
            <a:schemeClr val="bg2"/>
          </a:solidFill>
          <a:ln w="9525">
            <a:solidFill>
              <a:srgbClr val="D9DBE3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7891272" y="2514600"/>
            <a:ext cx="3557016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eaLnBrk="0">
              <a:buNone/>
            </a:pPr>
            <a:r>
              <a:rPr lang="ko-KR" altLang="en-US" sz="1550" b="1" dirty="0">
                <a:solidFill>
                  <a:schemeClr val="tx1"/>
                </a:solidFill>
              </a:rPr>
              <a:t>NAVER API HUB · 블로그 검색</a:t>
            </a:r>
            <a:endParaRPr lang="ko-KR" altLang="en-US" sz="1550" dirty="0"/>
          </a:p>
          <a:p>
            <a:pPr marL="0" indent="0" eaLnBrk="0">
              <a:buNone/>
            </a:pPr>
            <a:r>
              <a:rPr lang="ko-KR" altLang="en-US" sz="1300" dirty="0">
                <a:solidFill>
                  <a:schemeClr val="tx2"/>
                </a:solidFill>
              </a:rPr>
              <a:t>후기 원문 후보 (공식 API 요약만 사용)</a:t>
            </a:r>
            <a:endParaRPr lang="ko-KR" altLang="en-US" sz="1550" dirty="0"/>
          </a:p>
        </p:txBody>
      </p:sp>
      <p:sp>
        <p:nvSpPr>
          <p:cNvPr id="17" name="Shape 15"/>
          <p:cNvSpPr/>
          <p:nvPr/>
        </p:nvSpPr>
        <p:spPr>
          <a:xfrm flipV="1">
            <a:off x="7132320" y="2907792"/>
            <a:ext cx="594360" cy="594360"/>
          </a:xfrm>
          <a:prstGeom prst="line">
            <a:avLst/>
          </a:prstGeom>
          <a:noFill/>
          <a:ln w="19050">
            <a:solidFill>
              <a:schemeClr val="tx2"/>
            </a:solidFill>
            <a:prstDash val="solid"/>
            <a:tailEnd type="triangle"/>
          </a:ln>
        </p:spPr>
      </p:sp>
      <p:sp>
        <p:nvSpPr>
          <p:cNvPr id="18" name="ext 3"/>
          <p:cNvSpPr/>
          <p:nvPr/>
        </p:nvSpPr>
        <p:spPr>
          <a:xfrm>
            <a:off x="7726680" y="3557016"/>
            <a:ext cx="3886200" cy="932688"/>
          </a:xfrm>
          <a:prstGeom prst="roundRect">
            <a:avLst>
              <a:gd name="adj" fmla="val 9804"/>
            </a:avLst>
          </a:prstGeom>
          <a:solidFill>
            <a:schemeClr val="accent5"/>
          </a:solidFill>
          <a:ln w="9525">
            <a:solidFill>
              <a:srgbClr val="D9DBE3"/>
            </a:solidFill>
            <a:prstDash val="solid"/>
          </a:ln>
        </p:spPr>
      </p:sp>
      <p:sp>
        <p:nvSpPr>
          <p:cNvPr id="19" name="Text 17"/>
          <p:cNvSpPr txBox="1"/>
          <p:nvPr/>
        </p:nvSpPr>
        <p:spPr>
          <a:xfrm>
            <a:off x="7891272" y="3630168"/>
            <a:ext cx="3557016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eaLnBrk="0">
              <a:buNone/>
            </a:pPr>
            <a:r>
              <a:rPr lang="ko-KR" altLang="en-US" sz="1550" b="1" dirty="0">
                <a:solidFill>
                  <a:schemeClr val="tx1"/>
                </a:solidFill>
              </a:rPr>
              <a:t>Modal GPU (L4) · Qwen2.5-7B-Instruct</a:t>
            </a:r>
            <a:endParaRPr lang="ko-KR" altLang="en-US" sz="1550" dirty="0"/>
          </a:p>
          <a:p>
            <a:pPr marL="0" indent="0" eaLnBrk="0">
              <a:buNone/>
            </a:pPr>
            <a:r>
              <a:rPr lang="ko-KR" altLang="en-US" sz="1300" dirty="0">
                <a:solidFill>
                  <a:schemeClr val="tx2"/>
                </a:solidFill>
              </a:rPr>
              <a:t>vLLM · 보안 분석 · 협찬 문맥 판단 · 번역</a:t>
            </a:r>
            <a:endParaRPr lang="ko-KR" altLang="en-US" sz="1550" dirty="0"/>
          </a:p>
        </p:txBody>
      </p:sp>
      <p:sp>
        <p:nvSpPr>
          <p:cNvPr id="20" name="Shape 18"/>
          <p:cNvSpPr/>
          <p:nvPr/>
        </p:nvSpPr>
        <p:spPr>
          <a:xfrm>
            <a:off x="7132320" y="3502152"/>
            <a:ext cx="594360" cy="521208"/>
          </a:xfrm>
          <a:prstGeom prst="line">
            <a:avLst/>
          </a:prstGeom>
          <a:noFill/>
          <a:ln w="19050">
            <a:solidFill>
              <a:schemeClr val="tx2"/>
            </a:solidFill>
            <a:prstDash val="solid"/>
            <a:tailEnd type="triangle"/>
          </a:ln>
        </p:spPr>
      </p:sp>
      <p:sp>
        <p:nvSpPr>
          <p:cNvPr id="21" name="ext 4"/>
          <p:cNvSpPr/>
          <p:nvPr/>
        </p:nvSpPr>
        <p:spPr>
          <a:xfrm>
            <a:off x="7726680" y="4672584"/>
            <a:ext cx="3886200" cy="932688"/>
          </a:xfrm>
          <a:prstGeom prst="roundRect">
            <a:avLst>
              <a:gd name="adj" fmla="val 9804"/>
            </a:avLst>
          </a:prstGeom>
          <a:solidFill>
            <a:schemeClr val="accent5"/>
          </a:solidFill>
          <a:ln w="9525">
            <a:solidFill>
              <a:srgbClr val="D9DBE3"/>
            </a:solidFill>
            <a:prstDash val="solid"/>
          </a:ln>
        </p:spPr>
      </p:sp>
      <p:sp>
        <p:nvSpPr>
          <p:cNvPr id="22" name="Text 20"/>
          <p:cNvSpPr txBox="1"/>
          <p:nvPr/>
        </p:nvSpPr>
        <p:spPr>
          <a:xfrm>
            <a:off x="7891272" y="4745736"/>
            <a:ext cx="3557016" cy="78638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eaLnBrk="0">
              <a:buNone/>
            </a:pPr>
            <a:r>
              <a:rPr lang="ko-KR" altLang="en-US" sz="1550" b="1" dirty="0">
                <a:solidFill>
                  <a:schemeClr val="tx1"/>
                </a:solidFill>
              </a:rPr>
              <a:t>Modal CPU · Fast-DetectGPT</a:t>
            </a:r>
            <a:endParaRPr lang="ko-KR" altLang="en-US" sz="1550" dirty="0"/>
          </a:p>
          <a:p>
            <a:pPr marL="0" indent="0" eaLnBrk="0">
              <a:buNone/>
            </a:pPr>
            <a:r>
              <a:rPr lang="ko-KR" altLang="en-US" sz="1300" dirty="0">
                <a:solidFill>
                  <a:schemeClr val="tx2"/>
                </a:solidFill>
              </a:rPr>
              <a:t>Qwen2.5-1.5B 기반 AI 작성 판별</a:t>
            </a:r>
            <a:endParaRPr lang="ko-KR" altLang="en-US" sz="1550" dirty="0"/>
          </a:p>
        </p:txBody>
      </p:sp>
      <p:sp>
        <p:nvSpPr>
          <p:cNvPr id="23" name="Shape 21"/>
          <p:cNvSpPr/>
          <p:nvPr/>
        </p:nvSpPr>
        <p:spPr>
          <a:xfrm>
            <a:off x="7132320" y="3502152"/>
            <a:ext cx="594360" cy="1636776"/>
          </a:xfrm>
          <a:prstGeom prst="line">
            <a:avLst/>
          </a:prstGeom>
          <a:noFill/>
          <a:ln w="19050">
            <a:solidFill>
              <a:schemeClr val="tx2"/>
            </a:solidFill>
            <a:prstDash val="solid"/>
            <a:tailEnd type="triangle"/>
          </a:ln>
        </p:spPr>
      </p:sp>
      <p:sp>
        <p:nvSpPr>
          <p:cNvPr id="24" name="Text 22"/>
          <p:cNvSpPr txBox="1"/>
          <p:nvPr/>
        </p:nvSpPr>
        <p:spPr>
          <a:xfrm>
            <a:off x="548640" y="5806440"/>
            <a:ext cx="11064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eaLnBrk="0">
              <a:buNone/>
            </a:pPr>
            <a:r>
              <a:rPr lang="ko-KR" altLang="en-US" sz="1400" dirty="0">
                <a:solidFill>
                  <a:schemeClr val="tx2"/>
                </a:solidFill>
              </a:rPr>
              <a:t>Modal 두 서비스는 요청이 있을 때만 켜지고, 마지막 사용 5분 뒤 자동으로 꺼집니다 (대기 중 요금 0원). 모든 원격 호출은 API 키로 인증합니다.</a:t>
            </a:r>
            <a:endParaRPr lang="ko-KR" altLang="en-US" sz="14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400800"/>
            <a:ext cx="548640" cy="29260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100">
                <a:solidFill>
                  <a:srgbClr val="868B9E"/>
                </a:solidFill>
              </a:defRPr>
            </a:lvl1pPr>
          </a:lstStyle>
          <a:p>
            <a:pPr algn="r" eaLnBrk="0"/>
            <a:fld id="{F7021451-1387-4CA6-816F-3879F97B5CBC}" type="slidenum">
              <a:rPr lang="ko-KR" altLang="en-US" b="0"/>
              <a:t>3</a:t>
            </a:fld>
            <a:endParaRPr lang="ko-KR" alt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>
            <a:spLocks noGrp="1"/>
          </p:cNvSpPr>
          <p:nvPr>
            <p:ph type="title" idx="101" hasCustomPrompt="1"/>
          </p:nvPr>
        </p:nvSpPr>
        <p:spPr>
          <a:xfrm>
            <a:off x="548640" y="347472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 eaLnBrk="0">
              <a:buNone/>
            </a:pPr>
            <a:r>
              <a:rPr lang="ko-KR" altLang="en-US" sz="3000" b="1" dirty="0">
                <a:solidFill>
                  <a:schemeClr val="tx1"/>
                </a:solidFill>
              </a:rPr>
              <a:t>기능 목록</a:t>
            </a:r>
            <a:endParaRPr lang="ko-KR" altLang="en-US" sz="3000" dirty="0"/>
          </a:p>
        </p:txBody>
      </p:sp>
      <p:graphicFrame>
        <p:nvGraphicFramePr>
          <p:cNvPr id="5" name="feature 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143000"/>
          <a:ext cx="11064240" cy="914400"/>
        </p:xfrm>
        <a:graphic>
          <a:graphicData uri="http://schemas.openxmlformats.org/drawingml/2006/table">
            <a:tbl>
              <a:tblPr/>
              <a:tblGrid>
                <a:gridCol w="91440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283464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676656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54864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320040">
                <a:tc>
                  <a:txBody>
                    <a:bodyPr/>
                    <a:lstStyle/>
                    <a:p>
                      <a:pPr marL="0" indent="0" eaLnBrk="0">
                        <a:buNone/>
                      </a:pPr>
                      <a:r>
                        <a:rPr lang="ko-KR" altLang="en-US" sz="1250" b="1" dirty="0">
                          <a:solidFill>
                            <a:schemeClr val="bg1"/>
                          </a:solidFill>
                        </a:rPr>
                        <a:t>기능 ID</a:t>
                      </a:r>
                      <a:endParaRPr lang="ko-KR" altLang="en-US" sz="125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0">
                        <a:buNone/>
                      </a:pPr>
                      <a:r>
                        <a:rPr lang="ko-KR" altLang="en-US" sz="1250" b="1" dirty="0">
                          <a:solidFill>
                            <a:schemeClr val="bg1"/>
                          </a:solidFill>
                        </a:rPr>
                        <a:t>기능명</a:t>
                      </a:r>
                      <a:endParaRPr lang="ko-KR" altLang="en-US" sz="125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0">
                        <a:buNone/>
                      </a:pPr>
                      <a:r>
                        <a:rPr lang="ko-KR" altLang="en-US" sz="1250" b="1" dirty="0">
                          <a:solidFill>
                            <a:schemeClr val="bg1"/>
                          </a:solidFill>
                        </a:rPr>
                        <a:t>설명</a:t>
                      </a:r>
                      <a:endParaRPr lang="ko-KR" altLang="en-US" sz="125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0">
                        <a:buNone/>
                      </a:pPr>
                      <a:r>
                        <a:rPr lang="ko-KR" altLang="en-US" sz="1250" b="1" dirty="0">
                          <a:solidFill>
                            <a:schemeClr val="bg1"/>
                          </a:solidFill>
                        </a:rPr>
                        <a:t>쪽</a:t>
                      </a:r>
                      <a:endParaRPr lang="ko-KR" altLang="en-US" sz="125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pPr marL="0" indent="0" eaLnBrk="0">
                        <a:buNone/>
                      </a:pPr>
                      <a:r>
                        <a:rPr lang="ko-KR" altLang="en-US" sz="1250" b="1" dirty="0">
                          <a:solidFill>
                            <a:schemeClr val="accent1"/>
                          </a:solidFill>
                        </a:rPr>
                        <a:t>F-01</a:t>
                      </a:r>
                      <a:endParaRPr lang="ko-KR" altLang="en-US" sz="125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0">
                        <a:buNone/>
                      </a:pPr>
                      <a:r>
                        <a:rPr lang="ko-KR" altLang="en-US" sz="1250" b="1" dirty="0">
                          <a:solidFill>
                            <a:schemeClr val="tx1"/>
                          </a:solidFill>
                        </a:rPr>
                        <a:t>메인 화면 · 언어 전환</a:t>
                      </a:r>
                      <a:endParaRPr lang="ko-KR" altLang="en-US" sz="125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0">
                        <a:buNone/>
                      </a:pPr>
                      <a:r>
                        <a:rPr lang="ko-KR" altLang="en-US" sz="1250" dirty="0">
                          <a:solidFill>
                            <a:schemeClr val="tx1"/>
                          </a:solidFill>
                        </a:rPr>
                        <a:t>서비스 소개, 실제 검사 과정 데모, 전국 장소 검색창, 4개 언어 전환</a:t>
                      </a:r>
                      <a:endParaRPr lang="ko-KR" altLang="en-US" sz="125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eaLnBrk="0">
                        <a:buNone/>
                      </a:pPr>
                      <a:r>
                        <a:rPr lang="ko-KR" altLang="en-US" sz="1250" dirty="0">
                          <a:solidFill>
                            <a:schemeClr val="tx1"/>
                          </a:solidFill>
                        </a:rPr>
                        <a:t>5</a:t>
                      </a:r>
                      <a:endParaRPr lang="ko-KR" altLang="en-US" sz="125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pPr marL="0" indent="0" eaLnBrk="0">
                        <a:buNone/>
                      </a:pPr>
                      <a:r>
                        <a:rPr lang="ko-KR" altLang="en-US" sz="1250" b="1" dirty="0">
                          <a:solidFill>
                            <a:schemeClr val="accent1"/>
                          </a:solidFill>
                        </a:rPr>
                        <a:t>F-02</a:t>
                      </a:r>
                      <a:endParaRPr lang="ko-KR" altLang="en-US" sz="125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0">
                        <a:buNone/>
                      </a:pPr>
                      <a:r>
                        <a:rPr lang="ko-KR" altLang="en-US" sz="1250" b="1" dirty="0">
                          <a:solidFill>
                            <a:schemeClr val="tx1"/>
                          </a:solidFill>
                        </a:rPr>
                        <a:t>지역 선택</a:t>
                      </a:r>
                      <a:endParaRPr lang="ko-KR" altLang="en-US" sz="125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0">
                        <a:buNone/>
                      </a:pPr>
                      <a:r>
                        <a:rPr lang="ko-KR" altLang="en-US" sz="1250" dirty="0">
                          <a:solidFill>
                            <a:schemeClr val="tx1"/>
                          </a:solidFill>
                        </a:rPr>
                        <a:t>성수 · 전주 · 부산 · 강릉 · 경주 · 제주 + 전국 검색, 좌표·반경 기반 조회</a:t>
                      </a:r>
                      <a:endParaRPr lang="ko-KR" altLang="en-US" sz="125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eaLnBrk="0">
                        <a:buNone/>
                      </a:pPr>
                      <a:r>
                        <a:rPr lang="ko-KR" altLang="en-US" sz="1250" dirty="0">
                          <a:solidFill>
                            <a:schemeClr val="tx1"/>
                          </a:solidFill>
                        </a:rPr>
                        <a:t>6</a:t>
                      </a:r>
                      <a:endParaRPr lang="ko-KR" altLang="en-US" sz="125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pPr marL="0" indent="0" eaLnBrk="0">
                        <a:buNone/>
                      </a:pPr>
                      <a:r>
                        <a:rPr lang="ko-KR" altLang="en-US" sz="1250" b="1" dirty="0">
                          <a:solidFill>
                            <a:schemeClr val="accent1"/>
                          </a:solidFill>
                        </a:rPr>
                        <a:t>F-03</a:t>
                      </a:r>
                      <a:endParaRPr lang="ko-KR" altLang="en-US" sz="125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0">
                        <a:buNone/>
                      </a:pPr>
                      <a:r>
                        <a:rPr lang="ko-KR" altLang="en-US" sz="1250" b="1" dirty="0">
                          <a:solidFill>
                            <a:schemeClr val="tx1"/>
                          </a:solidFill>
                        </a:rPr>
                        <a:t>장소 목록 · 카테고리</a:t>
                      </a:r>
                      <a:endParaRPr lang="ko-KR" altLang="en-US" sz="125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0">
                        <a:buNone/>
                      </a:pPr>
                      <a:r>
                        <a:rPr lang="ko-KR" altLang="en-US" sz="1250" dirty="0">
                          <a:solidFill>
                            <a:schemeClr val="tx1"/>
                          </a:solidFill>
                        </a:rPr>
                        <a:t>관광지·문화시설·축제·전통시장·맛집 탭, 사진·번역명·후기 검사 요약 카드</a:t>
                      </a:r>
                      <a:endParaRPr lang="ko-KR" altLang="en-US" sz="125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eaLnBrk="0">
                        <a:buNone/>
                      </a:pPr>
                      <a:r>
                        <a:rPr lang="ko-KR" altLang="en-US" sz="1250" dirty="0">
                          <a:solidFill>
                            <a:schemeClr val="tx1"/>
                          </a:solidFill>
                        </a:rPr>
                        <a:t>6</a:t>
                      </a:r>
                      <a:endParaRPr lang="ko-KR" altLang="en-US" sz="125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pPr marL="0" indent="0" eaLnBrk="0">
                        <a:buNone/>
                      </a:pPr>
                      <a:r>
                        <a:rPr lang="ko-KR" altLang="en-US" sz="1250" b="1" dirty="0">
                          <a:solidFill>
                            <a:schemeClr val="accent1"/>
                          </a:solidFill>
                        </a:rPr>
                        <a:t>F-04</a:t>
                      </a:r>
                      <a:endParaRPr lang="ko-KR" altLang="en-US" sz="125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0">
                        <a:buNone/>
                      </a:pPr>
                      <a:r>
                        <a:rPr lang="ko-KR" altLang="en-US" sz="1250" b="1" dirty="0">
                          <a:solidFill>
                            <a:schemeClr val="tx1"/>
                          </a:solidFill>
                        </a:rPr>
                        <a:t>관심사 필터 · 정렬</a:t>
                      </a:r>
                      <a:endParaRPr lang="ko-KR" altLang="en-US" sz="125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0">
                        <a:buNone/>
                      </a:pPr>
                      <a:r>
                        <a:rPr lang="ko-KR" altLang="en-US" sz="1250" dirty="0">
                          <a:solidFill>
                            <a:schemeClr val="tx1"/>
                          </a:solidFill>
                        </a:rPr>
                        <a:t>9개 관심사 다중 선택, 신뢰도순 · 가까운 순 · 이름순 정렬</a:t>
                      </a:r>
                      <a:endParaRPr lang="ko-KR" altLang="en-US" sz="125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eaLnBrk="0">
                        <a:buNone/>
                      </a:pPr>
                      <a:r>
                        <a:rPr lang="ko-KR" altLang="en-US" sz="1250" dirty="0">
                          <a:solidFill>
                            <a:schemeClr val="tx1"/>
                          </a:solidFill>
                        </a:rPr>
                        <a:t>7</a:t>
                      </a:r>
                      <a:endParaRPr lang="ko-KR" altLang="en-US" sz="125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pPr marL="0" indent="0" eaLnBrk="0">
                        <a:buNone/>
                      </a:pPr>
                      <a:r>
                        <a:rPr lang="ko-KR" altLang="en-US" sz="1250" b="1" dirty="0">
                          <a:solidFill>
                            <a:schemeClr val="accent1"/>
                          </a:solidFill>
                        </a:rPr>
                        <a:t>F-05</a:t>
                      </a:r>
                      <a:endParaRPr lang="ko-KR" altLang="en-US" sz="125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0">
                        <a:buNone/>
                      </a:pPr>
                      <a:r>
                        <a:rPr lang="ko-KR" altLang="en-US" sz="1250" b="1" dirty="0">
                          <a:solidFill>
                            <a:schemeClr val="tx1"/>
                          </a:solidFill>
                        </a:rPr>
                        <a:t>지방 커버리지 · 전국 검색</a:t>
                      </a:r>
                      <a:endParaRPr lang="ko-KR" altLang="en-US" sz="125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0">
                        <a:buNone/>
                      </a:pPr>
                      <a:r>
                        <a:rPr lang="ko-KR" altLang="en-US" sz="1250" dirty="0">
                          <a:solidFill>
                            <a:schemeClr val="tx1"/>
                          </a:solidFill>
                        </a:rPr>
                        <a:t>지방 축제·전통시장, TourAPI 키워드 검색으로 전국 확장</a:t>
                      </a:r>
                      <a:endParaRPr lang="ko-KR" altLang="en-US" sz="125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eaLnBrk="0">
                        <a:buNone/>
                      </a:pPr>
                      <a:r>
                        <a:rPr lang="ko-KR" altLang="en-US" sz="1250" dirty="0">
                          <a:solidFill>
                            <a:schemeClr val="tx1"/>
                          </a:solidFill>
                        </a:rPr>
                        <a:t>7</a:t>
                      </a:r>
                      <a:endParaRPr lang="ko-KR" altLang="en-US" sz="125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pPr marL="0" indent="0" eaLnBrk="0">
                        <a:buNone/>
                      </a:pPr>
                      <a:r>
                        <a:rPr lang="ko-KR" altLang="en-US" sz="1250" b="1" dirty="0">
                          <a:solidFill>
                            <a:schemeClr val="accent1"/>
                          </a:solidFill>
                        </a:rPr>
                        <a:t>F-06</a:t>
                      </a:r>
                      <a:endParaRPr lang="ko-KR" altLang="en-US" sz="125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0">
                        <a:buNone/>
                      </a:pPr>
                      <a:r>
                        <a:rPr lang="ko-KR" altLang="en-US" sz="1250" b="1" dirty="0">
                          <a:solidFill>
                            <a:schemeClr val="tx1"/>
                          </a:solidFill>
                        </a:rPr>
                        <a:t>장소 상세 정보</a:t>
                      </a:r>
                      <a:endParaRPr lang="ko-KR" altLang="en-US" sz="125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0">
                        <a:buNone/>
                      </a:pPr>
                      <a:r>
                        <a:rPr lang="ko-KR" altLang="en-US" sz="1250" dirty="0">
                          <a:solidFill>
                            <a:schemeClr val="tx1"/>
                          </a:solidFill>
                        </a:rPr>
                        <a:t>운영시간·요금·소개, 관광공사 공식 번역 우선 (없으면 Qwen 번역)</a:t>
                      </a:r>
                      <a:endParaRPr lang="ko-KR" altLang="en-US" sz="125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eaLnBrk="0">
                        <a:buNone/>
                      </a:pPr>
                      <a:r>
                        <a:rPr lang="ko-KR" altLang="en-US" sz="1250" dirty="0">
                          <a:solidFill>
                            <a:schemeClr val="tx1"/>
                          </a:solidFill>
                        </a:rPr>
                        <a:t>8</a:t>
                      </a:r>
                      <a:endParaRPr lang="ko-KR" altLang="en-US" sz="125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pPr marL="0" indent="0" eaLnBrk="0">
                        <a:buNone/>
                      </a:pPr>
                      <a:r>
                        <a:rPr lang="ko-KR" altLang="en-US" sz="1250" b="1" dirty="0">
                          <a:solidFill>
                            <a:schemeClr val="accent1"/>
                          </a:solidFill>
                        </a:rPr>
                        <a:t>F-07</a:t>
                      </a:r>
                      <a:endParaRPr lang="ko-KR" altLang="en-US" sz="125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0">
                        <a:buNone/>
                      </a:pPr>
                      <a:r>
                        <a:rPr lang="ko-KR" altLang="en-US" sz="1250" b="1" dirty="0">
                          <a:solidFill>
                            <a:schemeClr val="tx1"/>
                          </a:solidFill>
                        </a:rPr>
                        <a:t>후기 신뢰도 분석</a:t>
                      </a:r>
                      <a:endParaRPr lang="ko-KR" altLang="en-US" sz="125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0">
                        <a:buNone/>
                      </a:pPr>
                      <a:r>
                        <a:rPr lang="ko-KR" altLang="en-US" sz="1250" dirty="0">
                          <a:solidFill>
                            <a:schemeClr val="tx1"/>
                          </a:solidFill>
                        </a:rPr>
                        <a:t>블로그 후기 7단계 검사, 도장 배지·점수·근거를 실시간 표시</a:t>
                      </a:r>
                      <a:endParaRPr lang="ko-KR" altLang="en-US" sz="125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eaLnBrk="0">
                        <a:buNone/>
                      </a:pPr>
                      <a:r>
                        <a:rPr lang="ko-KR" altLang="en-US" sz="1250" dirty="0">
                          <a:solidFill>
                            <a:schemeClr val="tx1"/>
                          </a:solidFill>
                        </a:rPr>
                        <a:t>9</a:t>
                      </a:r>
                      <a:endParaRPr lang="ko-KR" altLang="en-US" sz="125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pPr marL="0" indent="0" eaLnBrk="0">
                        <a:buNone/>
                      </a:pPr>
                      <a:r>
                        <a:rPr lang="ko-KR" altLang="en-US" sz="1250" b="1" dirty="0">
                          <a:solidFill>
                            <a:schemeClr val="accent1"/>
                          </a:solidFill>
                        </a:rPr>
                        <a:t>F-08</a:t>
                      </a:r>
                      <a:endParaRPr lang="ko-KR" altLang="en-US" sz="125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0">
                        <a:buNone/>
                      </a:pPr>
                      <a:r>
                        <a:rPr lang="ko-KR" altLang="en-US" sz="1250" b="1" dirty="0">
                          <a:solidFill>
                            <a:schemeClr val="tx1"/>
                          </a:solidFill>
                        </a:rPr>
                        <a:t>분석 진행 표시</a:t>
                      </a:r>
                      <a:endParaRPr lang="ko-KR" altLang="en-US" sz="125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0">
                        <a:buNone/>
                      </a:pPr>
                      <a:r>
                        <a:rPr lang="ko-KR" altLang="en-US" sz="1250" dirty="0">
                          <a:solidFill>
                            <a:schemeClr val="tx1"/>
                          </a:solidFill>
                        </a:rPr>
                        <a:t>스피너 · n/6건 완료 · 경과 시간, 남은 후기 자리 표시</a:t>
                      </a:r>
                      <a:endParaRPr lang="ko-KR" altLang="en-US" sz="125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eaLnBrk="0">
                        <a:buNone/>
                      </a:pPr>
                      <a:r>
                        <a:rPr lang="ko-KR" altLang="en-US" sz="1250" dirty="0">
                          <a:solidFill>
                            <a:schemeClr val="tx1"/>
                          </a:solidFill>
                        </a:rPr>
                        <a:t>10</a:t>
                      </a:r>
                      <a:endParaRPr lang="ko-KR" altLang="en-US" sz="125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pPr marL="0" indent="0" eaLnBrk="0">
                        <a:buNone/>
                      </a:pPr>
                      <a:r>
                        <a:rPr lang="ko-KR" altLang="en-US" sz="1250" b="1" dirty="0">
                          <a:solidFill>
                            <a:schemeClr val="accent1"/>
                          </a:solidFill>
                        </a:rPr>
                        <a:t>F-09</a:t>
                      </a:r>
                      <a:endParaRPr lang="ko-KR" altLang="en-US" sz="125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0">
                        <a:buNone/>
                      </a:pPr>
                      <a:r>
                        <a:rPr lang="ko-KR" altLang="en-US" sz="1250" b="1" dirty="0">
                          <a:solidFill>
                            <a:schemeClr val="tx1"/>
                          </a:solidFill>
                        </a:rPr>
                        <a:t>의심 후기 숨김 · 근거 공개</a:t>
                      </a:r>
                      <a:endParaRPr lang="ko-KR" altLang="en-US" sz="125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0">
                        <a:buNone/>
                      </a:pPr>
                      <a:r>
                        <a:rPr lang="ko-KR" altLang="en-US" sz="1250" dirty="0">
                          <a:solidFill>
                            <a:schemeClr val="tx1"/>
                          </a:solidFill>
                        </a:rPr>
                        <a:t>숨은 광고·AI 의심 글은 기본 숨김, 협찬 글은 '협찬 고지' 표시</a:t>
                      </a:r>
                      <a:endParaRPr lang="ko-KR" altLang="en-US" sz="125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eaLnBrk="0">
                        <a:buNone/>
                      </a:pPr>
                      <a:r>
                        <a:rPr lang="ko-KR" altLang="en-US" sz="1250" dirty="0">
                          <a:solidFill>
                            <a:schemeClr val="tx1"/>
                          </a:solidFill>
                        </a:rPr>
                        <a:t>11</a:t>
                      </a:r>
                      <a:endParaRPr lang="ko-KR" altLang="en-US" sz="125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9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pPr marL="0" indent="0" eaLnBrk="0">
                        <a:buNone/>
                      </a:pPr>
                      <a:r>
                        <a:rPr lang="ko-KR" altLang="en-US" sz="1250" b="1" dirty="0">
                          <a:solidFill>
                            <a:schemeClr val="accent1"/>
                          </a:solidFill>
                        </a:rPr>
                        <a:t>F-10</a:t>
                      </a:r>
                      <a:endParaRPr lang="ko-KR" altLang="en-US" sz="125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0">
                        <a:buNone/>
                      </a:pPr>
                      <a:r>
                        <a:rPr lang="ko-KR" altLang="en-US" sz="1250" b="1" dirty="0">
                          <a:solidFill>
                            <a:schemeClr val="tx1"/>
                          </a:solidFill>
                        </a:rPr>
                        <a:t>원문 확인</a:t>
                      </a:r>
                      <a:endParaRPr lang="ko-KR" altLang="en-US" sz="125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0">
                        <a:buNone/>
                      </a:pPr>
                      <a:r>
                        <a:rPr lang="ko-KR" altLang="en-US" sz="1250" dirty="0">
                          <a:solidFill>
                            <a:schemeClr val="tx1"/>
                          </a:solidFill>
                        </a:rPr>
                        <a:t>개인정보가 가려진 한국어 원문 보기, 원본 글 링크</a:t>
                      </a:r>
                      <a:endParaRPr lang="ko-KR" altLang="en-US" sz="125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eaLnBrk="0">
                        <a:buNone/>
                      </a:pPr>
                      <a:r>
                        <a:rPr lang="ko-KR" altLang="en-US" sz="1250" dirty="0">
                          <a:solidFill>
                            <a:schemeClr val="tx1"/>
                          </a:solidFill>
                        </a:rPr>
                        <a:t>11</a:t>
                      </a:r>
                      <a:endParaRPr lang="ko-KR" altLang="en-US" sz="125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0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pPr marL="0" indent="0" eaLnBrk="0">
                        <a:buNone/>
                      </a:pPr>
                      <a:r>
                        <a:rPr lang="ko-KR" altLang="en-US" sz="1250" b="1" dirty="0">
                          <a:solidFill>
                            <a:schemeClr val="accent1"/>
                          </a:solidFill>
                        </a:rPr>
                        <a:t>F-11</a:t>
                      </a:r>
                      <a:endParaRPr lang="ko-KR" altLang="en-US" sz="125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0">
                        <a:buNone/>
                      </a:pPr>
                      <a:r>
                        <a:rPr lang="ko-KR" altLang="en-US" sz="1250" b="1" dirty="0">
                          <a:solidFill>
                            <a:schemeClr val="tx1"/>
                          </a:solidFill>
                        </a:rPr>
                        <a:t>직접 후기 검사</a:t>
                      </a:r>
                      <a:endParaRPr lang="ko-KR" altLang="en-US" sz="125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0">
                        <a:buNone/>
                      </a:pPr>
                      <a:r>
                        <a:rPr lang="ko-KR" altLang="en-US" sz="1250" dirty="0">
                          <a:solidFill>
                            <a:schemeClr val="tx1"/>
                          </a:solidFill>
                        </a:rPr>
                        <a:t>후기를 붙여 넣어 같은 7단계로 검사, 샘플 3종 제공</a:t>
                      </a:r>
                      <a:endParaRPr lang="ko-KR" altLang="en-US" sz="125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eaLnBrk="0">
                        <a:buNone/>
                      </a:pPr>
                      <a:r>
                        <a:rPr lang="ko-KR" altLang="en-US" sz="1250" dirty="0">
                          <a:solidFill>
                            <a:schemeClr val="tx1"/>
                          </a:solidFill>
                        </a:rPr>
                        <a:t>12</a:t>
                      </a:r>
                      <a:endParaRPr lang="ko-KR" altLang="en-US" sz="125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1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pPr marL="0" indent="0" eaLnBrk="0">
                        <a:buNone/>
                      </a:pPr>
                      <a:r>
                        <a:rPr lang="ko-KR" altLang="en-US" sz="1250" b="1" dirty="0">
                          <a:solidFill>
                            <a:schemeClr val="accent1"/>
                          </a:solidFill>
                        </a:rPr>
                        <a:t>F-12</a:t>
                      </a:r>
                      <a:endParaRPr lang="ko-KR" altLang="en-US" sz="125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0">
                        <a:buNone/>
                      </a:pPr>
                      <a:r>
                        <a:rPr lang="ko-KR" altLang="en-US" sz="1250" b="1" dirty="0">
                          <a:solidFill>
                            <a:schemeClr val="tx1"/>
                          </a:solidFill>
                        </a:rPr>
                        <a:t>인젝션 차단 · 개인정보 가림</a:t>
                      </a:r>
                      <a:endParaRPr lang="ko-KR" altLang="en-US" sz="125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0">
                        <a:buNone/>
                      </a:pPr>
                      <a:r>
                        <a:rPr lang="ko-KR" altLang="en-US" sz="1250" dirty="0">
                          <a:solidFill>
                            <a:schemeClr val="tx1"/>
                          </a:solidFill>
                        </a:rPr>
                        <a:t>AI 조작 문구 차단(분석 안 함), 연락처 등 비식별화</a:t>
                      </a:r>
                      <a:endParaRPr lang="ko-KR" altLang="en-US" sz="125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eaLnBrk="0">
                        <a:buNone/>
                      </a:pPr>
                      <a:r>
                        <a:rPr lang="ko-KR" altLang="en-US" sz="1250" dirty="0">
                          <a:solidFill>
                            <a:schemeClr val="tx1"/>
                          </a:solidFill>
                        </a:rPr>
                        <a:t>12</a:t>
                      </a:r>
                      <a:endParaRPr lang="ko-KR" altLang="en-US" sz="125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2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pPr marL="0" indent="0" eaLnBrk="0">
                        <a:buNone/>
                      </a:pPr>
                      <a:r>
                        <a:rPr lang="ko-KR" altLang="en-US" sz="1250" b="1" dirty="0">
                          <a:solidFill>
                            <a:schemeClr val="accent1"/>
                          </a:solidFill>
                        </a:rPr>
                        <a:t>F-13</a:t>
                      </a:r>
                      <a:endParaRPr lang="ko-KR" altLang="en-US" sz="125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0">
                        <a:buNone/>
                      </a:pPr>
                      <a:r>
                        <a:rPr lang="ko-KR" altLang="en-US" sz="1250" b="1" dirty="0">
                          <a:solidFill>
                            <a:schemeClr val="tx1"/>
                          </a:solidFill>
                        </a:rPr>
                        <a:t>다국어 지원</a:t>
                      </a:r>
                      <a:endParaRPr lang="ko-KR" altLang="en-US" sz="125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0">
                        <a:buNone/>
                      </a:pPr>
                      <a:r>
                        <a:rPr lang="ko-KR" altLang="en-US" sz="1250" dirty="0">
                          <a:solidFill>
                            <a:schemeClr val="tx1"/>
                          </a:solidFill>
                        </a:rPr>
                        <a:t>화면·후기 요약·장소명·주소를 영·일·중·한으로, 출력 언어 검증</a:t>
                      </a:r>
                      <a:endParaRPr lang="ko-KR" altLang="en-US" sz="125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eaLnBrk="0">
                        <a:buNone/>
                      </a:pPr>
                      <a:r>
                        <a:rPr lang="ko-KR" altLang="en-US" sz="1250" dirty="0">
                          <a:solidFill>
                            <a:schemeClr val="tx1"/>
                          </a:solidFill>
                        </a:rPr>
                        <a:t>13</a:t>
                      </a:r>
                      <a:endParaRPr lang="ko-KR" altLang="en-US" sz="125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3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pPr marL="0" indent="0" eaLnBrk="0">
                        <a:buNone/>
                      </a:pPr>
                      <a:r>
                        <a:rPr lang="ko-KR" altLang="en-US" sz="1250" b="1" dirty="0">
                          <a:solidFill>
                            <a:schemeClr val="accent1"/>
                          </a:solidFill>
                        </a:rPr>
                        <a:t>F-14</a:t>
                      </a:r>
                      <a:endParaRPr lang="ko-KR" altLang="en-US" sz="125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0">
                        <a:buNone/>
                      </a:pPr>
                      <a:r>
                        <a:rPr lang="ko-KR" altLang="en-US" sz="1250" b="1" dirty="0">
                          <a:solidFill>
                            <a:schemeClr val="tx1"/>
                          </a:solidFill>
                        </a:rPr>
                        <a:t>GPU 온디맨드 · 콜드 스타트 안내</a:t>
                      </a:r>
                      <a:endParaRPr lang="ko-KR" altLang="en-US" sz="125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0">
                        <a:buNone/>
                      </a:pPr>
                      <a:r>
                        <a:rPr lang="ko-KR" altLang="en-US" sz="1250" dirty="0">
                          <a:solidFill>
                            <a:schemeClr val="tx1"/>
                          </a:solidFill>
                        </a:rPr>
                        <a:t>쓸 때만 GPU 기동, 켜지는 동안 경과 시간 표시</a:t>
                      </a:r>
                      <a:endParaRPr lang="ko-KR" altLang="en-US" sz="125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eaLnBrk="0">
                        <a:buNone/>
                      </a:pPr>
                      <a:r>
                        <a:rPr lang="ko-KR" altLang="en-US" sz="1250" dirty="0">
                          <a:solidFill>
                            <a:schemeClr val="tx1"/>
                          </a:solidFill>
                        </a:rPr>
                        <a:t>14</a:t>
                      </a:r>
                      <a:endParaRPr lang="ko-KR" altLang="en-US" sz="125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4"/>
                  </a:ext>
                </a:extLst>
              </a:tr>
              <a:tr h="320040">
                <a:tc>
                  <a:txBody>
                    <a:bodyPr/>
                    <a:lstStyle/>
                    <a:p>
                      <a:pPr marL="0" indent="0" eaLnBrk="0">
                        <a:buNone/>
                      </a:pPr>
                      <a:r>
                        <a:rPr lang="ko-KR" altLang="en-US" sz="1250" b="1" dirty="0">
                          <a:solidFill>
                            <a:schemeClr val="accent1"/>
                          </a:solidFill>
                        </a:rPr>
                        <a:t>F-15</a:t>
                      </a:r>
                      <a:endParaRPr lang="ko-KR" altLang="en-US" sz="125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0">
                        <a:buNone/>
                      </a:pPr>
                      <a:r>
                        <a:rPr lang="ko-KR" altLang="en-US" sz="1250" b="1" dirty="0">
                          <a:solidFill>
                            <a:schemeClr val="tx1"/>
                          </a:solidFill>
                        </a:rPr>
                        <a:t>모바일 반응형</a:t>
                      </a:r>
                      <a:endParaRPr lang="ko-KR" altLang="en-US" sz="125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0">
                        <a:buNone/>
                      </a:pPr>
                      <a:r>
                        <a:rPr lang="ko-KR" altLang="en-US" sz="1250" dirty="0">
                          <a:solidFill>
                            <a:schemeClr val="tx1"/>
                          </a:solidFill>
                        </a:rPr>
                        <a:t>390px 폭에서 모든 기능 제공</a:t>
                      </a:r>
                      <a:endParaRPr lang="ko-KR" altLang="en-US" sz="125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algn="ctr" eaLnBrk="0">
                        <a:buNone/>
                      </a:pPr>
                      <a:r>
                        <a:rPr lang="ko-KR" altLang="en-US" sz="1250" dirty="0">
                          <a:solidFill>
                            <a:schemeClr val="tx1"/>
                          </a:solidFill>
                        </a:rPr>
                        <a:t>15</a:t>
                      </a:r>
                      <a:endParaRPr lang="ko-KR" altLang="en-US" sz="1250" dirty="0"/>
                    </a:p>
                  </a:txBody>
                  <a:tcPr marL="54864" marR="54864" marT="27432" marB="27432" anchor="ctr">
                    <a:lnL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bg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15"/>
                  </a:ext>
                </a:extLst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400800"/>
            <a:ext cx="548640" cy="29260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100">
                <a:solidFill>
                  <a:srgbClr val="868B9E"/>
                </a:solidFill>
              </a:defRPr>
            </a:lvl1pPr>
          </a:lstStyle>
          <a:p>
            <a:pPr algn="r" eaLnBrk="0"/>
            <a:fld id="{F7021451-1387-4CA6-816F-3879F97B5CBC}" type="slidenum">
              <a:rPr lang="ko-KR" altLang="en-US" b="0"/>
              <a:t>4</a:t>
            </a:fld>
            <a:endParaRPr lang="ko-KR" alt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>
            <a:spLocks noGrp="1"/>
          </p:cNvSpPr>
          <p:nvPr>
            <p:ph type="title" idx="101" hasCustomPrompt="1"/>
          </p:nvPr>
        </p:nvSpPr>
        <p:spPr>
          <a:xfrm>
            <a:off x="1783080" y="347472"/>
            <a:ext cx="9829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 eaLnBrk="0">
              <a:buNone/>
            </a:pPr>
            <a:r>
              <a:rPr lang="ko-KR" altLang="en-US" sz="3000" b="1" dirty="0">
                <a:solidFill>
                  <a:schemeClr val="tx1"/>
                </a:solidFill>
              </a:rPr>
              <a:t>메인 화면 · 언어 전환</a:t>
            </a:r>
            <a:endParaRPr lang="ko-KR" altLang="en-US" sz="3000" dirty="0"/>
          </a:p>
        </p:txBody>
      </p:sp>
      <p:sp>
        <p:nvSpPr>
          <p:cNvPr id="3" name="seal F-01"/>
          <p:cNvSpPr/>
          <p:nvPr/>
        </p:nvSpPr>
        <p:spPr>
          <a:xfrm rot="-300000">
            <a:off x="548640" y="429768"/>
            <a:ext cx="1051560" cy="585216"/>
          </a:xfrm>
          <a:prstGeom prst="roundRect">
            <a:avLst>
              <a:gd name="adj" fmla="val 15625"/>
            </a:avLst>
          </a:prstGeom>
          <a:solidFill>
            <a:schemeClr val="accent1"/>
          </a:solidFill>
          <a:ln w="12700">
            <a:solidFill>
              <a:schemeClr val="accent1"/>
            </a:solidFill>
          </a:ln>
        </p:spPr>
        <p:txBody>
          <a:bodyPr wrap="square" lIns="0" tIns="0" rIns="0" bIns="0" rtlCol="0" anchor="ctr"/>
          <a:lstStyle/>
          <a:p>
            <a:pPr marL="0" indent="0" algn="ctr" eaLnBrk="0">
              <a:buNone/>
            </a:pPr>
            <a:r>
              <a:rPr lang="ko-KR" altLang="en-US" sz="1700" b="1" dirty="0">
                <a:solidFill>
                  <a:schemeClr val="bg1"/>
                </a:solidFill>
              </a:rPr>
              <a:t>F-01</a:t>
            </a:r>
            <a:endParaRPr lang="ko-KR" altLang="en-US" sz="1700" dirty="0"/>
          </a:p>
        </p:txBody>
      </p:sp>
      <p:sp>
        <p:nvSpPr>
          <p:cNvPr id="4" name="frame 메인 화면 · 언어 전환"/>
          <p:cNvSpPr/>
          <p:nvPr/>
        </p:nvSpPr>
        <p:spPr>
          <a:xfrm>
            <a:off x="512064" y="1335024"/>
            <a:ext cx="6748272" cy="4245102"/>
          </a:xfrm>
          <a:prstGeom prst="rect">
            <a:avLst/>
          </a:prstGeom>
          <a:solidFill>
            <a:schemeClr val="bg1"/>
          </a:solidFill>
          <a:ln w="9525">
            <a:solidFill>
              <a:srgbClr val="D9DBE3"/>
            </a:solidFill>
            <a:prstDash val="solid"/>
          </a:ln>
          <a:effectLst>
            <a:outerShdw blurRad="101600" dist="25400" dir="5400000" algn="bl" rotWithShape="0">
              <a:srgbClr val="1E2233">
                <a:alpha val="18000"/>
              </a:srgbClr>
            </a:outerShdw>
          </a:effectLst>
        </p:spPr>
      </p:sp>
      <p:pic>
        <p:nvPicPr>
          <p:cNvPr id="5" name="screen 메인 화면 · 언어 전환" descr="메인 화면 · 언어 전환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371600"/>
            <a:ext cx="6675120" cy="417195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548640" y="5680710"/>
            <a:ext cx="66751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eaLnBrk="0">
              <a:buNone/>
            </a:pPr>
            <a:r>
              <a:rPr lang="ko-KR" altLang="en-US" sz="1300" dirty="0">
                <a:solidFill>
                  <a:schemeClr val="tx2"/>
                </a:solidFill>
              </a:rPr>
              <a:t>메인 화면 (한국어)</a:t>
            </a:r>
            <a:endParaRPr lang="ko-KR" altLang="en-US" sz="1300" dirty="0"/>
          </a:p>
        </p:txBody>
      </p:sp>
      <p:sp>
        <p:nvSpPr>
          <p:cNvPr id="7" name="description"/>
          <p:cNvSpPr txBox="1"/>
          <p:nvPr/>
        </p:nvSpPr>
        <p:spPr>
          <a:xfrm>
            <a:off x="7543800" y="1325880"/>
            <a:ext cx="4114800" cy="4983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eaLnBrk="0">
              <a:lnSpc>
                <a:spcPct val="95000"/>
              </a:lnSpc>
              <a:spcAft>
                <a:spcPts val="500"/>
              </a:spcAft>
              <a:buNone/>
            </a:pPr>
            <a:r>
              <a:rPr lang="ko-KR" altLang="en-US" sz="1700" b="1" dirty="0">
                <a:solidFill>
                  <a:schemeClr val="accent1"/>
                </a:solidFill>
              </a:rPr>
              <a:t>기능 설명</a:t>
            </a:r>
            <a:endParaRPr lang="ko-KR" altLang="en-US" sz="1700" dirty="0"/>
          </a:p>
          <a:p>
            <a:pPr marL="190500" indent="-190500" eaLnBrk="0">
              <a:lnSpc>
                <a:spcPct val="95000"/>
              </a:lnSpc>
              <a:spcAft>
                <a:spcPts val="600"/>
              </a:spcAft>
              <a:buSzPct val="100000"/>
              <a:buChar char="•"/>
            </a:pPr>
            <a:r>
              <a:rPr lang="ko-KR" altLang="en-US" sz="1500" dirty="0">
                <a:solidFill>
                  <a:schemeClr val="tx1"/>
                </a:solidFill>
              </a:rPr>
              <a:t>서비스 한 줄 소개와 실제 검사 과정 데모 (표기 없는 홍보 발견 → '의심' 도장)</a:t>
            </a:r>
            <a:endParaRPr lang="ko-KR" altLang="en-US" sz="1700" dirty="0"/>
          </a:p>
          <a:p>
            <a:pPr marL="190500" indent="-190500" eaLnBrk="0">
              <a:lnSpc>
                <a:spcPct val="95000"/>
              </a:lnSpc>
              <a:spcAft>
                <a:spcPts val="600"/>
              </a:spcAft>
              <a:buSzPct val="100000"/>
              <a:buChar char="•"/>
            </a:pPr>
            <a:r>
              <a:rPr lang="ko-KR" altLang="en-US" sz="1500" dirty="0">
                <a:solidFill>
                  <a:schemeClr val="tx1"/>
                </a:solidFill>
              </a:rPr>
              <a:t>전국 어디든 장소 검색창</a:t>
            </a:r>
            <a:endParaRPr lang="ko-KR" altLang="en-US" sz="1700" dirty="0"/>
          </a:p>
          <a:p>
            <a:pPr marL="190500" indent="-190500" eaLnBrk="0">
              <a:lnSpc>
                <a:spcPct val="95000"/>
              </a:lnSpc>
              <a:spcAft>
                <a:spcPts val="600"/>
              </a:spcAft>
              <a:buSzPct val="100000"/>
              <a:buChar char="•"/>
            </a:pPr>
            <a:r>
              <a:rPr lang="ko-KR" altLang="en-US" sz="1500" dirty="0">
                <a:solidFill>
                  <a:schemeClr val="tx1"/>
                </a:solidFill>
              </a:rPr>
              <a:t>상단 바에서 EN · 日本語 · 中文 · 한국어 전환, 데이터 상태(실데이터/샘플) 표시</a:t>
            </a:r>
            <a:endParaRPr lang="ko-KR" altLang="en-US" sz="1700" dirty="0"/>
          </a:p>
          <a:p>
            <a:pPr marL="0" indent="0" eaLnBrk="0">
              <a:lnSpc>
                <a:spcPct val="95000"/>
              </a:lnSpc>
              <a:spcBef>
                <a:spcPts val="1400"/>
              </a:spcBef>
              <a:spcAft>
                <a:spcPts val="500"/>
              </a:spcAft>
              <a:buNone/>
            </a:pPr>
            <a:r>
              <a:rPr lang="ko-KR" altLang="en-US" sz="1700" b="1" dirty="0">
                <a:solidFill>
                  <a:schemeClr val="accent1"/>
                </a:solidFill>
              </a:rPr>
              <a:t>처리 방식</a:t>
            </a:r>
            <a:endParaRPr lang="ko-KR" altLang="en-US" sz="1700" dirty="0"/>
          </a:p>
          <a:p>
            <a:pPr marL="190500" indent="-190500" eaLnBrk="0">
              <a:lnSpc>
                <a:spcPct val="95000"/>
              </a:lnSpc>
              <a:spcAft>
                <a:spcPts val="600"/>
              </a:spcAft>
              <a:buSzPct val="100000"/>
              <a:buChar char="•"/>
            </a:pPr>
            <a:r>
              <a:rPr lang="ko-KR" altLang="en-US" sz="1500" dirty="0">
                <a:solidFill>
                  <a:schemeClr val="tx1"/>
                </a:solidFill>
              </a:rPr>
              <a:t>첫 접속 시 /api/status로 TourAPI·네이버·AI 연결 상태 확인</a:t>
            </a:r>
            <a:endParaRPr lang="ko-KR" altLang="en-US" sz="1700" dirty="0"/>
          </a:p>
          <a:p>
            <a:pPr marL="190500" indent="-190500" eaLnBrk="0">
              <a:lnSpc>
                <a:spcPct val="95000"/>
              </a:lnSpc>
              <a:spcAft>
                <a:spcPts val="600"/>
              </a:spcAft>
              <a:buSzPct val="100000"/>
              <a:buChar char="•"/>
            </a:pPr>
            <a:r>
              <a:rPr lang="ko-KR" altLang="en-US" sz="1500" dirty="0">
                <a:solidFill>
                  <a:schemeClr val="tx1"/>
                </a:solidFill>
              </a:rPr>
              <a:t>선택 언어는 브라우저에 저장해 다음 방문에도 유지</a:t>
            </a:r>
            <a:endParaRPr lang="ko-KR" altLang="en-US" sz="1700" dirty="0"/>
          </a:p>
          <a:p>
            <a:pPr marL="190500" indent="-190500" eaLnBrk="0">
              <a:lnSpc>
                <a:spcPct val="95000"/>
              </a:lnSpc>
              <a:spcAft>
                <a:spcPts val="600"/>
              </a:spcAft>
              <a:buSzPct val="100000"/>
              <a:buChar char="•"/>
            </a:pPr>
            <a:r>
              <a:rPr lang="ko-KR" altLang="en-US" sz="1500" dirty="0">
                <a:solidFill>
                  <a:schemeClr val="tx1"/>
                </a:solidFill>
              </a:rPr>
              <a:t>검사 데모 애니메이션은 첫 진입 1회만, '움직임 줄이기' 설정 존중</a:t>
            </a:r>
            <a:endParaRPr lang="ko-KR" altLang="en-US" sz="1700" dirty="0"/>
          </a:p>
          <a:p>
            <a:pPr marL="0" indent="0" eaLnBrk="0">
              <a:lnSpc>
                <a:spcPct val="95000"/>
              </a:lnSpc>
              <a:spcBef>
                <a:spcPts val="1400"/>
              </a:spcBef>
              <a:spcAft>
                <a:spcPts val="500"/>
              </a:spcAft>
              <a:buNone/>
            </a:pPr>
            <a:r>
              <a:rPr lang="ko-KR" altLang="en-US" sz="1700" b="1" dirty="0">
                <a:solidFill>
                  <a:schemeClr val="accent1"/>
                </a:solidFill>
              </a:rPr>
              <a:t>디자인 근거</a:t>
            </a:r>
            <a:endParaRPr lang="ko-KR" altLang="en-US" sz="1700" dirty="0"/>
          </a:p>
          <a:p>
            <a:pPr marL="0" indent="0" eaLnBrk="0">
              <a:lnSpc>
                <a:spcPct val="95000"/>
              </a:lnSpc>
              <a:spcAft>
                <a:spcPts val="200"/>
              </a:spcAft>
              <a:buNone/>
            </a:pPr>
            <a:r>
              <a:rPr lang="ko-KR" altLang="en-US" sz="1450" dirty="0">
                <a:solidFill>
                  <a:schemeClr val="tx2"/>
                </a:solidFill>
              </a:rPr>
              <a:t>한국관광공사(knto.or.kr) 구성 + 공정관광(GDWEB 수상작)의 파스텔 밴드·라인 일러스트</a:t>
            </a:r>
            <a:endParaRPr lang="ko-KR" alt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400800"/>
            <a:ext cx="548640" cy="29260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100">
                <a:solidFill>
                  <a:srgbClr val="868B9E"/>
                </a:solidFill>
              </a:defRPr>
            </a:lvl1pPr>
          </a:lstStyle>
          <a:p>
            <a:pPr algn="r" eaLnBrk="0"/>
            <a:fld id="{F7021451-1387-4CA6-816F-3879F97B5CBC}" type="slidenum">
              <a:rPr lang="ko-KR" altLang="en-US" b="0"/>
              <a:t>5</a:t>
            </a:fld>
            <a:endParaRPr lang="ko-KR" alt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>
            <a:spLocks noGrp="1"/>
          </p:cNvSpPr>
          <p:nvPr>
            <p:ph type="title" idx="101" hasCustomPrompt="1"/>
          </p:nvPr>
        </p:nvSpPr>
        <p:spPr>
          <a:xfrm>
            <a:off x="1783080" y="347472"/>
            <a:ext cx="9829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 eaLnBrk="0">
              <a:buNone/>
            </a:pPr>
            <a:r>
              <a:rPr lang="ko-KR" altLang="en-US" sz="3000" b="1" dirty="0">
                <a:solidFill>
                  <a:schemeClr val="tx1"/>
                </a:solidFill>
              </a:rPr>
              <a:t>지역 선택 · 장소 목록</a:t>
            </a:r>
            <a:endParaRPr lang="ko-KR" altLang="en-US" sz="3000" dirty="0"/>
          </a:p>
        </p:txBody>
      </p:sp>
      <p:sp>
        <p:nvSpPr>
          <p:cNvPr id="3" name="seal F-02·03"/>
          <p:cNvSpPr/>
          <p:nvPr/>
        </p:nvSpPr>
        <p:spPr>
          <a:xfrm rot="-300000">
            <a:off x="548640" y="429768"/>
            <a:ext cx="1051560" cy="585216"/>
          </a:xfrm>
          <a:prstGeom prst="roundRect">
            <a:avLst>
              <a:gd name="adj" fmla="val 15625"/>
            </a:avLst>
          </a:prstGeom>
          <a:solidFill>
            <a:schemeClr val="accent1"/>
          </a:solidFill>
          <a:ln w="12700">
            <a:solidFill>
              <a:schemeClr val="accent1"/>
            </a:solidFill>
          </a:ln>
        </p:spPr>
        <p:txBody>
          <a:bodyPr wrap="square" lIns="0" tIns="0" rIns="0" bIns="0" rtlCol="0" anchor="ctr"/>
          <a:lstStyle/>
          <a:p>
            <a:pPr marL="0" indent="0" algn="ctr" eaLnBrk="0">
              <a:buNone/>
            </a:pPr>
            <a:r>
              <a:rPr lang="ko-KR" altLang="en-US" sz="1400" b="1" dirty="0">
                <a:solidFill>
                  <a:schemeClr val="bg1"/>
                </a:solidFill>
              </a:rPr>
              <a:t>F-02·03</a:t>
            </a:r>
            <a:endParaRPr lang="ko-KR" altLang="en-US" sz="1400" dirty="0"/>
          </a:p>
        </p:txBody>
      </p:sp>
      <p:sp>
        <p:nvSpPr>
          <p:cNvPr id="4" name="frame 지역 7개 패널 (성수동 선택 시 101곳)"/>
          <p:cNvSpPr/>
          <p:nvPr/>
        </p:nvSpPr>
        <p:spPr>
          <a:xfrm>
            <a:off x="512064" y="1243584"/>
            <a:ext cx="5102352" cy="3216402"/>
          </a:xfrm>
          <a:prstGeom prst="rect">
            <a:avLst/>
          </a:prstGeom>
          <a:solidFill>
            <a:schemeClr val="bg1"/>
          </a:solidFill>
          <a:ln w="9525">
            <a:solidFill>
              <a:srgbClr val="D9DBE3"/>
            </a:solidFill>
            <a:prstDash val="solid"/>
          </a:ln>
          <a:effectLst>
            <a:outerShdw blurRad="101600" dist="25400" dir="5400000" algn="bl" rotWithShape="0">
              <a:srgbClr val="1E2233">
                <a:alpha val="18000"/>
              </a:srgbClr>
            </a:outerShdw>
          </a:effectLst>
        </p:spPr>
      </p:sp>
      <p:pic>
        <p:nvPicPr>
          <p:cNvPr id="5" name="screen 지역 7개 패널 (성수동 선택 시 101곳)" descr="지역 7개 패널 (성수동 선택 시 101곳)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280160"/>
            <a:ext cx="5029200" cy="3143250"/>
          </a:xfrm>
          <a:prstGeom prst="rect">
            <a:avLst/>
          </a:prstGeom>
        </p:spPr>
      </p:pic>
      <p:sp>
        <p:nvSpPr>
          <p:cNvPr id="6" name="frame 성수동 장소 카드 · 후기 검사 요약"/>
          <p:cNvSpPr/>
          <p:nvPr/>
        </p:nvSpPr>
        <p:spPr>
          <a:xfrm>
            <a:off x="6547104" y="1243584"/>
            <a:ext cx="5102352" cy="3216402"/>
          </a:xfrm>
          <a:prstGeom prst="rect">
            <a:avLst/>
          </a:prstGeom>
          <a:solidFill>
            <a:schemeClr val="bg1"/>
          </a:solidFill>
          <a:ln w="9525">
            <a:solidFill>
              <a:srgbClr val="D9DBE3"/>
            </a:solidFill>
            <a:prstDash val="solid"/>
          </a:ln>
          <a:effectLst>
            <a:outerShdw blurRad="101600" dist="25400" dir="5400000" algn="bl" rotWithShape="0">
              <a:srgbClr val="1E2233">
                <a:alpha val="18000"/>
              </a:srgbClr>
            </a:outerShdw>
          </a:effectLst>
        </p:spPr>
      </p:sp>
      <p:pic>
        <p:nvPicPr>
          <p:cNvPr id="7" name="screen 성수동 장소 카드 · 후기 검사 요약" descr="성수동 장소 카드 · 후기 검사 요약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83680" y="1280160"/>
            <a:ext cx="5029200" cy="314325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548640" y="4533138"/>
            <a:ext cx="5029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eaLnBrk="0">
              <a:buNone/>
            </a:pPr>
            <a:r>
              <a:rPr lang="ko-KR" altLang="en-US" sz="1300" dirty="0">
                <a:solidFill>
                  <a:schemeClr val="tx2"/>
                </a:solidFill>
              </a:rPr>
              <a:t>지역 7개 패널 (성수동 선택 시 101곳)</a:t>
            </a:r>
            <a:endParaRPr lang="ko-KR" altLang="en-US" sz="1300" dirty="0"/>
          </a:p>
        </p:txBody>
      </p:sp>
      <p:sp>
        <p:nvSpPr>
          <p:cNvPr id="9" name="Text 5"/>
          <p:cNvSpPr txBox="1"/>
          <p:nvPr/>
        </p:nvSpPr>
        <p:spPr>
          <a:xfrm>
            <a:off x="6583680" y="4533138"/>
            <a:ext cx="5029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eaLnBrk="0">
              <a:buNone/>
            </a:pPr>
            <a:r>
              <a:rPr lang="ko-KR" altLang="en-US" sz="1300" dirty="0">
                <a:solidFill>
                  <a:schemeClr val="tx2"/>
                </a:solidFill>
              </a:rPr>
              <a:t>성수동 장소 카드 · 후기 검사 요약</a:t>
            </a:r>
            <a:endParaRPr lang="ko-KR" altLang="en-US" sz="1300" dirty="0"/>
          </a:p>
        </p:txBody>
      </p:sp>
      <p:sp>
        <p:nvSpPr>
          <p:cNvPr id="10" name="description"/>
          <p:cNvSpPr txBox="1"/>
          <p:nvPr/>
        </p:nvSpPr>
        <p:spPr>
          <a:xfrm>
            <a:off x="548640" y="5029200"/>
            <a:ext cx="51206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eaLnBrk="0">
              <a:lnSpc>
                <a:spcPct val="95000"/>
              </a:lnSpc>
              <a:spcAft>
                <a:spcPts val="500"/>
              </a:spcAft>
              <a:buNone/>
            </a:pPr>
            <a:r>
              <a:rPr lang="ko-KR" altLang="en-US" sz="1700" b="1" dirty="0">
                <a:solidFill>
                  <a:schemeClr val="accent1"/>
                </a:solidFill>
              </a:rPr>
              <a:t>F-02 지역 선택</a:t>
            </a:r>
            <a:endParaRPr lang="ko-KR" altLang="en-US" sz="1700" dirty="0"/>
          </a:p>
          <a:p>
            <a:pPr marL="190500" indent="-190500" eaLnBrk="0">
              <a:lnSpc>
                <a:spcPct val="95000"/>
              </a:lnSpc>
              <a:spcAft>
                <a:spcPts val="600"/>
              </a:spcAft>
              <a:buSzPct val="100000"/>
              <a:buChar char="•"/>
            </a:pPr>
            <a:r>
              <a:rPr lang="ko-KR" altLang="en-US" sz="1500" dirty="0">
                <a:solidFill>
                  <a:schemeClr val="tx1"/>
                </a:solidFill>
              </a:rPr>
              <a:t>성수·전주 데모 지역 + 부산·강릉·경주·제주, 전국 검색</a:t>
            </a:r>
            <a:endParaRPr lang="ko-KR" altLang="en-US" sz="1700" dirty="0"/>
          </a:p>
          <a:p>
            <a:pPr marL="190500" indent="-190500" eaLnBrk="0">
              <a:lnSpc>
                <a:spcPct val="95000"/>
              </a:lnSpc>
              <a:spcAft>
                <a:spcPts val="600"/>
              </a:spcAft>
              <a:buSzPct val="100000"/>
              <a:buChar char="•"/>
            </a:pPr>
            <a:r>
              <a:rPr lang="ko-KR" altLang="en-US" sz="1500" dirty="0">
                <a:solidFill>
                  <a:schemeClr val="tx1"/>
                </a:solidFill>
              </a:rPr>
              <a:t>TourAPI locationBasedList2: 중심 좌표 + 반경 1.5km</a:t>
            </a:r>
            <a:endParaRPr lang="ko-KR" altLang="en-US" sz="1700" dirty="0"/>
          </a:p>
        </p:txBody>
      </p:sp>
      <p:sp>
        <p:nvSpPr>
          <p:cNvPr id="11" name="description"/>
          <p:cNvSpPr txBox="1"/>
          <p:nvPr/>
        </p:nvSpPr>
        <p:spPr>
          <a:xfrm>
            <a:off x="6583680" y="5029200"/>
            <a:ext cx="507492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eaLnBrk="0">
              <a:lnSpc>
                <a:spcPct val="95000"/>
              </a:lnSpc>
              <a:spcAft>
                <a:spcPts val="500"/>
              </a:spcAft>
              <a:buNone/>
            </a:pPr>
            <a:r>
              <a:rPr lang="ko-KR" altLang="en-US" sz="1700" b="1" dirty="0">
                <a:solidFill>
                  <a:schemeClr val="accent1"/>
                </a:solidFill>
              </a:rPr>
              <a:t>F-03 장소 목록 · 카테고리</a:t>
            </a:r>
            <a:endParaRPr lang="ko-KR" altLang="en-US" sz="1700" dirty="0"/>
          </a:p>
          <a:p>
            <a:pPr marL="190500" indent="-190500" eaLnBrk="0">
              <a:lnSpc>
                <a:spcPct val="95000"/>
              </a:lnSpc>
              <a:spcAft>
                <a:spcPts val="600"/>
              </a:spcAft>
              <a:buSzPct val="100000"/>
              <a:buChar char="•"/>
            </a:pPr>
            <a:r>
              <a:rPr lang="ko-KR" altLang="en-US" sz="1500" dirty="0">
                <a:solidFill>
                  <a:schemeClr val="tx1"/>
                </a:solidFill>
              </a:rPr>
              <a:t>관광지·문화시설·축제·전통시장·맛집 탭, 번역명 + 한글 이름</a:t>
            </a:r>
            <a:endParaRPr lang="ko-KR" altLang="en-US" sz="1700" dirty="0"/>
          </a:p>
          <a:p>
            <a:pPr marL="190500" indent="-190500" eaLnBrk="0">
              <a:lnSpc>
                <a:spcPct val="95000"/>
              </a:lnSpc>
              <a:spcAft>
                <a:spcPts val="600"/>
              </a:spcAft>
              <a:buSzPct val="100000"/>
              <a:buChar char="•"/>
            </a:pPr>
            <a:r>
              <a:rPr lang="ko-KR" altLang="en-US" sz="1500" dirty="0">
                <a:solidFill>
                  <a:schemeClr val="tx1"/>
                </a:solidFill>
              </a:rPr>
              <a:t>카드마다 후기 검사 요약: 신뢰 n · 협찬 n · 의심 n</a:t>
            </a:r>
            <a:endParaRPr lang="ko-KR" alt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400800"/>
            <a:ext cx="548640" cy="29260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100">
                <a:solidFill>
                  <a:srgbClr val="868B9E"/>
                </a:solidFill>
              </a:defRPr>
            </a:lvl1pPr>
          </a:lstStyle>
          <a:p>
            <a:pPr algn="r" eaLnBrk="0"/>
            <a:fld id="{F7021451-1387-4CA6-816F-3879F97B5CBC}" type="slidenum">
              <a:rPr lang="ko-KR" altLang="en-US" b="0"/>
              <a:t>6</a:t>
            </a:fld>
            <a:endParaRPr lang="ko-KR" alt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>
            <a:spLocks noGrp="1"/>
          </p:cNvSpPr>
          <p:nvPr>
            <p:ph type="title" idx="101" hasCustomPrompt="1"/>
          </p:nvPr>
        </p:nvSpPr>
        <p:spPr>
          <a:xfrm>
            <a:off x="1783080" y="347472"/>
            <a:ext cx="9829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 eaLnBrk="0">
              <a:buNone/>
            </a:pPr>
            <a:r>
              <a:rPr lang="ko-KR" altLang="en-US" sz="3000" b="1" dirty="0">
                <a:solidFill>
                  <a:schemeClr val="tx1"/>
                </a:solidFill>
              </a:rPr>
              <a:t>필터 · 정렬 · 전국 검색</a:t>
            </a:r>
            <a:endParaRPr lang="ko-KR" altLang="en-US" sz="3000" dirty="0"/>
          </a:p>
        </p:txBody>
      </p:sp>
      <p:sp>
        <p:nvSpPr>
          <p:cNvPr id="3" name="seal F-04·05"/>
          <p:cNvSpPr/>
          <p:nvPr/>
        </p:nvSpPr>
        <p:spPr>
          <a:xfrm rot="-300000">
            <a:off x="548640" y="429768"/>
            <a:ext cx="1051560" cy="585216"/>
          </a:xfrm>
          <a:prstGeom prst="roundRect">
            <a:avLst>
              <a:gd name="adj" fmla="val 15625"/>
            </a:avLst>
          </a:prstGeom>
          <a:solidFill>
            <a:schemeClr val="accent1"/>
          </a:solidFill>
          <a:ln w="12700">
            <a:solidFill>
              <a:schemeClr val="accent1"/>
            </a:solidFill>
          </a:ln>
        </p:spPr>
        <p:txBody>
          <a:bodyPr wrap="square" lIns="0" tIns="0" rIns="0" bIns="0" rtlCol="0" anchor="ctr"/>
          <a:lstStyle/>
          <a:p>
            <a:pPr marL="0" indent="0" algn="ctr" eaLnBrk="0">
              <a:buNone/>
            </a:pPr>
            <a:r>
              <a:rPr lang="ko-KR" altLang="en-US" sz="1400" b="1" dirty="0">
                <a:solidFill>
                  <a:schemeClr val="bg1"/>
                </a:solidFill>
              </a:rPr>
              <a:t>F-04·05</a:t>
            </a:r>
            <a:endParaRPr lang="ko-KR" altLang="en-US" sz="1400" dirty="0"/>
          </a:p>
        </p:txBody>
      </p:sp>
      <p:sp>
        <p:nvSpPr>
          <p:cNvPr id="4" name="frame 부산 맛집 · 가까운 순 정렬"/>
          <p:cNvSpPr/>
          <p:nvPr/>
        </p:nvSpPr>
        <p:spPr>
          <a:xfrm>
            <a:off x="512064" y="1243584"/>
            <a:ext cx="5102352" cy="3216402"/>
          </a:xfrm>
          <a:prstGeom prst="rect">
            <a:avLst/>
          </a:prstGeom>
          <a:solidFill>
            <a:schemeClr val="bg1"/>
          </a:solidFill>
          <a:ln w="9525">
            <a:solidFill>
              <a:srgbClr val="D9DBE3"/>
            </a:solidFill>
            <a:prstDash val="solid"/>
          </a:ln>
          <a:effectLst>
            <a:outerShdw blurRad="101600" dist="25400" dir="5400000" algn="bl" rotWithShape="0">
              <a:srgbClr val="1E2233">
                <a:alpha val="18000"/>
              </a:srgbClr>
            </a:outerShdw>
          </a:effectLst>
        </p:spPr>
      </p:sp>
      <p:pic>
        <p:nvPicPr>
          <p:cNvPr id="5" name="screen 부산 맛집 · 가까운 순 정렬" descr="부산 맛집 · 가까운 순 정렬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280160"/>
            <a:ext cx="5029200" cy="3143250"/>
          </a:xfrm>
          <a:prstGeom prst="rect">
            <a:avLst/>
          </a:prstGeom>
        </p:spPr>
      </p:pic>
      <p:sp>
        <p:nvSpPr>
          <p:cNvPr id="6" name="frame 전국 검색: '안동 하회마을'"/>
          <p:cNvSpPr/>
          <p:nvPr/>
        </p:nvSpPr>
        <p:spPr>
          <a:xfrm>
            <a:off x="6547104" y="1243584"/>
            <a:ext cx="5102352" cy="3216402"/>
          </a:xfrm>
          <a:prstGeom prst="rect">
            <a:avLst/>
          </a:prstGeom>
          <a:solidFill>
            <a:schemeClr val="bg1"/>
          </a:solidFill>
          <a:ln w="9525">
            <a:solidFill>
              <a:srgbClr val="D9DBE3"/>
            </a:solidFill>
            <a:prstDash val="solid"/>
          </a:ln>
          <a:effectLst>
            <a:outerShdw blurRad="101600" dist="25400" dir="5400000" algn="bl" rotWithShape="0">
              <a:srgbClr val="1E2233">
                <a:alpha val="18000"/>
              </a:srgbClr>
            </a:outerShdw>
          </a:effectLst>
        </p:spPr>
      </p:sp>
      <p:pic>
        <p:nvPicPr>
          <p:cNvPr id="7" name="screen 전국 검색: '안동 하회마을'" descr="전국 검색: '안동 하회마을'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83680" y="1280160"/>
            <a:ext cx="5029200" cy="314325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548640" y="4533138"/>
            <a:ext cx="5029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eaLnBrk="0">
              <a:buNone/>
            </a:pPr>
            <a:r>
              <a:rPr lang="ko-KR" altLang="en-US" sz="1300" dirty="0">
                <a:solidFill>
                  <a:schemeClr val="tx2"/>
                </a:solidFill>
              </a:rPr>
              <a:t>부산 맛집 · 가까운 순 정렬</a:t>
            </a:r>
            <a:endParaRPr lang="ko-KR" altLang="en-US" sz="1300" dirty="0"/>
          </a:p>
        </p:txBody>
      </p:sp>
      <p:sp>
        <p:nvSpPr>
          <p:cNvPr id="9" name="Text 5"/>
          <p:cNvSpPr txBox="1"/>
          <p:nvPr/>
        </p:nvSpPr>
        <p:spPr>
          <a:xfrm>
            <a:off x="6583680" y="4533138"/>
            <a:ext cx="5029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eaLnBrk="0">
              <a:buNone/>
            </a:pPr>
            <a:r>
              <a:rPr lang="ko-KR" altLang="en-US" sz="1300" dirty="0">
                <a:solidFill>
                  <a:schemeClr val="tx2"/>
                </a:solidFill>
              </a:rPr>
              <a:t>전국 검색: '안동 하회마을'</a:t>
            </a:r>
            <a:endParaRPr lang="ko-KR" altLang="en-US" sz="1300" dirty="0"/>
          </a:p>
        </p:txBody>
      </p:sp>
      <p:sp>
        <p:nvSpPr>
          <p:cNvPr id="10" name="description"/>
          <p:cNvSpPr txBox="1"/>
          <p:nvPr/>
        </p:nvSpPr>
        <p:spPr>
          <a:xfrm>
            <a:off x="548640" y="5029200"/>
            <a:ext cx="51206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eaLnBrk="0">
              <a:lnSpc>
                <a:spcPct val="95000"/>
              </a:lnSpc>
              <a:spcAft>
                <a:spcPts val="500"/>
              </a:spcAft>
              <a:buNone/>
            </a:pPr>
            <a:r>
              <a:rPr lang="ko-KR" altLang="en-US" sz="1700" b="1" dirty="0">
                <a:solidFill>
                  <a:schemeClr val="accent1"/>
                </a:solidFill>
              </a:rPr>
              <a:t>F-04 관심사 필터 · 정렬</a:t>
            </a:r>
            <a:endParaRPr lang="ko-KR" altLang="en-US" sz="1700" dirty="0"/>
          </a:p>
          <a:p>
            <a:pPr marL="190500" indent="-190500" eaLnBrk="0">
              <a:lnSpc>
                <a:spcPct val="95000"/>
              </a:lnSpc>
              <a:spcAft>
                <a:spcPts val="600"/>
              </a:spcAft>
              <a:buSzPct val="100000"/>
              <a:buChar char="•"/>
            </a:pPr>
            <a:r>
              <a:rPr lang="ko-KR" altLang="en-US" sz="1500" dirty="0">
                <a:solidFill>
                  <a:schemeClr val="tx1"/>
                </a:solidFill>
              </a:rPr>
              <a:t>관심사 9종 다중 선택 (자연·역사·카페·음식·시장·야간 등)</a:t>
            </a:r>
            <a:endParaRPr lang="ko-KR" altLang="en-US" sz="1700" dirty="0"/>
          </a:p>
          <a:p>
            <a:pPr marL="190500" indent="-190500" eaLnBrk="0">
              <a:lnSpc>
                <a:spcPct val="95000"/>
              </a:lnSpc>
              <a:spcAft>
                <a:spcPts val="600"/>
              </a:spcAft>
              <a:buSzPct val="100000"/>
              <a:buChar char="•"/>
            </a:pPr>
            <a:r>
              <a:rPr lang="ko-KR" altLang="en-US" sz="1500" dirty="0">
                <a:solidFill>
                  <a:schemeClr val="tx1"/>
                </a:solidFill>
              </a:rPr>
              <a:t>신뢰도순(기본) · 가까운 순 · 이름순 정렬</a:t>
            </a:r>
            <a:endParaRPr lang="ko-KR" altLang="en-US" sz="1700" dirty="0"/>
          </a:p>
        </p:txBody>
      </p:sp>
      <p:sp>
        <p:nvSpPr>
          <p:cNvPr id="11" name="description"/>
          <p:cNvSpPr txBox="1"/>
          <p:nvPr/>
        </p:nvSpPr>
        <p:spPr>
          <a:xfrm>
            <a:off x="6583680" y="5029200"/>
            <a:ext cx="507492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eaLnBrk="0">
              <a:lnSpc>
                <a:spcPct val="95000"/>
              </a:lnSpc>
              <a:spcAft>
                <a:spcPts val="500"/>
              </a:spcAft>
              <a:buNone/>
            </a:pPr>
            <a:r>
              <a:rPr lang="ko-KR" altLang="en-US" sz="1700" b="1" dirty="0">
                <a:solidFill>
                  <a:schemeClr val="accent1"/>
                </a:solidFill>
              </a:rPr>
              <a:t>F-05 지방 커버리지 · 전국 검색</a:t>
            </a:r>
            <a:endParaRPr lang="ko-KR" altLang="en-US" sz="1700" dirty="0"/>
          </a:p>
          <a:p>
            <a:pPr marL="190500" indent="-190500" eaLnBrk="0">
              <a:lnSpc>
                <a:spcPct val="95000"/>
              </a:lnSpc>
              <a:spcAft>
                <a:spcPts val="600"/>
              </a:spcAft>
              <a:buSzPct val="100000"/>
              <a:buChar char="•"/>
            </a:pPr>
            <a:r>
              <a:rPr lang="ko-KR" altLang="en-US" sz="1500" dirty="0">
                <a:solidFill>
                  <a:schemeClr val="tx1"/>
                </a:solidFill>
              </a:rPr>
              <a:t>지방 축제·전통시장도 공식 데이터로 (전주 29곳)</a:t>
            </a:r>
            <a:endParaRPr lang="ko-KR" altLang="en-US" sz="1700" dirty="0"/>
          </a:p>
          <a:p>
            <a:pPr marL="190500" indent="-190500" eaLnBrk="0">
              <a:lnSpc>
                <a:spcPct val="95000"/>
              </a:lnSpc>
              <a:spcAft>
                <a:spcPts val="600"/>
              </a:spcAft>
              <a:buSzPct val="100000"/>
              <a:buChar char="•"/>
            </a:pPr>
            <a:r>
              <a:rPr lang="ko-KR" altLang="en-US" sz="1500" dirty="0">
                <a:solidFill>
                  <a:schemeClr val="tx1"/>
                </a:solidFill>
              </a:rPr>
              <a:t>searchKeyword2로 전국 어디든 검색, 후기 분석도 그대로</a:t>
            </a:r>
            <a:endParaRPr lang="ko-KR" alt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400800"/>
            <a:ext cx="548640" cy="29260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100">
                <a:solidFill>
                  <a:srgbClr val="868B9E"/>
                </a:solidFill>
              </a:defRPr>
            </a:lvl1pPr>
          </a:lstStyle>
          <a:p>
            <a:pPr algn="r" eaLnBrk="0"/>
            <a:fld id="{F7021451-1387-4CA6-816F-3879F97B5CBC}" type="slidenum">
              <a:rPr lang="ko-KR" altLang="en-US" b="0"/>
              <a:t>7</a:t>
            </a:fld>
            <a:endParaRPr lang="ko-KR" alt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>
            <a:spLocks noGrp="1"/>
          </p:cNvSpPr>
          <p:nvPr>
            <p:ph type="title" idx="101" hasCustomPrompt="1"/>
          </p:nvPr>
        </p:nvSpPr>
        <p:spPr>
          <a:xfrm>
            <a:off x="1783080" y="347472"/>
            <a:ext cx="9829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 eaLnBrk="0">
              <a:buNone/>
            </a:pPr>
            <a:r>
              <a:rPr lang="ko-KR" altLang="en-US" sz="3000" b="1" dirty="0">
                <a:solidFill>
                  <a:schemeClr val="tx1"/>
                </a:solidFill>
              </a:rPr>
              <a:t>장소 상세 정보</a:t>
            </a:r>
            <a:endParaRPr lang="ko-KR" altLang="en-US" sz="3000" dirty="0"/>
          </a:p>
        </p:txBody>
      </p:sp>
      <p:sp>
        <p:nvSpPr>
          <p:cNvPr id="3" name="seal F-06"/>
          <p:cNvSpPr/>
          <p:nvPr/>
        </p:nvSpPr>
        <p:spPr>
          <a:xfrm rot="-300000">
            <a:off x="548640" y="429768"/>
            <a:ext cx="1051560" cy="585216"/>
          </a:xfrm>
          <a:prstGeom prst="roundRect">
            <a:avLst>
              <a:gd name="adj" fmla="val 15625"/>
            </a:avLst>
          </a:prstGeom>
          <a:solidFill>
            <a:schemeClr val="accent1"/>
          </a:solidFill>
          <a:ln w="12700">
            <a:solidFill>
              <a:schemeClr val="accent1"/>
            </a:solidFill>
          </a:ln>
        </p:spPr>
        <p:txBody>
          <a:bodyPr wrap="square" lIns="0" tIns="0" rIns="0" bIns="0" rtlCol="0" anchor="ctr"/>
          <a:lstStyle/>
          <a:p>
            <a:pPr marL="0" indent="0" algn="ctr" eaLnBrk="0">
              <a:buNone/>
            </a:pPr>
            <a:r>
              <a:rPr lang="ko-KR" altLang="en-US" sz="1700" b="1" dirty="0">
                <a:solidFill>
                  <a:schemeClr val="bg1"/>
                </a:solidFill>
              </a:rPr>
              <a:t>F-06</a:t>
            </a:r>
            <a:endParaRPr lang="ko-KR" altLang="en-US" sz="1700" dirty="0"/>
          </a:p>
        </p:txBody>
      </p:sp>
      <p:sp>
        <p:nvSpPr>
          <p:cNvPr id="4" name="frame 전주 남부시장 (한국어)"/>
          <p:cNvSpPr/>
          <p:nvPr/>
        </p:nvSpPr>
        <p:spPr>
          <a:xfrm>
            <a:off x="512064" y="1243584"/>
            <a:ext cx="3244628" cy="4690872"/>
          </a:xfrm>
          <a:prstGeom prst="rect">
            <a:avLst/>
          </a:prstGeom>
          <a:solidFill>
            <a:schemeClr val="bg1"/>
          </a:solidFill>
          <a:ln w="9525">
            <a:solidFill>
              <a:srgbClr val="D9DBE3"/>
            </a:solidFill>
            <a:prstDash val="solid"/>
          </a:ln>
          <a:effectLst>
            <a:outerShdw blurRad="101600" dist="25400" dir="5400000" algn="bl" rotWithShape="0">
              <a:srgbClr val="1E2233">
                <a:alpha val="18000"/>
              </a:srgbClr>
            </a:outerShdw>
          </a:effectLst>
        </p:spPr>
      </p:sp>
      <p:pic>
        <p:nvPicPr>
          <p:cNvPr id="5" name="screen 전주 남부시장 (한국어)" descr="전주 남부시장 (한국어)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280160"/>
            <a:ext cx="3171476" cy="4617720"/>
          </a:xfrm>
          <a:prstGeom prst="rect">
            <a:avLst/>
          </a:prstGeom>
        </p:spPr>
      </p:pic>
      <p:sp>
        <p:nvSpPr>
          <p:cNvPr id="6" name="frame 누메로뜨레쓰 (영어)"/>
          <p:cNvSpPr/>
          <p:nvPr/>
        </p:nvSpPr>
        <p:spPr>
          <a:xfrm>
            <a:off x="4003580" y="1243584"/>
            <a:ext cx="3244628" cy="4690872"/>
          </a:xfrm>
          <a:prstGeom prst="rect">
            <a:avLst/>
          </a:prstGeom>
          <a:solidFill>
            <a:schemeClr val="bg1"/>
          </a:solidFill>
          <a:ln w="9525">
            <a:solidFill>
              <a:srgbClr val="D9DBE3"/>
            </a:solidFill>
            <a:prstDash val="solid"/>
          </a:ln>
          <a:effectLst>
            <a:outerShdw blurRad="101600" dist="25400" dir="5400000" algn="bl" rotWithShape="0">
              <a:srgbClr val="1E2233">
                <a:alpha val="18000"/>
              </a:srgbClr>
            </a:outerShdw>
          </a:effectLst>
        </p:spPr>
      </p:sp>
      <p:pic>
        <p:nvPicPr>
          <p:cNvPr id="7" name="screen 누메로뜨레쓰 (영어)" descr="누메로뜨레쓰 (영어)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040156" y="1280160"/>
            <a:ext cx="3171476" cy="46177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548640" y="6007608"/>
            <a:ext cx="317147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eaLnBrk="0">
              <a:buNone/>
            </a:pPr>
            <a:r>
              <a:rPr lang="ko-KR" altLang="en-US" sz="1300" dirty="0">
                <a:solidFill>
                  <a:schemeClr val="tx2"/>
                </a:solidFill>
              </a:rPr>
              <a:t>전주 남부시장 (한국어)</a:t>
            </a:r>
            <a:endParaRPr lang="ko-KR" altLang="en-US" sz="1300" dirty="0"/>
          </a:p>
        </p:txBody>
      </p:sp>
      <p:sp>
        <p:nvSpPr>
          <p:cNvPr id="9" name="Text 5"/>
          <p:cNvSpPr txBox="1"/>
          <p:nvPr/>
        </p:nvSpPr>
        <p:spPr>
          <a:xfrm>
            <a:off x="4040156" y="6007608"/>
            <a:ext cx="317147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eaLnBrk="0">
              <a:buNone/>
            </a:pPr>
            <a:r>
              <a:rPr lang="ko-KR" altLang="en-US" sz="1300" dirty="0">
                <a:solidFill>
                  <a:schemeClr val="tx2"/>
                </a:solidFill>
              </a:rPr>
              <a:t>누메로뜨레쓰 (영어)</a:t>
            </a:r>
            <a:endParaRPr lang="ko-KR" altLang="en-US" sz="1300" dirty="0"/>
          </a:p>
        </p:txBody>
      </p:sp>
      <p:sp>
        <p:nvSpPr>
          <p:cNvPr id="10" name="description"/>
          <p:cNvSpPr txBox="1"/>
          <p:nvPr/>
        </p:nvSpPr>
        <p:spPr>
          <a:xfrm>
            <a:off x="7760271" y="1280160"/>
            <a:ext cx="3898329" cy="5029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eaLnBrk="0">
              <a:lnSpc>
                <a:spcPct val="95000"/>
              </a:lnSpc>
              <a:spcAft>
                <a:spcPts val="500"/>
              </a:spcAft>
              <a:buNone/>
            </a:pPr>
            <a:r>
              <a:rPr lang="ko-KR" altLang="en-US" sz="1800" b="1" dirty="0">
                <a:solidFill>
                  <a:schemeClr val="accent1"/>
                </a:solidFill>
              </a:rPr>
              <a:t>기능 설명</a:t>
            </a:r>
            <a:endParaRPr lang="ko-KR" altLang="en-US" sz="1800" dirty="0"/>
          </a:p>
          <a:p>
            <a:pPr marL="190500" indent="-190500" eaLnBrk="0">
              <a:lnSpc>
                <a:spcPct val="95000"/>
              </a:lnSpc>
              <a:spcAft>
                <a:spcPts val="600"/>
              </a:spcAft>
              <a:buSzPct val="100000"/>
              <a:buChar char="•"/>
            </a:pPr>
            <a:r>
              <a:rPr lang="ko-KR" altLang="en-US" sz="1600" dirty="0">
                <a:solidFill>
                  <a:schemeClr val="tx1"/>
                </a:solidFill>
              </a:rPr>
              <a:t>대표 사진, 주소, 이용시간, 쉬는 날, 요금, 축제 기간, 전화, 홈페이지, 소개</a:t>
            </a:r>
            <a:endParaRPr lang="ko-KR" altLang="en-US" sz="1800" dirty="0"/>
          </a:p>
          <a:p>
            <a:pPr marL="190500" indent="-190500" eaLnBrk="0">
              <a:lnSpc>
                <a:spcPct val="95000"/>
              </a:lnSpc>
              <a:spcAft>
                <a:spcPts val="600"/>
              </a:spcAft>
              <a:buSzPct val="100000"/>
              <a:buChar char="•"/>
            </a:pPr>
            <a:r>
              <a:rPr lang="ko-KR" altLang="en-US" sz="1600" dirty="0">
                <a:solidFill>
                  <a:schemeClr val="tx1"/>
                </a:solidFill>
              </a:rPr>
              <a:t>번역 출처 표시: 관광공사 공식 번역 / Qwen 기계 번역</a:t>
            </a:r>
            <a:endParaRPr lang="ko-KR" altLang="en-US" sz="1800" dirty="0"/>
          </a:p>
          <a:p>
            <a:pPr marL="0" indent="0" eaLnBrk="0">
              <a:lnSpc>
                <a:spcPct val="95000"/>
              </a:lnSpc>
              <a:spcBef>
                <a:spcPts val="1400"/>
              </a:spcBef>
              <a:spcAft>
                <a:spcPts val="500"/>
              </a:spcAft>
              <a:buNone/>
            </a:pPr>
            <a:r>
              <a:rPr lang="ko-KR" altLang="en-US" sz="1800" b="1" dirty="0">
                <a:solidFill>
                  <a:schemeClr val="accent1"/>
                </a:solidFill>
              </a:rPr>
              <a:t>처리 방식</a:t>
            </a:r>
            <a:endParaRPr lang="ko-KR" altLang="en-US" sz="1800" dirty="0"/>
          </a:p>
          <a:p>
            <a:pPr marL="190500" indent="-190500" eaLnBrk="0">
              <a:lnSpc>
                <a:spcPct val="95000"/>
              </a:lnSpc>
              <a:spcAft>
                <a:spcPts val="600"/>
              </a:spcAft>
              <a:buSzPct val="100000"/>
              <a:buChar char="•"/>
            </a:pPr>
            <a:r>
              <a:rPr lang="ko-KR" altLang="en-US" sz="1600" dirty="0">
                <a:solidFill>
                  <a:schemeClr val="tx1"/>
                </a:solidFill>
              </a:rPr>
              <a:t>TourAPI detailCommon2(소개·홈페이지) + detailIntro2(운영시간 등)</a:t>
            </a:r>
            <a:endParaRPr lang="ko-KR" altLang="en-US" sz="1800" dirty="0"/>
          </a:p>
          <a:p>
            <a:pPr marL="190500" indent="-190500" eaLnBrk="0">
              <a:lnSpc>
                <a:spcPct val="95000"/>
              </a:lnSpc>
              <a:spcAft>
                <a:spcPts val="600"/>
              </a:spcAft>
              <a:buSzPct val="100000"/>
              <a:buChar char="•"/>
            </a:pPr>
            <a:r>
              <a:rPr lang="ko-KR" altLang="en-US" sz="1600" dirty="0">
                <a:solidFill>
                  <a:schemeClr val="tx1"/>
                </a:solidFill>
              </a:rPr>
              <a:t>외국어 1순위: 관광공사 영·일·중 서비스, 괄호 속 한글명·좌표로 같은 장소 매칭</a:t>
            </a:r>
            <a:endParaRPr lang="ko-KR" altLang="en-US" sz="1800" dirty="0"/>
          </a:p>
          <a:p>
            <a:pPr marL="190500" indent="-190500" eaLnBrk="0">
              <a:lnSpc>
                <a:spcPct val="95000"/>
              </a:lnSpc>
              <a:spcAft>
                <a:spcPts val="600"/>
              </a:spcAft>
              <a:buSzPct val="100000"/>
              <a:buChar char="•"/>
            </a:pPr>
            <a:r>
              <a:rPr lang="ko-KR" altLang="en-US" sz="1600" dirty="0">
                <a:solidFill>
                  <a:schemeClr val="tx1"/>
                </a:solidFill>
              </a:rPr>
              <a:t>공식 번역이 없으면 Qwen 번역 + 지명 용어집(전주→Jeonju 등)</a:t>
            </a:r>
            <a:endParaRPr lang="ko-KR" alt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400800"/>
            <a:ext cx="548640" cy="29260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100">
                <a:solidFill>
                  <a:srgbClr val="868B9E"/>
                </a:solidFill>
              </a:defRPr>
            </a:lvl1pPr>
          </a:lstStyle>
          <a:p>
            <a:pPr algn="r" eaLnBrk="0"/>
            <a:fld id="{F7021451-1387-4CA6-816F-3879F97B5CBC}" type="slidenum">
              <a:rPr lang="ko-KR" altLang="en-US" b="0"/>
              <a:t>8</a:t>
            </a:fld>
            <a:endParaRPr lang="ko-KR" alt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>
            <a:spLocks noGrp="1"/>
          </p:cNvSpPr>
          <p:nvPr>
            <p:ph type="title" idx="101" hasCustomPrompt="1"/>
          </p:nvPr>
        </p:nvSpPr>
        <p:spPr>
          <a:xfrm>
            <a:off x="1783080" y="347472"/>
            <a:ext cx="9829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 eaLnBrk="0">
              <a:buNone/>
            </a:pPr>
            <a:r>
              <a:rPr lang="ko-KR" altLang="en-US" sz="3000" b="1" dirty="0">
                <a:solidFill>
                  <a:schemeClr val="tx1"/>
                </a:solidFill>
              </a:rPr>
              <a:t>후기 신뢰도 분석</a:t>
            </a:r>
            <a:endParaRPr lang="ko-KR" altLang="en-US" sz="3000" dirty="0"/>
          </a:p>
        </p:txBody>
      </p:sp>
      <p:sp>
        <p:nvSpPr>
          <p:cNvPr id="3" name="seal F-07"/>
          <p:cNvSpPr/>
          <p:nvPr/>
        </p:nvSpPr>
        <p:spPr>
          <a:xfrm rot="-300000">
            <a:off x="548640" y="429768"/>
            <a:ext cx="1051560" cy="585216"/>
          </a:xfrm>
          <a:prstGeom prst="roundRect">
            <a:avLst>
              <a:gd name="adj" fmla="val 15625"/>
            </a:avLst>
          </a:prstGeom>
          <a:solidFill>
            <a:schemeClr val="accent1"/>
          </a:solidFill>
          <a:ln w="12700">
            <a:solidFill>
              <a:schemeClr val="accent1"/>
            </a:solidFill>
          </a:ln>
        </p:spPr>
        <p:txBody>
          <a:bodyPr wrap="square" lIns="0" tIns="0" rIns="0" bIns="0" rtlCol="0" anchor="ctr"/>
          <a:lstStyle/>
          <a:p>
            <a:pPr marL="0" indent="0" algn="ctr" eaLnBrk="0">
              <a:buNone/>
            </a:pPr>
            <a:r>
              <a:rPr lang="ko-KR" altLang="en-US" sz="1700" b="1" dirty="0">
                <a:solidFill>
                  <a:schemeClr val="bg1"/>
                </a:solidFill>
              </a:rPr>
              <a:t>F-07</a:t>
            </a:r>
            <a:endParaRPr lang="ko-KR" altLang="en-US" sz="1700" dirty="0"/>
          </a:p>
        </p:txBody>
      </p:sp>
      <p:sp>
        <p:nvSpPr>
          <p:cNvPr id="4" name="frame 후기 분석"/>
          <p:cNvSpPr/>
          <p:nvPr/>
        </p:nvSpPr>
        <p:spPr>
          <a:xfrm>
            <a:off x="512064" y="1243584"/>
            <a:ext cx="3244628" cy="4690872"/>
          </a:xfrm>
          <a:prstGeom prst="rect">
            <a:avLst/>
          </a:prstGeom>
          <a:solidFill>
            <a:schemeClr val="bg1"/>
          </a:solidFill>
          <a:ln w="9525">
            <a:solidFill>
              <a:srgbClr val="D9DBE3"/>
            </a:solidFill>
            <a:prstDash val="solid"/>
          </a:ln>
          <a:effectLst>
            <a:outerShdw blurRad="101600" dist="25400" dir="5400000" algn="bl" rotWithShape="0">
              <a:srgbClr val="1E2233">
                <a:alpha val="18000"/>
              </a:srgbClr>
            </a:outerShdw>
          </a:effectLst>
        </p:spPr>
      </p:sp>
      <p:pic>
        <p:nvPicPr>
          <p:cNvPr id="5" name="screen 후기 분석" descr="후기 분석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280160"/>
            <a:ext cx="3171476" cy="461772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548640" y="6007608"/>
            <a:ext cx="317147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eaLnBrk="0">
              <a:buNone/>
            </a:pPr>
            <a:r>
              <a:rPr lang="ko-KR" altLang="en-US" sz="1300" dirty="0">
                <a:solidFill>
                  <a:schemeClr val="tx2"/>
                </a:solidFill>
              </a:rPr>
              <a:t>누메로뜨레쓰 후기 6건 (영어)</a:t>
            </a:r>
            <a:endParaRPr lang="ko-KR" altLang="en-US" sz="1300" dirty="0"/>
          </a:p>
        </p:txBody>
      </p:sp>
      <p:sp>
        <p:nvSpPr>
          <p:cNvPr id="7" name="description"/>
          <p:cNvSpPr txBox="1"/>
          <p:nvPr/>
        </p:nvSpPr>
        <p:spPr>
          <a:xfrm>
            <a:off x="4251960" y="1280160"/>
            <a:ext cx="7406640" cy="2697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eaLnBrk="0">
              <a:lnSpc>
                <a:spcPct val="95000"/>
              </a:lnSpc>
              <a:spcAft>
                <a:spcPts val="500"/>
              </a:spcAft>
              <a:buNone/>
            </a:pPr>
            <a:r>
              <a:rPr lang="ko-KR" altLang="en-US" sz="1800" b="1" dirty="0">
                <a:solidFill>
                  <a:schemeClr val="accent1"/>
                </a:solidFill>
              </a:rPr>
              <a:t>기능 설명</a:t>
            </a:r>
            <a:endParaRPr lang="ko-KR" altLang="en-US" sz="1800" dirty="0"/>
          </a:p>
          <a:p>
            <a:pPr marL="190500" indent="-190500" eaLnBrk="0">
              <a:lnSpc>
                <a:spcPct val="95000"/>
              </a:lnSpc>
              <a:spcAft>
                <a:spcPts val="600"/>
              </a:spcAft>
              <a:buSzPct val="100000"/>
              <a:buChar char="•"/>
            </a:pPr>
            <a:r>
              <a:rPr lang="ko-KR" altLang="en-US" sz="1600" dirty="0">
                <a:solidFill>
                  <a:schemeClr val="tx1"/>
                </a:solidFill>
              </a:rPr>
              <a:t>장소를 열면 네이버 블로그 후기 6건을 수집해 7단계 검사</a:t>
            </a:r>
            <a:endParaRPr lang="ko-KR" altLang="en-US" sz="1800" dirty="0"/>
          </a:p>
          <a:p>
            <a:pPr marL="190500" indent="-190500" eaLnBrk="0">
              <a:lnSpc>
                <a:spcPct val="95000"/>
              </a:lnSpc>
              <a:spcAft>
                <a:spcPts val="600"/>
              </a:spcAft>
              <a:buSzPct val="100000"/>
              <a:buChar char="•"/>
            </a:pPr>
            <a:r>
              <a:rPr lang="ko-KR" altLang="en-US" sz="1600" dirty="0">
                <a:solidFill>
                  <a:schemeClr val="tx1"/>
                </a:solidFill>
              </a:rPr>
              <a:t>후기마다 도장(신뢰·참고·협찬 고지·의심·차단), 점수, 판단 근거, 번역 요약</a:t>
            </a:r>
            <a:endParaRPr lang="ko-KR" altLang="en-US" sz="1800" dirty="0"/>
          </a:p>
          <a:p>
            <a:pPr marL="190500" indent="-190500" eaLnBrk="0">
              <a:lnSpc>
                <a:spcPct val="95000"/>
              </a:lnSpc>
              <a:spcAft>
                <a:spcPts val="600"/>
              </a:spcAft>
              <a:buSzPct val="100000"/>
              <a:buChar char="•"/>
            </a:pPr>
            <a:r>
              <a:rPr lang="ko-KR" altLang="en-US" sz="1600" dirty="0">
                <a:solidFill>
                  <a:schemeClr val="tx1"/>
                </a:solidFill>
              </a:rPr>
              <a:t>분석이 끝나는 대로 한 건씩 화면에 표시 (실시간 스트리밍)</a:t>
            </a:r>
            <a:endParaRPr lang="ko-KR" altLang="en-US" sz="1800" dirty="0"/>
          </a:p>
          <a:p>
            <a:pPr marL="0" indent="0" eaLnBrk="0">
              <a:lnSpc>
                <a:spcPct val="95000"/>
              </a:lnSpc>
              <a:spcBef>
                <a:spcPts val="1400"/>
              </a:spcBef>
              <a:spcAft>
                <a:spcPts val="500"/>
              </a:spcAft>
              <a:buNone/>
            </a:pPr>
            <a:r>
              <a:rPr lang="ko-KR" altLang="en-US" sz="1800" b="1" dirty="0">
                <a:solidFill>
                  <a:schemeClr val="accent1"/>
                </a:solidFill>
              </a:rPr>
              <a:t>후기 선별</a:t>
            </a:r>
            <a:endParaRPr lang="ko-KR" altLang="en-US" sz="1800" dirty="0"/>
          </a:p>
          <a:p>
            <a:pPr marL="190500" indent="-190500" eaLnBrk="0">
              <a:lnSpc>
                <a:spcPct val="95000"/>
              </a:lnSpc>
              <a:spcAft>
                <a:spcPts val="600"/>
              </a:spcAft>
              <a:buSzPct val="100000"/>
              <a:buChar char="•"/>
            </a:pPr>
            <a:r>
              <a:rPr lang="ko-KR" altLang="en-US" sz="1600" dirty="0">
                <a:solidFill>
                  <a:schemeClr val="tx1"/>
                </a:solidFill>
              </a:rPr>
              <a:t>NAVER API HUB 최신순 + 관련도순 병합, 장소명이 들어간 글만</a:t>
            </a:r>
            <a:endParaRPr lang="ko-KR" altLang="en-US" sz="1800" dirty="0"/>
          </a:p>
          <a:p>
            <a:pPr marL="190500" indent="-190500" eaLnBrk="0">
              <a:lnSpc>
                <a:spcPct val="95000"/>
              </a:lnSpc>
              <a:spcAft>
                <a:spcPts val="600"/>
              </a:spcAft>
              <a:buSzPct val="100000"/>
              <a:buChar char="•"/>
            </a:pPr>
            <a:r>
              <a:rPr lang="ko-KR" altLang="en-US" sz="1600" dirty="0">
                <a:solidFill>
                  <a:schemeClr val="tx1"/>
                </a:solidFill>
              </a:rPr>
              <a:t>제목에 장소명이 있는 글 우선, 본문에만 스친 글은 지역명도 있어야 인정</a:t>
            </a:r>
            <a:endParaRPr lang="ko-KR" altLang="en-US" sz="1800" dirty="0"/>
          </a:p>
        </p:txBody>
      </p:sp>
      <p:graphicFrame>
        <p:nvGraphicFramePr>
          <p:cNvPr id="10" name="signal 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251960" y="3977640"/>
          <a:ext cx="7406640" cy="914400"/>
        </p:xfrm>
        <a:graphic>
          <a:graphicData uri="http://schemas.openxmlformats.org/drawingml/2006/table">
            <a:tbl>
              <a:tblPr/>
              <a:tblGrid>
                <a:gridCol w="16459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0690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69164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329184">
                <a:tc>
                  <a:txBody>
                    <a:bodyPr/>
                    <a:lstStyle/>
                    <a:p>
                      <a:pPr marL="0" indent="0" eaLnBrk="0">
                        <a:buNone/>
                      </a:pPr>
                      <a:r>
                        <a:rPr lang="ko-KR" altLang="en-US" sz="1300" b="1" dirty="0">
                          <a:solidFill>
                            <a:schemeClr val="bg1"/>
                          </a:solidFill>
                        </a:rPr>
                        <a:t>표시 신호</a:t>
                      </a:r>
                      <a:endParaRPr lang="ko-KR" altLang="en-US" sz="1300" dirty="0"/>
                    </a:p>
                  </a:txBody>
                  <a:tcPr marL="45720" marR="45720" anchor="ctr">
                    <a:lnL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0">
                        <a:buNone/>
                      </a:pPr>
                      <a:r>
                        <a:rPr lang="ko-KR" altLang="en-US" sz="1300" b="1" dirty="0">
                          <a:solidFill>
                            <a:schemeClr val="bg1"/>
                          </a:solidFill>
                        </a:rPr>
                        <a:t>판단 근거</a:t>
                      </a:r>
                      <a:endParaRPr lang="ko-KR" altLang="en-US" sz="1300" dirty="0"/>
                    </a:p>
                  </a:txBody>
                  <a:tcPr marL="45720" marR="45720" anchor="ctr">
                    <a:lnL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0">
                        <a:buNone/>
                      </a:pPr>
                      <a:r>
                        <a:rPr lang="ko-KR" altLang="en-US" sz="1300" b="1" dirty="0">
                          <a:solidFill>
                            <a:schemeClr val="bg1"/>
                          </a:solidFill>
                        </a:rPr>
                        <a:t>담당</a:t>
                      </a:r>
                      <a:endParaRPr lang="ko-KR" altLang="en-US" sz="1300" dirty="0"/>
                    </a:p>
                  </a:txBody>
                  <a:tcPr marL="45720" marR="45720" anchor="ctr">
                    <a:lnL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marL="0" indent="0" eaLnBrk="0">
                        <a:buNone/>
                      </a:pPr>
                      <a:r>
                        <a:rPr lang="ko-KR" altLang="en-US" sz="1300" dirty="0">
                          <a:solidFill>
                            <a:schemeClr val="tx1"/>
                          </a:solidFill>
                        </a:rPr>
                        <a:t>협찬 고지</a:t>
                      </a:r>
                      <a:endParaRPr lang="ko-KR" altLang="en-US" sz="1300" dirty="0"/>
                    </a:p>
                  </a:txBody>
                  <a:tcPr marL="45720" marR="45720" anchor="ctr">
                    <a:lnL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eaLnBrk="0">
                        <a:buNone/>
                      </a:pPr>
                      <a:r>
                        <a:rPr lang="ko-KR" altLang="en-US" sz="1300" dirty="0">
                          <a:solidFill>
                            <a:schemeClr val="tx1"/>
                          </a:solidFill>
                        </a:rPr>
                        <a:t>공정위 표기(협찬·제공받아·체험단) → 그대로 표시</a:t>
                      </a:r>
                      <a:endParaRPr lang="ko-KR" altLang="en-US" sz="1300" dirty="0"/>
                    </a:p>
                  </a:txBody>
                  <a:tcPr marL="45720" marR="45720" anchor="ctr">
                    <a:lnL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eaLnBrk="0">
                        <a:buNone/>
                      </a:pPr>
                      <a:r>
                        <a:rPr lang="ko-KR" altLang="en-US" sz="1300" dirty="0">
                          <a:solidFill>
                            <a:schemeClr val="tx1"/>
                          </a:solidFill>
                        </a:rPr>
                        <a:t>규칙</a:t>
                      </a:r>
                      <a:endParaRPr lang="ko-KR" altLang="en-US" sz="1300" dirty="0"/>
                    </a:p>
                  </a:txBody>
                  <a:tcPr marL="45720" marR="45720" anchor="ctr">
                    <a:lnL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marL="0" indent="0" eaLnBrk="0">
                        <a:buNone/>
                      </a:pPr>
                      <a:r>
                        <a:rPr lang="ko-KR" altLang="en-US" sz="1300" dirty="0">
                          <a:solidFill>
                            <a:schemeClr val="tx1"/>
                          </a:solidFill>
                        </a:rPr>
                        <a:t>숨은 광고</a:t>
                      </a:r>
                      <a:endParaRPr lang="ko-KR" altLang="en-US" sz="1300" dirty="0"/>
                    </a:p>
                  </a:txBody>
                  <a:tcPr marL="45720" marR="45720" anchor="ctr">
                    <a:lnL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eaLnBrk="0">
                        <a:buNone/>
                      </a:pPr>
                      <a:r>
                        <a:rPr lang="ko-KR" altLang="en-US" sz="1300" dirty="0">
                          <a:solidFill>
                            <a:schemeClr val="tx1"/>
                          </a:solidFill>
                        </a:rPr>
                        <a:t>표기 없는 할인·예약 유도, 단점 없는 과장</a:t>
                      </a:r>
                      <a:endParaRPr lang="ko-KR" altLang="en-US" sz="1300" dirty="0"/>
                    </a:p>
                  </a:txBody>
                  <a:tcPr marL="45720" marR="45720" anchor="ctr">
                    <a:lnL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eaLnBrk="0">
                        <a:buNone/>
                      </a:pPr>
                      <a:r>
                        <a:rPr lang="ko-KR" altLang="en-US" sz="1300" dirty="0">
                          <a:solidFill>
                            <a:schemeClr val="tx1"/>
                          </a:solidFill>
                        </a:rPr>
                        <a:t>Qwen2.5-7B</a:t>
                      </a:r>
                      <a:endParaRPr lang="ko-KR" altLang="en-US" sz="1300" dirty="0"/>
                    </a:p>
                  </a:txBody>
                  <a:tcPr marL="45720" marR="45720" anchor="ctr">
                    <a:lnL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marL="0" indent="0" eaLnBrk="0">
                        <a:buNone/>
                      </a:pPr>
                      <a:r>
                        <a:rPr lang="ko-KR" altLang="en-US" sz="1300" dirty="0">
                          <a:solidFill>
                            <a:schemeClr val="tx1"/>
                          </a:solidFill>
                        </a:rPr>
                        <a:t>AI 작성 확률</a:t>
                      </a:r>
                      <a:endParaRPr lang="ko-KR" altLang="en-US" sz="1300" dirty="0"/>
                    </a:p>
                  </a:txBody>
                  <a:tcPr marL="45720" marR="45720" anchor="ctr">
                    <a:lnL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eaLnBrk="0">
                        <a:buNone/>
                      </a:pPr>
                      <a:r>
                        <a:rPr lang="ko-KR" altLang="en-US" sz="1300" dirty="0">
                          <a:solidFill>
                            <a:schemeClr val="tx1"/>
                          </a:solidFill>
                        </a:rPr>
                        <a:t>문장이 언어모델에게 얼마나 예측 가능한지</a:t>
                      </a:r>
                      <a:endParaRPr lang="ko-KR" altLang="en-US" sz="1300" dirty="0"/>
                    </a:p>
                  </a:txBody>
                  <a:tcPr marL="45720" marR="45720" anchor="ctr">
                    <a:lnL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eaLnBrk="0">
                        <a:buNone/>
                      </a:pPr>
                      <a:r>
                        <a:rPr lang="ko-KR" altLang="en-US" sz="1300" dirty="0">
                          <a:solidFill>
                            <a:schemeClr val="tx1"/>
                          </a:solidFill>
                        </a:rPr>
                        <a:t>Fast-DetectGPT</a:t>
                      </a:r>
                      <a:endParaRPr lang="ko-KR" altLang="en-US" sz="1300" dirty="0"/>
                    </a:p>
                  </a:txBody>
                  <a:tcPr marL="45720" marR="45720" anchor="ctr">
                    <a:lnL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marL="0" indent="0" eaLnBrk="0">
                        <a:buNone/>
                      </a:pPr>
                      <a:r>
                        <a:rPr lang="ko-KR" altLang="en-US" sz="1300" dirty="0">
                          <a:solidFill>
                            <a:schemeClr val="tx1"/>
                          </a:solidFill>
                        </a:rPr>
                        <a:t>AI 문체 (보조)</a:t>
                      </a:r>
                      <a:endParaRPr lang="ko-KR" altLang="en-US" sz="1300" dirty="0"/>
                    </a:p>
                  </a:txBody>
                  <a:tcPr marL="45720" marR="45720" anchor="ctr">
                    <a:lnL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eaLnBrk="0">
                        <a:buNone/>
                      </a:pPr>
                      <a:r>
                        <a:rPr lang="ko-KR" altLang="en-US" sz="1300" dirty="0">
                          <a:solidFill>
                            <a:schemeClr val="tx1"/>
                          </a:solidFill>
                        </a:rPr>
                        <a:t>격식체 상투구, 개인 일화 부재</a:t>
                      </a:r>
                      <a:endParaRPr lang="ko-KR" altLang="en-US" sz="1300" dirty="0"/>
                    </a:p>
                  </a:txBody>
                  <a:tcPr marL="45720" marR="45720" anchor="ctr">
                    <a:lnL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eaLnBrk="0">
                        <a:buNone/>
                      </a:pPr>
                      <a:r>
                        <a:rPr lang="ko-KR" altLang="en-US" sz="1300" dirty="0">
                          <a:solidFill>
                            <a:schemeClr val="tx1"/>
                          </a:solidFill>
                        </a:rPr>
                        <a:t>Qwen2.5-7B</a:t>
                      </a:r>
                      <a:endParaRPr lang="ko-KR" altLang="en-US" sz="1300" dirty="0"/>
                    </a:p>
                  </a:txBody>
                  <a:tcPr marL="45720" marR="45720" anchor="ctr">
                    <a:lnL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marL="0" indent="0" eaLnBrk="0">
                        <a:buNone/>
                      </a:pPr>
                      <a:r>
                        <a:rPr lang="ko-KR" altLang="en-US" sz="1300" dirty="0">
                          <a:solidFill>
                            <a:schemeClr val="tx1"/>
                          </a:solidFill>
                        </a:rPr>
                        <a:t>AI 조작 문구</a:t>
                      </a:r>
                      <a:endParaRPr lang="ko-KR" altLang="en-US" sz="1300" dirty="0"/>
                    </a:p>
                  </a:txBody>
                  <a:tcPr marL="45720" marR="45720" anchor="ctr">
                    <a:lnL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eaLnBrk="0">
                        <a:buNone/>
                      </a:pPr>
                      <a:r>
                        <a:rPr lang="ko-KR" altLang="en-US" sz="1300" dirty="0">
                          <a:solidFill>
                            <a:schemeClr val="tx1"/>
                          </a:solidFill>
                        </a:rPr>
                        <a:t>'이전 지시 무시' 등 숨은 명령</a:t>
                      </a:r>
                      <a:endParaRPr lang="ko-KR" altLang="en-US" sz="1300" dirty="0"/>
                    </a:p>
                  </a:txBody>
                  <a:tcPr marL="45720" marR="45720" anchor="ctr">
                    <a:lnL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eaLnBrk="0">
                        <a:buNone/>
                      </a:pPr>
                      <a:r>
                        <a:rPr lang="ko-KR" altLang="en-US" sz="1300" dirty="0">
                          <a:solidFill>
                            <a:schemeClr val="tx1"/>
                          </a:solidFill>
                        </a:rPr>
                        <a:t>규칙 + Qwen</a:t>
                      </a:r>
                      <a:endParaRPr lang="ko-KR" altLang="en-US" sz="1300" dirty="0"/>
                    </a:p>
                  </a:txBody>
                  <a:tcPr marL="45720" marR="45720" anchor="ctr">
                    <a:lnL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29184">
                <a:tc>
                  <a:txBody>
                    <a:bodyPr/>
                    <a:lstStyle/>
                    <a:p>
                      <a:pPr marL="0" indent="0" eaLnBrk="0">
                        <a:buNone/>
                      </a:pPr>
                      <a:r>
                        <a:rPr lang="ko-KR" altLang="en-US" sz="1300" dirty="0">
                          <a:solidFill>
                            <a:schemeClr val="tx1"/>
                          </a:solidFill>
                        </a:rPr>
                        <a:t>개인정보 가림</a:t>
                      </a:r>
                      <a:endParaRPr lang="ko-KR" altLang="en-US" sz="1300" dirty="0"/>
                    </a:p>
                  </a:txBody>
                  <a:tcPr marL="45720" marR="45720" anchor="ctr">
                    <a:lnL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eaLnBrk="0">
                        <a:buNone/>
                      </a:pPr>
                      <a:r>
                        <a:rPr lang="ko-KR" altLang="en-US" sz="1300" dirty="0">
                          <a:solidFill>
                            <a:schemeClr val="tx1"/>
                          </a:solidFill>
                        </a:rPr>
                        <a:t>전화·이메일·계좌 등 마스킹 건수</a:t>
                      </a:r>
                      <a:endParaRPr lang="ko-KR" altLang="en-US" sz="1300" dirty="0"/>
                    </a:p>
                  </a:txBody>
                  <a:tcPr marL="45720" marR="45720" anchor="ctr">
                    <a:lnL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eaLnBrk="0">
                        <a:buNone/>
                      </a:pPr>
                      <a:r>
                        <a:rPr lang="ko-KR" altLang="en-US" sz="1300" dirty="0">
                          <a:solidFill>
                            <a:schemeClr val="tx1"/>
                          </a:solidFill>
                        </a:rPr>
                        <a:t>규칙</a:t>
                      </a:r>
                      <a:endParaRPr lang="ko-KR" altLang="en-US" sz="1300" dirty="0"/>
                    </a:p>
                  </a:txBody>
                  <a:tcPr marL="45720" marR="45720" anchor="ctr">
                    <a:lnL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400800"/>
            <a:ext cx="548640" cy="29260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100">
                <a:solidFill>
                  <a:srgbClr val="868B9E"/>
                </a:solidFill>
              </a:defRPr>
            </a:lvl1pPr>
          </a:lstStyle>
          <a:p>
            <a:pPr algn="r" eaLnBrk="0"/>
            <a:fld id="{F7021451-1387-4CA6-816F-3879F97B5CBC}" type="slidenum">
              <a:rPr lang="ko-KR" altLang="en-US" b="0"/>
              <a:t>9</a:t>
            </a:fld>
            <a:endParaRPr lang="ko-KR" alt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>
            <a:spLocks noGrp="1"/>
          </p:cNvSpPr>
          <p:nvPr>
            <p:ph type="title" idx="101" hasCustomPrompt="1"/>
          </p:nvPr>
        </p:nvSpPr>
        <p:spPr>
          <a:xfrm>
            <a:off x="1783080" y="347472"/>
            <a:ext cx="9829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 eaLnBrk="0">
              <a:buNone/>
            </a:pPr>
            <a:r>
              <a:rPr lang="ko-KR" altLang="en-US" sz="3000" b="1" dirty="0">
                <a:solidFill>
                  <a:schemeClr val="tx1"/>
                </a:solidFill>
              </a:rPr>
              <a:t>분석 진행 표시</a:t>
            </a:r>
            <a:endParaRPr lang="ko-KR" altLang="en-US" sz="3000" dirty="0"/>
          </a:p>
        </p:txBody>
      </p:sp>
      <p:sp>
        <p:nvSpPr>
          <p:cNvPr id="3" name="seal F-08"/>
          <p:cNvSpPr/>
          <p:nvPr/>
        </p:nvSpPr>
        <p:spPr>
          <a:xfrm rot="-300000">
            <a:off x="548640" y="429768"/>
            <a:ext cx="1051560" cy="585216"/>
          </a:xfrm>
          <a:prstGeom prst="roundRect">
            <a:avLst>
              <a:gd name="adj" fmla="val 15625"/>
            </a:avLst>
          </a:prstGeom>
          <a:solidFill>
            <a:schemeClr val="accent1"/>
          </a:solidFill>
          <a:ln w="12700">
            <a:solidFill>
              <a:schemeClr val="accent1"/>
            </a:solidFill>
          </a:ln>
        </p:spPr>
        <p:txBody>
          <a:bodyPr wrap="square" lIns="0" tIns="0" rIns="0" bIns="0" rtlCol="0" anchor="ctr"/>
          <a:lstStyle/>
          <a:p>
            <a:pPr marL="0" indent="0" algn="ctr" eaLnBrk="0">
              <a:buNone/>
            </a:pPr>
            <a:r>
              <a:rPr lang="ko-KR" altLang="en-US" sz="1700" b="1" dirty="0">
                <a:solidFill>
                  <a:schemeClr val="bg1"/>
                </a:solidFill>
              </a:rPr>
              <a:t>F-08</a:t>
            </a:r>
            <a:endParaRPr lang="ko-KR" altLang="en-US" sz="1700" dirty="0"/>
          </a:p>
        </p:txBody>
      </p:sp>
      <p:sp>
        <p:nvSpPr>
          <p:cNvPr id="4" name="frame 분석 중: 0/6건 완료 · 0:13"/>
          <p:cNvSpPr/>
          <p:nvPr/>
        </p:nvSpPr>
        <p:spPr>
          <a:xfrm>
            <a:off x="512064" y="1243584"/>
            <a:ext cx="3244628" cy="4690872"/>
          </a:xfrm>
          <a:prstGeom prst="rect">
            <a:avLst/>
          </a:prstGeom>
          <a:solidFill>
            <a:schemeClr val="bg1"/>
          </a:solidFill>
          <a:ln w="9525">
            <a:solidFill>
              <a:srgbClr val="D9DBE3"/>
            </a:solidFill>
            <a:prstDash val="solid"/>
          </a:ln>
          <a:effectLst>
            <a:outerShdw blurRad="101600" dist="25400" dir="5400000" algn="bl" rotWithShape="0">
              <a:srgbClr val="1E2233">
                <a:alpha val="18000"/>
              </a:srgbClr>
            </a:outerShdw>
          </a:effectLst>
        </p:spPr>
      </p:sp>
      <p:pic>
        <p:nvPicPr>
          <p:cNvPr id="5" name="screen 분석 중: 0/6건 완료 · 0:13" descr="분석 중: 0/6건 완료 · 0:13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280160"/>
            <a:ext cx="3171476" cy="4617720"/>
          </a:xfrm>
          <a:prstGeom prst="rect">
            <a:avLst/>
          </a:prstGeom>
        </p:spPr>
      </p:pic>
      <p:sp>
        <p:nvSpPr>
          <p:cNvPr id="6" name="frame 완료: 6건 · 1분 15초"/>
          <p:cNvSpPr/>
          <p:nvPr/>
        </p:nvSpPr>
        <p:spPr>
          <a:xfrm>
            <a:off x="4003580" y="1243584"/>
            <a:ext cx="3244628" cy="4690872"/>
          </a:xfrm>
          <a:prstGeom prst="rect">
            <a:avLst/>
          </a:prstGeom>
          <a:solidFill>
            <a:schemeClr val="bg1"/>
          </a:solidFill>
          <a:ln w="9525">
            <a:solidFill>
              <a:srgbClr val="D9DBE3"/>
            </a:solidFill>
            <a:prstDash val="solid"/>
          </a:ln>
          <a:effectLst>
            <a:outerShdw blurRad="101600" dist="25400" dir="5400000" algn="bl" rotWithShape="0">
              <a:srgbClr val="1E2233">
                <a:alpha val="18000"/>
              </a:srgbClr>
            </a:outerShdw>
          </a:effectLst>
        </p:spPr>
      </p:sp>
      <p:pic>
        <p:nvPicPr>
          <p:cNvPr id="7" name="screen 완료: 6건 · 1분 15초" descr="완료: 6건 · 1분 15초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040156" y="1280160"/>
            <a:ext cx="3171476" cy="46177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548640" y="6007608"/>
            <a:ext cx="317147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eaLnBrk="0">
              <a:buNone/>
            </a:pPr>
            <a:r>
              <a:rPr lang="ko-KR" altLang="en-US" sz="1300" dirty="0">
                <a:solidFill>
                  <a:schemeClr val="tx2"/>
                </a:solidFill>
              </a:rPr>
              <a:t>분석 중: 0/6건 완료 · 0:13</a:t>
            </a:r>
            <a:endParaRPr lang="ko-KR" altLang="en-US" sz="1300" dirty="0"/>
          </a:p>
        </p:txBody>
      </p:sp>
      <p:sp>
        <p:nvSpPr>
          <p:cNvPr id="9" name="Text 5"/>
          <p:cNvSpPr txBox="1"/>
          <p:nvPr/>
        </p:nvSpPr>
        <p:spPr>
          <a:xfrm>
            <a:off x="4040156" y="6007608"/>
            <a:ext cx="317147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eaLnBrk="0">
              <a:buNone/>
            </a:pPr>
            <a:r>
              <a:rPr lang="ko-KR" altLang="en-US" sz="1300" dirty="0">
                <a:solidFill>
                  <a:schemeClr val="tx2"/>
                </a:solidFill>
              </a:rPr>
              <a:t>완료: 6건 · 1분 15초</a:t>
            </a:r>
            <a:endParaRPr lang="ko-KR" altLang="en-US" sz="1300" dirty="0"/>
          </a:p>
        </p:txBody>
      </p:sp>
      <p:sp>
        <p:nvSpPr>
          <p:cNvPr id="10" name="description"/>
          <p:cNvSpPr txBox="1"/>
          <p:nvPr/>
        </p:nvSpPr>
        <p:spPr>
          <a:xfrm>
            <a:off x="7760271" y="1280160"/>
            <a:ext cx="3898329" cy="5029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eaLnBrk="0">
              <a:lnSpc>
                <a:spcPct val="95000"/>
              </a:lnSpc>
              <a:spcAft>
                <a:spcPts val="500"/>
              </a:spcAft>
              <a:buNone/>
            </a:pPr>
            <a:r>
              <a:rPr lang="ko-KR" altLang="en-US" sz="1950" b="1" dirty="0">
                <a:solidFill>
                  <a:schemeClr val="accent1"/>
                </a:solidFill>
              </a:rPr>
              <a:t>기능 설명</a:t>
            </a:r>
            <a:endParaRPr lang="ko-KR" altLang="en-US" sz="1950" dirty="0"/>
          </a:p>
          <a:p>
            <a:pPr marL="190500" indent="-190500" eaLnBrk="0">
              <a:lnSpc>
                <a:spcPct val="95000"/>
              </a:lnSpc>
              <a:spcAft>
                <a:spcPts val="600"/>
              </a:spcAft>
              <a:buSzPct val="100000"/>
              <a:buChar char="•"/>
            </a:pPr>
            <a:r>
              <a:rPr lang="ko-KR" altLang="en-US" sz="1750" dirty="0">
                <a:solidFill>
                  <a:schemeClr val="tx1"/>
                </a:solidFill>
              </a:rPr>
              <a:t>후기 한 건을 AI 모델 두 개가 읽어 몇 초씩 걸리므로, 돌아가고 있음을 계속 보여줌</a:t>
            </a:r>
            <a:endParaRPr lang="ko-KR" altLang="en-US" sz="1950" dirty="0"/>
          </a:p>
          <a:p>
            <a:pPr marL="190500" indent="-190500" eaLnBrk="0">
              <a:lnSpc>
                <a:spcPct val="95000"/>
              </a:lnSpc>
              <a:spcAft>
                <a:spcPts val="600"/>
              </a:spcAft>
              <a:buSzPct val="100000"/>
              <a:buChar char="•"/>
            </a:pPr>
            <a:r>
              <a:rPr lang="ko-KR" altLang="en-US" sz="1750" dirty="0">
                <a:solidFill>
                  <a:schemeClr val="tx1"/>
                </a:solidFill>
              </a:rPr>
              <a:t>스피너, 'n/6건 완료', 경과 시간을 1초마다 갱신</a:t>
            </a:r>
            <a:endParaRPr lang="ko-KR" altLang="en-US" sz="1950" dirty="0"/>
          </a:p>
          <a:p>
            <a:pPr marL="190500" indent="-190500" eaLnBrk="0">
              <a:lnSpc>
                <a:spcPct val="95000"/>
              </a:lnSpc>
              <a:spcAft>
                <a:spcPts val="600"/>
              </a:spcAft>
              <a:buSzPct val="100000"/>
              <a:buChar char="•"/>
            </a:pPr>
            <a:r>
              <a:rPr lang="ko-KR" altLang="en-US" sz="1750" dirty="0">
                <a:solidFill>
                  <a:schemeClr val="tx1"/>
                </a:solidFill>
              </a:rPr>
              <a:t>아직 안 끝난 후기는 자리 표시로 남은 개수를 보여줌</a:t>
            </a:r>
            <a:endParaRPr lang="ko-KR" altLang="en-US" sz="1950" dirty="0"/>
          </a:p>
          <a:p>
            <a:pPr marL="190500" indent="-190500" eaLnBrk="0">
              <a:lnSpc>
                <a:spcPct val="95000"/>
              </a:lnSpc>
              <a:spcAft>
                <a:spcPts val="600"/>
              </a:spcAft>
              <a:buSzPct val="100000"/>
              <a:buChar char="•"/>
            </a:pPr>
            <a:r>
              <a:rPr lang="ko-KR" altLang="en-US" sz="1750" dirty="0">
                <a:solidFill>
                  <a:schemeClr val="tx1"/>
                </a:solidFill>
              </a:rPr>
              <a:t>완료되면 소요 시간 표시</a:t>
            </a:r>
            <a:endParaRPr lang="ko-KR" altLang="en-US" sz="1950" dirty="0"/>
          </a:p>
          <a:p>
            <a:pPr marL="0" indent="0" eaLnBrk="0">
              <a:lnSpc>
                <a:spcPct val="95000"/>
              </a:lnSpc>
              <a:spcBef>
                <a:spcPts val="1400"/>
              </a:spcBef>
              <a:spcAft>
                <a:spcPts val="500"/>
              </a:spcAft>
              <a:buNone/>
            </a:pPr>
            <a:r>
              <a:rPr lang="ko-KR" altLang="en-US" sz="1950" b="1" dirty="0">
                <a:solidFill>
                  <a:schemeClr val="accent1"/>
                </a:solidFill>
              </a:rPr>
              <a:t>처리 방식</a:t>
            </a:r>
            <a:endParaRPr lang="ko-KR" altLang="en-US" sz="1950" dirty="0"/>
          </a:p>
          <a:p>
            <a:pPr marL="190500" indent="-190500" eaLnBrk="0">
              <a:lnSpc>
                <a:spcPct val="95000"/>
              </a:lnSpc>
              <a:spcAft>
                <a:spcPts val="600"/>
              </a:spcAft>
              <a:buSzPct val="100000"/>
              <a:buChar char="•"/>
            </a:pPr>
            <a:r>
              <a:rPr lang="ko-KR" altLang="en-US" sz="1750" dirty="0">
                <a:solidFill>
                  <a:schemeClr val="tx1"/>
                </a:solidFill>
              </a:rPr>
              <a:t>분석 결과를 한 건씩 스트리밍(NDJSON)으로 받아 끝나는 대로 표시</a:t>
            </a:r>
            <a:endParaRPr lang="ko-KR" altLang="en-US" sz="1950" dirty="0"/>
          </a:p>
          <a:p>
            <a:pPr marL="190500" indent="-190500" eaLnBrk="0">
              <a:lnSpc>
                <a:spcPct val="95000"/>
              </a:lnSpc>
              <a:spcAft>
                <a:spcPts val="600"/>
              </a:spcAft>
              <a:buSzPct val="100000"/>
              <a:buChar char="•"/>
            </a:pPr>
            <a:r>
              <a:rPr lang="ko-KR" altLang="en-US" sz="1750" dirty="0">
                <a:solidFill>
                  <a:schemeClr val="tx1"/>
                </a:solidFill>
              </a:rPr>
              <a:t>GPU가 꺼져 있으면 하단 '켜는 중' 안내도 함께 표시 (F-14)</a:t>
            </a:r>
            <a:endParaRPr lang="ko-KR" altLang="en-US" sz="19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400800"/>
            <a:ext cx="548640" cy="29260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100">
                <a:solidFill>
                  <a:srgbClr val="868B9E"/>
                </a:solidFill>
              </a:defRPr>
            </a:lvl1pPr>
          </a:lstStyle>
          <a:p>
            <a:pPr algn="r" eaLnBrk="0"/>
            <a:fld id="{F7021451-1387-4CA6-816F-3879F97B5CBC}" type="slidenum">
              <a:rPr lang="ko-KR" altLang="en-US" b="0"/>
              <a:t>10</a:t>
            </a:fld>
            <a:endParaRPr lang="ko-KR" alt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>
            <a:spLocks noGrp="1"/>
          </p:cNvSpPr>
          <p:nvPr>
            <p:ph type="title" idx="101" hasCustomPrompt="1"/>
          </p:nvPr>
        </p:nvSpPr>
        <p:spPr>
          <a:xfrm>
            <a:off x="1783080" y="347472"/>
            <a:ext cx="9829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 eaLnBrk="0">
              <a:buNone/>
            </a:pPr>
            <a:r>
              <a:rPr lang="ko-KR" altLang="en-US" sz="3000" b="1" dirty="0">
                <a:solidFill>
                  <a:schemeClr val="tx1"/>
                </a:solidFill>
              </a:rPr>
              <a:t>의심 후기 숨김 · 원문 확인</a:t>
            </a:r>
            <a:endParaRPr lang="ko-KR" altLang="en-US" sz="3000" dirty="0"/>
          </a:p>
        </p:txBody>
      </p:sp>
      <p:sp>
        <p:nvSpPr>
          <p:cNvPr id="3" name="seal F-09·10"/>
          <p:cNvSpPr/>
          <p:nvPr/>
        </p:nvSpPr>
        <p:spPr>
          <a:xfrm rot="-300000">
            <a:off x="548640" y="429768"/>
            <a:ext cx="1051560" cy="585216"/>
          </a:xfrm>
          <a:prstGeom prst="roundRect">
            <a:avLst>
              <a:gd name="adj" fmla="val 15625"/>
            </a:avLst>
          </a:prstGeom>
          <a:solidFill>
            <a:schemeClr val="accent1"/>
          </a:solidFill>
          <a:ln w="12700">
            <a:solidFill>
              <a:schemeClr val="accent1"/>
            </a:solidFill>
          </a:ln>
        </p:spPr>
        <p:txBody>
          <a:bodyPr wrap="square" lIns="0" tIns="0" rIns="0" bIns="0" rtlCol="0" anchor="ctr"/>
          <a:lstStyle/>
          <a:p>
            <a:pPr marL="0" indent="0" algn="ctr" eaLnBrk="0">
              <a:buNone/>
            </a:pPr>
            <a:r>
              <a:rPr lang="ko-KR" altLang="en-US" sz="1400" b="1" dirty="0">
                <a:solidFill>
                  <a:schemeClr val="bg1"/>
                </a:solidFill>
              </a:rPr>
              <a:t>F-09·10</a:t>
            </a:r>
            <a:endParaRPr lang="ko-KR" altLang="en-US" sz="1400" dirty="0"/>
          </a:p>
        </p:txBody>
      </p:sp>
      <p:sp>
        <p:nvSpPr>
          <p:cNvPr id="4" name="frame 펼친 의심 후기와 판단 근거"/>
          <p:cNvSpPr/>
          <p:nvPr/>
        </p:nvSpPr>
        <p:spPr>
          <a:xfrm>
            <a:off x="512064" y="1243584"/>
            <a:ext cx="3244628" cy="4690872"/>
          </a:xfrm>
          <a:prstGeom prst="rect">
            <a:avLst/>
          </a:prstGeom>
          <a:solidFill>
            <a:schemeClr val="bg1"/>
          </a:solidFill>
          <a:ln w="9525">
            <a:solidFill>
              <a:srgbClr val="D9DBE3"/>
            </a:solidFill>
            <a:prstDash val="solid"/>
          </a:ln>
          <a:effectLst>
            <a:outerShdw blurRad="101600" dist="25400" dir="5400000" algn="bl" rotWithShape="0">
              <a:srgbClr val="1E2233">
                <a:alpha val="18000"/>
              </a:srgbClr>
            </a:outerShdw>
          </a:effectLst>
        </p:spPr>
      </p:sp>
      <p:pic>
        <p:nvPicPr>
          <p:cNvPr id="5" name="screen 펼친 의심 후기와 판단 근거" descr="펼친 의심 후기와 판단 근거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280160"/>
            <a:ext cx="3171476" cy="4617720"/>
          </a:xfrm>
          <a:prstGeom prst="rect">
            <a:avLst/>
          </a:prstGeom>
        </p:spPr>
      </p:pic>
      <p:sp>
        <p:nvSpPr>
          <p:cNvPr id="6" name="frame 번역 요약 아래 한국어 원문"/>
          <p:cNvSpPr/>
          <p:nvPr/>
        </p:nvSpPr>
        <p:spPr>
          <a:xfrm>
            <a:off x="4003580" y="1243584"/>
            <a:ext cx="3244628" cy="4690872"/>
          </a:xfrm>
          <a:prstGeom prst="rect">
            <a:avLst/>
          </a:prstGeom>
          <a:solidFill>
            <a:schemeClr val="bg1"/>
          </a:solidFill>
          <a:ln w="9525">
            <a:solidFill>
              <a:srgbClr val="D9DBE3"/>
            </a:solidFill>
            <a:prstDash val="solid"/>
          </a:ln>
          <a:effectLst>
            <a:outerShdw blurRad="101600" dist="25400" dir="5400000" algn="bl" rotWithShape="0">
              <a:srgbClr val="1E2233">
                <a:alpha val="18000"/>
              </a:srgbClr>
            </a:outerShdw>
          </a:effectLst>
        </p:spPr>
      </p:sp>
      <p:pic>
        <p:nvPicPr>
          <p:cNvPr id="7" name="screen 번역 요약 아래 한국어 원문" descr="번역 요약 아래 한국어 원문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040156" y="1280160"/>
            <a:ext cx="3171476" cy="461772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548640" y="6007608"/>
            <a:ext cx="317147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eaLnBrk="0">
              <a:buNone/>
            </a:pPr>
            <a:r>
              <a:rPr lang="ko-KR" altLang="en-US" sz="1300" dirty="0">
                <a:solidFill>
                  <a:schemeClr val="tx2"/>
                </a:solidFill>
              </a:rPr>
              <a:t>펼친 의심 후기와 판단 근거</a:t>
            </a:r>
            <a:endParaRPr lang="ko-KR" altLang="en-US" sz="1300" dirty="0"/>
          </a:p>
        </p:txBody>
      </p:sp>
      <p:sp>
        <p:nvSpPr>
          <p:cNvPr id="9" name="Text 5"/>
          <p:cNvSpPr txBox="1"/>
          <p:nvPr/>
        </p:nvSpPr>
        <p:spPr>
          <a:xfrm>
            <a:off x="4040156" y="6007608"/>
            <a:ext cx="3171476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eaLnBrk="0">
              <a:buNone/>
            </a:pPr>
            <a:r>
              <a:rPr lang="ko-KR" altLang="en-US" sz="1300" dirty="0">
                <a:solidFill>
                  <a:schemeClr val="tx2"/>
                </a:solidFill>
              </a:rPr>
              <a:t>번역 요약 아래 한국어 원문</a:t>
            </a:r>
            <a:endParaRPr lang="ko-KR" altLang="en-US" sz="1300" dirty="0"/>
          </a:p>
        </p:txBody>
      </p:sp>
      <p:sp>
        <p:nvSpPr>
          <p:cNvPr id="10" name="description"/>
          <p:cNvSpPr txBox="1"/>
          <p:nvPr/>
        </p:nvSpPr>
        <p:spPr>
          <a:xfrm>
            <a:off x="7760271" y="1280160"/>
            <a:ext cx="3898329" cy="5029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eaLnBrk="0">
              <a:lnSpc>
                <a:spcPct val="95000"/>
              </a:lnSpc>
              <a:spcAft>
                <a:spcPts val="500"/>
              </a:spcAft>
              <a:buNone/>
            </a:pPr>
            <a:r>
              <a:rPr lang="ko-KR" altLang="en-US" sz="2000" b="1" dirty="0">
                <a:solidFill>
                  <a:schemeClr val="accent1"/>
                </a:solidFill>
              </a:rPr>
              <a:t>F-09 의심 후기 숨김 · 근거 공개</a:t>
            </a:r>
            <a:endParaRPr lang="ko-KR" altLang="en-US" sz="2000" dirty="0"/>
          </a:p>
          <a:p>
            <a:pPr marL="190500" indent="-190500" eaLnBrk="0">
              <a:lnSpc>
                <a:spcPct val="95000"/>
              </a:lnSpc>
              <a:spcAft>
                <a:spcPts val="600"/>
              </a:spcAft>
              <a:buSzPct val="100000"/>
              <a:buChar char="•"/>
            </a:pPr>
            <a:r>
              <a:rPr lang="ko-KR" altLang="en-US" sz="1800" dirty="0">
                <a:solidFill>
                  <a:schemeClr val="tx1"/>
                </a:solidFill>
              </a:rPr>
              <a:t>숨은 광고·AI 의심, 차단 글은 숨기고 건수 안내</a:t>
            </a:r>
            <a:endParaRPr lang="ko-KR" altLang="en-US" sz="2000" dirty="0"/>
          </a:p>
          <a:p>
            <a:pPr marL="190500" indent="-190500" eaLnBrk="0">
              <a:lnSpc>
                <a:spcPct val="95000"/>
              </a:lnSpc>
              <a:spcAft>
                <a:spcPts val="600"/>
              </a:spcAft>
              <a:buSzPct val="100000"/>
              <a:buChar char="•"/>
            </a:pPr>
            <a:r>
              <a:rPr lang="ko-KR" altLang="en-US" sz="1800" dirty="0">
                <a:solidFill>
                  <a:schemeClr val="tx1"/>
                </a:solidFill>
              </a:rPr>
              <a:t>협찬을 밝힌 글은 '협찬 고지'로 표시</a:t>
            </a:r>
            <a:endParaRPr lang="ko-KR" altLang="en-US" sz="2000" dirty="0"/>
          </a:p>
          <a:p>
            <a:pPr marL="190500" indent="-190500" eaLnBrk="0">
              <a:lnSpc>
                <a:spcPct val="95000"/>
              </a:lnSpc>
              <a:spcAft>
                <a:spcPts val="600"/>
              </a:spcAft>
              <a:buSzPct val="100000"/>
              <a:buChar char="•"/>
            </a:pPr>
            <a:r>
              <a:rPr lang="ko-KR" altLang="en-US" sz="1800" dirty="0">
                <a:solidFill>
                  <a:schemeClr val="tx1"/>
                </a:solidFill>
              </a:rPr>
              <a:t>'보기'로 펼치면 근거 공개, 지우지 않음</a:t>
            </a:r>
            <a:endParaRPr lang="ko-KR" altLang="en-US" sz="2000" dirty="0"/>
          </a:p>
          <a:p>
            <a:pPr marL="0" indent="0" eaLnBrk="0">
              <a:lnSpc>
                <a:spcPct val="95000"/>
              </a:lnSpc>
              <a:spcBef>
                <a:spcPts val="1400"/>
              </a:spcBef>
              <a:spcAft>
                <a:spcPts val="500"/>
              </a:spcAft>
              <a:buNone/>
            </a:pPr>
            <a:r>
              <a:rPr lang="ko-KR" altLang="en-US" sz="2000" b="1" dirty="0">
                <a:solidFill>
                  <a:schemeClr val="accent1"/>
                </a:solidFill>
              </a:rPr>
              <a:t>F-10 원문 확인</a:t>
            </a:r>
            <a:endParaRPr lang="ko-KR" altLang="en-US" sz="2000" dirty="0"/>
          </a:p>
          <a:p>
            <a:pPr marL="190500" indent="-190500" eaLnBrk="0">
              <a:lnSpc>
                <a:spcPct val="95000"/>
              </a:lnSpc>
              <a:spcAft>
                <a:spcPts val="600"/>
              </a:spcAft>
              <a:buSzPct val="100000"/>
              <a:buChar char="•"/>
            </a:pPr>
            <a:r>
              <a:rPr lang="ko-KR" altLang="en-US" sz="1800" dirty="0">
                <a:solidFill>
                  <a:schemeClr val="tx1"/>
                </a:solidFill>
              </a:rPr>
              <a:t>번역 요약 아래 한국어 원문, 블로그 원본 글 링크</a:t>
            </a:r>
            <a:endParaRPr lang="ko-KR" altLang="en-US" sz="2000" dirty="0"/>
          </a:p>
          <a:p>
            <a:pPr marL="190500" indent="-190500" eaLnBrk="0">
              <a:lnSpc>
                <a:spcPct val="95000"/>
              </a:lnSpc>
              <a:spcAft>
                <a:spcPts val="600"/>
              </a:spcAft>
              <a:buSzPct val="100000"/>
              <a:buChar char="•"/>
            </a:pPr>
            <a:r>
              <a:rPr lang="ko-KR" altLang="en-US" sz="1800" dirty="0">
                <a:solidFill>
                  <a:schemeClr val="tx1"/>
                </a:solidFill>
              </a:rPr>
              <a:t>개인정보를 가린 원문만 textContent로 출력 (XSS 차단)</a:t>
            </a:r>
            <a:endParaRPr lang="ko-KR" altLang="en-US" sz="20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400800"/>
            <a:ext cx="548640" cy="29260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100">
                <a:solidFill>
                  <a:srgbClr val="868B9E"/>
                </a:solidFill>
              </a:defRPr>
            </a:lvl1pPr>
          </a:lstStyle>
          <a:p>
            <a:pPr algn="r" eaLnBrk="0"/>
            <a:fld id="{F7021451-1387-4CA6-816F-3879F97B5CBC}" type="slidenum">
              <a:rPr lang="ko-KR" altLang="en-US" b="0"/>
              <a:t>11</a:t>
            </a:fld>
            <a:endParaRPr lang="ko-KR" alt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>
            <a:spLocks noGrp="1"/>
          </p:cNvSpPr>
          <p:nvPr>
            <p:ph type="title" idx="101" hasCustomPrompt="1"/>
          </p:nvPr>
        </p:nvSpPr>
        <p:spPr>
          <a:xfrm>
            <a:off x="1783080" y="347472"/>
            <a:ext cx="9829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 eaLnBrk="0">
              <a:buNone/>
            </a:pPr>
            <a:r>
              <a:rPr lang="ko-KR" altLang="en-US" sz="3000" b="1" dirty="0">
                <a:solidFill>
                  <a:schemeClr val="tx1"/>
                </a:solidFill>
              </a:rPr>
              <a:t>직접 후기 검사 · 인젝션 차단</a:t>
            </a:r>
            <a:endParaRPr lang="ko-KR" altLang="en-US" sz="3000" dirty="0"/>
          </a:p>
        </p:txBody>
      </p:sp>
      <p:sp>
        <p:nvSpPr>
          <p:cNvPr id="3" name="seal F-11·12"/>
          <p:cNvSpPr/>
          <p:nvPr/>
        </p:nvSpPr>
        <p:spPr>
          <a:xfrm rot="-300000">
            <a:off x="548640" y="429768"/>
            <a:ext cx="1051560" cy="585216"/>
          </a:xfrm>
          <a:prstGeom prst="roundRect">
            <a:avLst>
              <a:gd name="adj" fmla="val 15625"/>
            </a:avLst>
          </a:prstGeom>
          <a:solidFill>
            <a:schemeClr val="accent1"/>
          </a:solidFill>
          <a:ln w="12700">
            <a:solidFill>
              <a:schemeClr val="accent1"/>
            </a:solidFill>
          </a:ln>
        </p:spPr>
        <p:txBody>
          <a:bodyPr wrap="square" lIns="0" tIns="0" rIns="0" bIns="0" rtlCol="0" anchor="ctr"/>
          <a:lstStyle/>
          <a:p>
            <a:pPr marL="0" indent="0" algn="ctr" eaLnBrk="0">
              <a:buNone/>
            </a:pPr>
            <a:r>
              <a:rPr lang="ko-KR" altLang="en-US" sz="1400" b="1" dirty="0">
                <a:solidFill>
                  <a:schemeClr val="bg1"/>
                </a:solidFill>
              </a:rPr>
              <a:t>F-11·12</a:t>
            </a:r>
            <a:endParaRPr lang="ko-KR" altLang="en-US" sz="1400" dirty="0"/>
          </a:p>
        </p:txBody>
      </p:sp>
      <p:sp>
        <p:nvSpPr>
          <p:cNvPr id="4" name="frame 협찬 글 → '협찬 고지' (신뢰도 57)"/>
          <p:cNvSpPr/>
          <p:nvPr/>
        </p:nvSpPr>
        <p:spPr>
          <a:xfrm>
            <a:off x="512064" y="1243584"/>
            <a:ext cx="5102352" cy="3216402"/>
          </a:xfrm>
          <a:prstGeom prst="rect">
            <a:avLst/>
          </a:prstGeom>
          <a:solidFill>
            <a:schemeClr val="bg1"/>
          </a:solidFill>
          <a:ln w="9525">
            <a:solidFill>
              <a:srgbClr val="D9DBE3"/>
            </a:solidFill>
            <a:prstDash val="solid"/>
          </a:ln>
          <a:effectLst>
            <a:outerShdw blurRad="101600" dist="25400" dir="5400000" algn="bl" rotWithShape="0">
              <a:srgbClr val="1E2233">
                <a:alpha val="18000"/>
              </a:srgbClr>
            </a:outerShdw>
          </a:effectLst>
        </p:spPr>
      </p:sp>
      <p:pic>
        <p:nvPicPr>
          <p:cNvPr id="5" name="screen 협찬 글 → '협찬 고지' (신뢰도 57)" descr="협찬 글 → '협찬 고지' (신뢰도 57)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280160"/>
            <a:ext cx="5029200" cy="3143250"/>
          </a:xfrm>
          <a:prstGeom prst="rect">
            <a:avLst/>
          </a:prstGeom>
        </p:spPr>
      </p:pic>
      <p:sp>
        <p:nvSpPr>
          <p:cNvPr id="6" name="frame 인젝션 → '차단' + 개인정보 1건 가림"/>
          <p:cNvSpPr/>
          <p:nvPr/>
        </p:nvSpPr>
        <p:spPr>
          <a:xfrm>
            <a:off x="6547104" y="1243584"/>
            <a:ext cx="5102352" cy="3216402"/>
          </a:xfrm>
          <a:prstGeom prst="rect">
            <a:avLst/>
          </a:prstGeom>
          <a:solidFill>
            <a:schemeClr val="bg1"/>
          </a:solidFill>
          <a:ln w="9525">
            <a:solidFill>
              <a:srgbClr val="D9DBE3"/>
            </a:solidFill>
            <a:prstDash val="solid"/>
          </a:ln>
          <a:effectLst>
            <a:outerShdw blurRad="101600" dist="25400" dir="5400000" algn="bl" rotWithShape="0">
              <a:srgbClr val="1E2233">
                <a:alpha val="18000"/>
              </a:srgbClr>
            </a:outerShdw>
          </a:effectLst>
        </p:spPr>
      </p:sp>
      <p:pic>
        <p:nvPicPr>
          <p:cNvPr id="7" name="screen 인젝션 → '차단' + 개인정보 1건 가림" descr="인젝션 → '차단' + 개인정보 1건 가림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83680" y="1280160"/>
            <a:ext cx="5029200" cy="314325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548640" y="4533138"/>
            <a:ext cx="5029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eaLnBrk="0">
              <a:buNone/>
            </a:pPr>
            <a:r>
              <a:rPr lang="ko-KR" altLang="en-US" sz="1300" dirty="0">
                <a:solidFill>
                  <a:schemeClr val="tx2"/>
                </a:solidFill>
              </a:rPr>
              <a:t>협찬 글 → '협찬 고지' (신뢰도 57)</a:t>
            </a:r>
            <a:endParaRPr lang="ko-KR" altLang="en-US" sz="1300" dirty="0"/>
          </a:p>
        </p:txBody>
      </p:sp>
      <p:sp>
        <p:nvSpPr>
          <p:cNvPr id="9" name="Text 5"/>
          <p:cNvSpPr txBox="1"/>
          <p:nvPr/>
        </p:nvSpPr>
        <p:spPr>
          <a:xfrm>
            <a:off x="6583680" y="4533138"/>
            <a:ext cx="5029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eaLnBrk="0">
              <a:buNone/>
            </a:pPr>
            <a:r>
              <a:rPr lang="ko-KR" altLang="en-US" sz="1300" dirty="0">
                <a:solidFill>
                  <a:schemeClr val="tx2"/>
                </a:solidFill>
              </a:rPr>
              <a:t>인젝션 → '차단' + 개인정보 1건 가림</a:t>
            </a:r>
            <a:endParaRPr lang="ko-KR" altLang="en-US" sz="1300" dirty="0"/>
          </a:p>
        </p:txBody>
      </p:sp>
      <p:sp>
        <p:nvSpPr>
          <p:cNvPr id="10" name="description"/>
          <p:cNvSpPr txBox="1"/>
          <p:nvPr/>
        </p:nvSpPr>
        <p:spPr>
          <a:xfrm>
            <a:off x="548640" y="5029200"/>
            <a:ext cx="51206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eaLnBrk="0">
              <a:lnSpc>
                <a:spcPct val="95000"/>
              </a:lnSpc>
              <a:spcAft>
                <a:spcPts val="500"/>
              </a:spcAft>
              <a:buNone/>
            </a:pPr>
            <a:r>
              <a:rPr lang="ko-KR" altLang="en-US" sz="1850" b="1" dirty="0">
                <a:solidFill>
                  <a:schemeClr val="accent1"/>
                </a:solidFill>
              </a:rPr>
              <a:t>F-11 직접 후기 검사</a:t>
            </a:r>
            <a:endParaRPr lang="ko-KR" altLang="en-US" sz="1850" dirty="0"/>
          </a:p>
          <a:p>
            <a:pPr marL="190500" indent="-190500" eaLnBrk="0">
              <a:lnSpc>
                <a:spcPct val="95000"/>
              </a:lnSpc>
              <a:spcAft>
                <a:spcPts val="600"/>
              </a:spcAft>
              <a:buSzPct val="100000"/>
              <a:buChar char="•"/>
            </a:pPr>
            <a:r>
              <a:rPr lang="ko-KR" altLang="en-US" sz="1650" dirty="0">
                <a:solidFill>
                  <a:schemeClr val="tx1"/>
                </a:solidFill>
              </a:rPr>
              <a:t>붙여 넣은 후기를 같은 7단계로 검사 (샘플 3종)</a:t>
            </a:r>
            <a:endParaRPr lang="ko-KR" altLang="en-US" sz="1850" dirty="0"/>
          </a:p>
          <a:p>
            <a:pPr marL="190500" indent="-190500" eaLnBrk="0">
              <a:lnSpc>
                <a:spcPct val="95000"/>
              </a:lnSpc>
              <a:spcAft>
                <a:spcPts val="600"/>
              </a:spcAft>
              <a:buSzPct val="100000"/>
              <a:buChar char="•"/>
            </a:pPr>
            <a:r>
              <a:rPr lang="ko-KR" altLang="en-US" sz="1650" dirty="0">
                <a:solidFill>
                  <a:schemeClr val="tx1"/>
                </a:solidFill>
              </a:rPr>
              <a:t>협찬 글 '협찬 고지'(57) · 진짜 후기 '신뢰'(89)</a:t>
            </a:r>
            <a:endParaRPr lang="ko-KR" altLang="en-US" sz="1850" dirty="0"/>
          </a:p>
        </p:txBody>
      </p:sp>
      <p:sp>
        <p:nvSpPr>
          <p:cNvPr id="11" name="description"/>
          <p:cNvSpPr txBox="1"/>
          <p:nvPr/>
        </p:nvSpPr>
        <p:spPr>
          <a:xfrm>
            <a:off x="6583680" y="5029200"/>
            <a:ext cx="507492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eaLnBrk="0">
              <a:lnSpc>
                <a:spcPct val="95000"/>
              </a:lnSpc>
              <a:spcAft>
                <a:spcPts val="500"/>
              </a:spcAft>
              <a:buNone/>
            </a:pPr>
            <a:r>
              <a:rPr lang="ko-KR" altLang="en-US" sz="1850" b="1" dirty="0">
                <a:solidFill>
                  <a:schemeClr val="accent1"/>
                </a:solidFill>
              </a:rPr>
              <a:t>F-12 인젝션 차단 · 개인정보 가림</a:t>
            </a:r>
            <a:endParaRPr lang="ko-KR" altLang="en-US" sz="1850" dirty="0"/>
          </a:p>
          <a:p>
            <a:pPr marL="190500" indent="-190500" eaLnBrk="0">
              <a:lnSpc>
                <a:spcPct val="95000"/>
              </a:lnSpc>
              <a:spcAft>
                <a:spcPts val="600"/>
              </a:spcAft>
              <a:buSzPct val="100000"/>
              <a:buChar char="•"/>
            </a:pPr>
            <a:r>
              <a:rPr lang="ko-KR" altLang="en-US" sz="1650" dirty="0">
                <a:solidFill>
                  <a:schemeClr val="tx1"/>
                </a:solidFill>
              </a:rPr>
              <a:t>'이전 지시 무시' 같은 글은 AI에 보내지 않고 '차단'</a:t>
            </a:r>
            <a:endParaRPr lang="ko-KR" altLang="en-US" sz="1850" dirty="0"/>
          </a:p>
          <a:p>
            <a:pPr marL="190500" indent="-190500" eaLnBrk="0">
              <a:lnSpc>
                <a:spcPct val="95000"/>
              </a:lnSpc>
              <a:spcAft>
                <a:spcPts val="600"/>
              </a:spcAft>
              <a:buSzPct val="100000"/>
              <a:buChar char="•"/>
            </a:pPr>
            <a:r>
              <a:rPr lang="ko-KR" altLang="en-US" sz="1650" dirty="0">
                <a:solidFill>
                  <a:schemeClr val="tx1"/>
                </a:solidFill>
              </a:rPr>
              <a:t>전화번호 등 개인정보는 분석 전에 가림</a:t>
            </a:r>
            <a:endParaRPr lang="ko-KR" altLang="en-US" sz="18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400800"/>
            <a:ext cx="548640" cy="29260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100">
                <a:solidFill>
                  <a:srgbClr val="868B9E"/>
                </a:solidFill>
              </a:defRPr>
            </a:lvl1pPr>
          </a:lstStyle>
          <a:p>
            <a:pPr algn="r" eaLnBrk="0"/>
            <a:fld id="{F7021451-1387-4CA6-816F-3879F97B5CBC}" type="slidenum">
              <a:rPr lang="ko-KR" altLang="en-US" b="0"/>
              <a:t>12</a:t>
            </a:fld>
            <a:endParaRPr lang="ko-KR" alt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>
            <a:spLocks noGrp="1"/>
          </p:cNvSpPr>
          <p:nvPr>
            <p:ph type="title" idx="101" hasCustomPrompt="1"/>
          </p:nvPr>
        </p:nvSpPr>
        <p:spPr>
          <a:xfrm>
            <a:off x="1783080" y="347472"/>
            <a:ext cx="9829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 eaLnBrk="0">
              <a:buNone/>
            </a:pPr>
            <a:r>
              <a:rPr lang="ko-KR" altLang="en-US" sz="3000" b="1" dirty="0">
                <a:solidFill>
                  <a:schemeClr val="tx1"/>
                </a:solidFill>
              </a:rPr>
              <a:t>다국어 지원</a:t>
            </a:r>
            <a:endParaRPr lang="ko-KR" altLang="en-US" sz="3000" dirty="0"/>
          </a:p>
        </p:txBody>
      </p:sp>
      <p:sp>
        <p:nvSpPr>
          <p:cNvPr id="3" name="seal F-13"/>
          <p:cNvSpPr/>
          <p:nvPr/>
        </p:nvSpPr>
        <p:spPr>
          <a:xfrm rot="-300000">
            <a:off x="548640" y="429768"/>
            <a:ext cx="1051560" cy="585216"/>
          </a:xfrm>
          <a:prstGeom prst="roundRect">
            <a:avLst>
              <a:gd name="adj" fmla="val 15625"/>
            </a:avLst>
          </a:prstGeom>
          <a:solidFill>
            <a:schemeClr val="accent1"/>
          </a:solidFill>
          <a:ln w="12700">
            <a:solidFill>
              <a:schemeClr val="accent1"/>
            </a:solidFill>
          </a:ln>
        </p:spPr>
        <p:txBody>
          <a:bodyPr wrap="square" lIns="0" tIns="0" rIns="0" bIns="0" rtlCol="0" anchor="ctr"/>
          <a:lstStyle/>
          <a:p>
            <a:pPr marL="0" indent="0" algn="ctr" eaLnBrk="0">
              <a:buNone/>
            </a:pPr>
            <a:r>
              <a:rPr lang="ko-KR" altLang="en-US" sz="1700" b="1" dirty="0">
                <a:solidFill>
                  <a:schemeClr val="bg1"/>
                </a:solidFill>
              </a:rPr>
              <a:t>F-13</a:t>
            </a:r>
            <a:endParaRPr lang="ko-KR" altLang="en-US" sz="1700" dirty="0"/>
          </a:p>
        </p:txBody>
      </p:sp>
      <p:sp>
        <p:nvSpPr>
          <p:cNvPr id="4" name="frame 일본어 화면"/>
          <p:cNvSpPr/>
          <p:nvPr/>
        </p:nvSpPr>
        <p:spPr>
          <a:xfrm>
            <a:off x="512064" y="1243584"/>
            <a:ext cx="5102352" cy="3216402"/>
          </a:xfrm>
          <a:prstGeom prst="rect">
            <a:avLst/>
          </a:prstGeom>
          <a:solidFill>
            <a:schemeClr val="bg1"/>
          </a:solidFill>
          <a:ln w="9525">
            <a:solidFill>
              <a:srgbClr val="D9DBE3"/>
            </a:solidFill>
            <a:prstDash val="solid"/>
          </a:ln>
          <a:effectLst>
            <a:outerShdw blurRad="101600" dist="25400" dir="5400000" algn="bl" rotWithShape="0">
              <a:srgbClr val="1E2233">
                <a:alpha val="18000"/>
              </a:srgbClr>
            </a:outerShdw>
          </a:effectLst>
        </p:spPr>
      </p:sp>
      <p:pic>
        <p:nvPicPr>
          <p:cNvPr id="5" name="screen 일본어 화면" descr="일본어 화면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280160"/>
            <a:ext cx="5029200" cy="3143250"/>
          </a:xfrm>
          <a:prstGeom prst="rect">
            <a:avLst/>
          </a:prstGeom>
        </p:spPr>
      </p:pic>
      <p:sp>
        <p:nvSpPr>
          <p:cNvPr id="6" name="frame 중국어 화면 (카드별 검사 요약)"/>
          <p:cNvSpPr/>
          <p:nvPr/>
        </p:nvSpPr>
        <p:spPr>
          <a:xfrm>
            <a:off x="6547104" y="1243584"/>
            <a:ext cx="5102352" cy="3216402"/>
          </a:xfrm>
          <a:prstGeom prst="rect">
            <a:avLst/>
          </a:prstGeom>
          <a:solidFill>
            <a:schemeClr val="bg1"/>
          </a:solidFill>
          <a:ln w="9525">
            <a:solidFill>
              <a:srgbClr val="D9DBE3"/>
            </a:solidFill>
            <a:prstDash val="solid"/>
          </a:ln>
          <a:effectLst>
            <a:outerShdw blurRad="101600" dist="25400" dir="5400000" algn="bl" rotWithShape="0">
              <a:srgbClr val="1E2233">
                <a:alpha val="18000"/>
              </a:srgbClr>
            </a:outerShdw>
          </a:effectLst>
        </p:spPr>
      </p:sp>
      <p:pic>
        <p:nvPicPr>
          <p:cNvPr id="7" name="screen 중국어 화면 (카드별 검사 요약)" descr="중국어 화면 (카드별 검사 요약)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83680" y="1280160"/>
            <a:ext cx="5029200" cy="3143250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548640" y="4533138"/>
            <a:ext cx="5029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eaLnBrk="0">
              <a:buNone/>
            </a:pPr>
            <a:r>
              <a:rPr lang="ko-KR" altLang="en-US" sz="1300" dirty="0">
                <a:solidFill>
                  <a:schemeClr val="tx2"/>
                </a:solidFill>
              </a:rPr>
              <a:t>일본어 화면</a:t>
            </a:r>
            <a:endParaRPr lang="ko-KR" altLang="en-US" sz="1300" dirty="0"/>
          </a:p>
        </p:txBody>
      </p:sp>
      <p:sp>
        <p:nvSpPr>
          <p:cNvPr id="9" name="Text 5"/>
          <p:cNvSpPr txBox="1"/>
          <p:nvPr/>
        </p:nvSpPr>
        <p:spPr>
          <a:xfrm>
            <a:off x="6583680" y="4533138"/>
            <a:ext cx="50292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eaLnBrk="0">
              <a:buNone/>
            </a:pPr>
            <a:r>
              <a:rPr lang="ko-KR" altLang="en-US" sz="1300" dirty="0">
                <a:solidFill>
                  <a:schemeClr val="tx2"/>
                </a:solidFill>
              </a:rPr>
              <a:t>중국어 화면 (카드별 검사 요약)</a:t>
            </a:r>
            <a:endParaRPr lang="ko-KR" altLang="en-US" sz="1300" dirty="0"/>
          </a:p>
        </p:txBody>
      </p:sp>
      <p:sp>
        <p:nvSpPr>
          <p:cNvPr id="10" name="description"/>
          <p:cNvSpPr txBox="1"/>
          <p:nvPr/>
        </p:nvSpPr>
        <p:spPr>
          <a:xfrm>
            <a:off x="548640" y="5029200"/>
            <a:ext cx="512064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eaLnBrk="0">
              <a:lnSpc>
                <a:spcPct val="95000"/>
              </a:lnSpc>
              <a:spcAft>
                <a:spcPts val="500"/>
              </a:spcAft>
              <a:buNone/>
            </a:pPr>
            <a:r>
              <a:rPr lang="ko-KR" altLang="en-US" sz="1800" b="1" dirty="0">
                <a:solidFill>
                  <a:schemeClr val="accent1"/>
                </a:solidFill>
              </a:rPr>
              <a:t>기능 설명</a:t>
            </a:r>
            <a:endParaRPr lang="ko-KR" altLang="en-US" sz="1800" dirty="0"/>
          </a:p>
          <a:p>
            <a:pPr marL="190500" indent="-190500" eaLnBrk="0">
              <a:lnSpc>
                <a:spcPct val="95000"/>
              </a:lnSpc>
              <a:spcAft>
                <a:spcPts val="600"/>
              </a:spcAft>
              <a:buSzPct val="100000"/>
              <a:buChar char="•"/>
            </a:pPr>
            <a:r>
              <a:rPr lang="ko-KR" altLang="en-US" sz="1600" dirty="0">
                <a:solidFill>
                  <a:schemeClr val="tx1"/>
                </a:solidFill>
              </a:rPr>
              <a:t>화면 문구·후기 번역 요약·장소명을 영·일·중·한으로</a:t>
            </a:r>
            <a:endParaRPr lang="ko-KR" altLang="en-US" sz="1800" dirty="0"/>
          </a:p>
          <a:p>
            <a:pPr marL="190500" indent="-190500" eaLnBrk="0">
              <a:lnSpc>
                <a:spcPct val="95000"/>
              </a:lnSpc>
              <a:spcAft>
                <a:spcPts val="600"/>
              </a:spcAft>
              <a:buSzPct val="100000"/>
              <a:buChar char="•"/>
            </a:pPr>
            <a:r>
              <a:rPr lang="ko-KR" altLang="en-US" sz="1600" dirty="0">
                <a:solidFill>
                  <a:schemeClr val="tx1"/>
                </a:solidFill>
              </a:rPr>
              <a:t>주소는 영문 표기 + 한국어 주소 병기 (택시·지도 앱용)</a:t>
            </a:r>
            <a:endParaRPr lang="ko-KR" altLang="en-US" sz="1800" dirty="0"/>
          </a:p>
        </p:txBody>
      </p:sp>
      <p:sp>
        <p:nvSpPr>
          <p:cNvPr id="11" name="description"/>
          <p:cNvSpPr txBox="1"/>
          <p:nvPr/>
        </p:nvSpPr>
        <p:spPr>
          <a:xfrm>
            <a:off x="6583680" y="5029200"/>
            <a:ext cx="5074920" cy="1325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eaLnBrk="0">
              <a:lnSpc>
                <a:spcPct val="95000"/>
              </a:lnSpc>
              <a:spcAft>
                <a:spcPts val="500"/>
              </a:spcAft>
              <a:buNone/>
            </a:pPr>
            <a:r>
              <a:rPr lang="ko-KR" altLang="en-US" sz="1800" b="1" dirty="0">
                <a:solidFill>
                  <a:schemeClr val="accent1"/>
                </a:solidFill>
              </a:rPr>
              <a:t>번역 품질 관리</a:t>
            </a:r>
            <a:endParaRPr lang="ko-KR" altLang="en-US" sz="1800" dirty="0"/>
          </a:p>
          <a:p>
            <a:pPr marL="190500" indent="-190500" eaLnBrk="0">
              <a:lnSpc>
                <a:spcPct val="95000"/>
              </a:lnSpc>
              <a:spcAft>
                <a:spcPts val="600"/>
              </a:spcAft>
              <a:buSzPct val="100000"/>
              <a:buChar char="•"/>
            </a:pPr>
            <a:r>
              <a:rPr lang="ko-KR" altLang="en-US" sz="1600" dirty="0">
                <a:solidFill>
                  <a:schemeClr val="tx1"/>
                </a:solidFill>
              </a:rPr>
              <a:t>출력 언어 검증(한글·가나·한자 비율) 후 어긋나면 재요청</a:t>
            </a:r>
            <a:endParaRPr lang="ko-KR" altLang="en-US" sz="1800" dirty="0"/>
          </a:p>
          <a:p>
            <a:pPr marL="190500" indent="-190500" eaLnBrk="0">
              <a:lnSpc>
                <a:spcPct val="95000"/>
              </a:lnSpc>
              <a:spcAft>
                <a:spcPts val="600"/>
              </a:spcAft>
              <a:buSzPct val="100000"/>
              <a:buChar char="•"/>
            </a:pPr>
            <a:r>
              <a:rPr lang="ko-KR" altLang="en-US" sz="1600" dirty="0">
                <a:solidFill>
                  <a:schemeClr val="tx1"/>
                </a:solidFill>
              </a:rPr>
              <a:t>7B 모델의 고유명사 음차 오류 → '기계 번역' 표시</a:t>
            </a:r>
            <a:endParaRPr lang="ko-KR" altLang="en-US" sz="18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400800"/>
            <a:ext cx="548640" cy="29260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100">
                <a:solidFill>
                  <a:srgbClr val="868B9E"/>
                </a:solidFill>
              </a:defRPr>
            </a:lvl1pPr>
          </a:lstStyle>
          <a:p>
            <a:pPr algn="r" eaLnBrk="0"/>
            <a:fld id="{F7021451-1387-4CA6-816F-3879F97B5CBC}" type="slidenum">
              <a:rPr lang="ko-KR" altLang="en-US" b="0"/>
              <a:t>13</a:t>
            </a:fld>
            <a:endParaRPr lang="ko-KR" alt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>
            <a:spLocks noGrp="1"/>
          </p:cNvSpPr>
          <p:nvPr>
            <p:ph type="title" idx="101" hasCustomPrompt="1"/>
          </p:nvPr>
        </p:nvSpPr>
        <p:spPr>
          <a:xfrm>
            <a:off x="1783080" y="347472"/>
            <a:ext cx="9829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 eaLnBrk="0">
              <a:buNone/>
            </a:pPr>
            <a:r>
              <a:rPr lang="ko-KR" altLang="en-US" sz="3000" b="1" dirty="0">
                <a:solidFill>
                  <a:schemeClr val="tx1"/>
                </a:solidFill>
              </a:rPr>
              <a:t>GPU 온디맨드 · 콜드 스타트 안내</a:t>
            </a:r>
            <a:endParaRPr lang="ko-KR" altLang="en-US" sz="3000" dirty="0"/>
          </a:p>
        </p:txBody>
      </p:sp>
      <p:sp>
        <p:nvSpPr>
          <p:cNvPr id="3" name="seal F-14"/>
          <p:cNvSpPr/>
          <p:nvPr/>
        </p:nvSpPr>
        <p:spPr>
          <a:xfrm rot="-300000">
            <a:off x="548640" y="429768"/>
            <a:ext cx="1051560" cy="585216"/>
          </a:xfrm>
          <a:prstGeom prst="roundRect">
            <a:avLst>
              <a:gd name="adj" fmla="val 15625"/>
            </a:avLst>
          </a:prstGeom>
          <a:solidFill>
            <a:schemeClr val="accent1"/>
          </a:solidFill>
          <a:ln w="12700">
            <a:solidFill>
              <a:schemeClr val="accent1"/>
            </a:solidFill>
          </a:ln>
        </p:spPr>
        <p:txBody>
          <a:bodyPr wrap="square" lIns="0" tIns="0" rIns="0" bIns="0" rtlCol="0" anchor="ctr"/>
          <a:lstStyle/>
          <a:p>
            <a:pPr marL="0" indent="0" algn="ctr" eaLnBrk="0">
              <a:buNone/>
            </a:pPr>
            <a:r>
              <a:rPr lang="ko-KR" altLang="en-US" sz="1700" b="1" dirty="0">
                <a:solidFill>
                  <a:schemeClr val="bg1"/>
                </a:solidFill>
              </a:rPr>
              <a:t>F-14</a:t>
            </a:r>
            <a:endParaRPr lang="ko-KR" altLang="en-US" sz="1700" dirty="0"/>
          </a:p>
        </p:txBody>
      </p:sp>
      <p:sp>
        <p:nvSpPr>
          <p:cNvPr id="4" name="frame 콜드 스타트 안내"/>
          <p:cNvSpPr/>
          <p:nvPr/>
        </p:nvSpPr>
        <p:spPr>
          <a:xfrm>
            <a:off x="512064" y="1335024"/>
            <a:ext cx="6748272" cy="4245102"/>
          </a:xfrm>
          <a:prstGeom prst="rect">
            <a:avLst/>
          </a:prstGeom>
          <a:solidFill>
            <a:schemeClr val="bg1"/>
          </a:solidFill>
          <a:ln w="9525">
            <a:solidFill>
              <a:srgbClr val="D9DBE3"/>
            </a:solidFill>
            <a:prstDash val="solid"/>
          </a:ln>
          <a:effectLst>
            <a:outerShdw blurRad="101600" dist="25400" dir="5400000" algn="bl" rotWithShape="0">
              <a:srgbClr val="1E2233">
                <a:alpha val="18000"/>
              </a:srgbClr>
            </a:outerShdw>
          </a:effectLst>
        </p:spPr>
      </p:sp>
      <p:pic>
        <p:nvPicPr>
          <p:cNvPr id="5" name="screen 콜드 스타트 안내" descr="콜드 스타트 안내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371600"/>
            <a:ext cx="6675120" cy="4171950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548640" y="5680710"/>
            <a:ext cx="66751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eaLnBrk="0">
              <a:buNone/>
            </a:pPr>
            <a:r>
              <a:rPr lang="ko-KR" altLang="en-US" sz="1300" dirty="0">
                <a:solidFill>
                  <a:schemeClr val="tx2"/>
                </a:solidFill>
              </a:rPr>
              <a:t>GPU가 꺼져 있을 때 접속 → 하단에 기동 경과 시간 표시</a:t>
            </a:r>
            <a:endParaRPr lang="ko-KR" altLang="en-US" sz="1300" dirty="0"/>
          </a:p>
        </p:txBody>
      </p:sp>
      <p:sp>
        <p:nvSpPr>
          <p:cNvPr id="7" name="description"/>
          <p:cNvSpPr txBox="1"/>
          <p:nvPr/>
        </p:nvSpPr>
        <p:spPr>
          <a:xfrm>
            <a:off x="7543800" y="1325880"/>
            <a:ext cx="4114800" cy="3840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eaLnBrk="0">
              <a:lnSpc>
                <a:spcPct val="95000"/>
              </a:lnSpc>
              <a:spcAft>
                <a:spcPts val="500"/>
              </a:spcAft>
              <a:buNone/>
            </a:pPr>
            <a:r>
              <a:rPr lang="ko-KR" altLang="en-US" sz="1700" b="1" dirty="0">
                <a:solidFill>
                  <a:schemeClr val="accent1"/>
                </a:solidFill>
              </a:rPr>
              <a:t>기능 설명</a:t>
            </a:r>
            <a:endParaRPr lang="ko-KR" altLang="en-US" sz="1700" dirty="0"/>
          </a:p>
          <a:p>
            <a:pPr marL="190500" indent="-190500" eaLnBrk="0">
              <a:lnSpc>
                <a:spcPct val="95000"/>
              </a:lnSpc>
              <a:spcAft>
                <a:spcPts val="600"/>
              </a:spcAft>
              <a:buSzPct val="100000"/>
              <a:buChar char="•"/>
            </a:pPr>
            <a:r>
              <a:rPr lang="ko-KR" altLang="en-US" sz="1500" dirty="0">
                <a:solidFill>
                  <a:schemeClr val="tx1"/>
                </a:solidFill>
              </a:rPr>
              <a:t>사이트 접속·분석 시작 때만 Modal GPU를 깨우고, 앱 서버만 켜서는 기동하지 않음</a:t>
            </a:r>
            <a:endParaRPr lang="ko-KR" altLang="en-US" sz="1700" dirty="0"/>
          </a:p>
          <a:p>
            <a:pPr marL="190500" indent="-190500" eaLnBrk="0">
              <a:lnSpc>
                <a:spcPct val="95000"/>
              </a:lnSpc>
              <a:spcAft>
                <a:spcPts val="600"/>
              </a:spcAft>
              <a:buSzPct val="100000"/>
              <a:buChar char="•"/>
            </a:pPr>
            <a:r>
              <a:rPr lang="ko-KR" altLang="en-US" sz="1500" dirty="0">
                <a:solidFill>
                  <a:schemeClr val="tx1"/>
                </a:solidFill>
              </a:rPr>
              <a:t>켜지는 동안 'AI 분석 서버(GPU)를 켜는 중 · m:ss' 표시, 준비되면 '준비 완료'</a:t>
            </a:r>
            <a:endParaRPr lang="ko-KR" altLang="en-US" sz="1700" dirty="0"/>
          </a:p>
          <a:p>
            <a:pPr marL="190500" indent="-190500" eaLnBrk="0">
              <a:lnSpc>
                <a:spcPct val="95000"/>
              </a:lnSpc>
              <a:spcAft>
                <a:spcPts val="600"/>
              </a:spcAft>
              <a:buSzPct val="100000"/>
              <a:buChar char="•"/>
            </a:pPr>
            <a:r>
              <a:rPr lang="ko-KR" altLang="en-US" sz="1500" dirty="0">
                <a:solidFill>
                  <a:schemeClr val="tx1"/>
                </a:solidFill>
              </a:rPr>
              <a:t>기동 중 들어온 분석 요청은 실패하지 않고 준비될 때까지 대기</a:t>
            </a:r>
            <a:endParaRPr lang="ko-KR" altLang="en-US" sz="1700" dirty="0"/>
          </a:p>
          <a:p>
            <a:pPr marL="0" indent="0" eaLnBrk="0">
              <a:lnSpc>
                <a:spcPct val="95000"/>
              </a:lnSpc>
              <a:spcBef>
                <a:spcPts val="1400"/>
              </a:spcBef>
              <a:spcAft>
                <a:spcPts val="500"/>
              </a:spcAft>
              <a:buNone/>
            </a:pPr>
            <a:r>
              <a:rPr lang="ko-KR" altLang="en-US" sz="1700" b="1" dirty="0">
                <a:solidFill>
                  <a:schemeClr val="accent1"/>
                </a:solidFill>
              </a:rPr>
              <a:t>비용 정책</a:t>
            </a:r>
            <a:endParaRPr lang="ko-KR" altLang="en-US" sz="1700" dirty="0"/>
          </a:p>
          <a:p>
            <a:pPr marL="190500" indent="-190500" eaLnBrk="0">
              <a:lnSpc>
                <a:spcPct val="95000"/>
              </a:lnSpc>
              <a:spcAft>
                <a:spcPts val="600"/>
              </a:spcAft>
              <a:buSzPct val="100000"/>
              <a:buChar char="•"/>
            </a:pPr>
            <a:r>
              <a:rPr lang="ko-KR" altLang="en-US" sz="1500" dirty="0">
                <a:solidFill>
                  <a:schemeClr val="tx1"/>
                </a:solidFill>
              </a:rPr>
              <a:t>마지막 사용 5분 뒤 자동 종료 → 대기 중 요금 0원</a:t>
            </a:r>
            <a:endParaRPr lang="ko-KR" altLang="en-US" sz="1700" dirty="0"/>
          </a:p>
          <a:p>
            <a:pPr marL="190500" indent="-190500" eaLnBrk="0">
              <a:lnSpc>
                <a:spcPct val="95000"/>
              </a:lnSpc>
              <a:spcAft>
                <a:spcPts val="600"/>
              </a:spcAft>
              <a:buSzPct val="100000"/>
              <a:buChar char="•"/>
            </a:pPr>
            <a:r>
              <a:rPr lang="ko-KR" altLang="en-US" sz="1500" dirty="0">
                <a:solidFill>
                  <a:schemeClr val="tx1"/>
                </a:solidFill>
              </a:rPr>
              <a:t>준비되면 상태 확인 중단 → 사용이 없으면 GPU가 제때 꺼짐</a:t>
            </a:r>
            <a:endParaRPr lang="ko-KR" altLang="en-US" sz="1700" dirty="0"/>
          </a:p>
        </p:txBody>
      </p:sp>
      <p:sp>
        <p:nvSpPr>
          <p:cNvPr id="8" name="Text 5"/>
          <p:cNvSpPr txBox="1"/>
          <p:nvPr/>
        </p:nvSpPr>
        <p:spPr>
          <a:xfrm>
            <a:off x="7543800" y="5303520"/>
            <a:ext cx="135331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eaLnBrk="0">
              <a:buNone/>
            </a:pPr>
            <a:r>
              <a:rPr lang="ko-KR" altLang="en-US" sz="2200" b="1" dirty="0">
                <a:solidFill>
                  <a:schemeClr val="accent1"/>
                </a:solidFill>
              </a:rPr>
              <a:t>2분 41초</a:t>
            </a:r>
            <a:endParaRPr lang="ko-KR" altLang="en-US" sz="2200" dirty="0"/>
          </a:p>
          <a:p>
            <a:pPr marL="0" indent="0" eaLnBrk="0">
              <a:buNone/>
            </a:pPr>
            <a:r>
              <a:rPr lang="ko-KR" altLang="en-US" sz="1200" dirty="0">
                <a:solidFill>
                  <a:schemeClr val="tx2"/>
                </a:solidFill>
              </a:rPr>
              <a:t>GPU 콜드 스타트</a:t>
            </a:r>
            <a:endParaRPr lang="ko-KR" altLang="en-US" sz="2200" dirty="0"/>
          </a:p>
        </p:txBody>
      </p:sp>
      <p:sp>
        <p:nvSpPr>
          <p:cNvPr id="9" name="Text 6"/>
          <p:cNvSpPr txBox="1"/>
          <p:nvPr/>
        </p:nvSpPr>
        <p:spPr>
          <a:xfrm>
            <a:off x="8933688" y="5303520"/>
            <a:ext cx="135331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eaLnBrk="0">
              <a:buNone/>
            </a:pPr>
            <a:r>
              <a:rPr lang="ko-KR" altLang="en-US" sz="2200" b="1" dirty="0">
                <a:solidFill>
                  <a:schemeClr val="accent1"/>
                </a:solidFill>
              </a:rPr>
              <a:t>3.6초</a:t>
            </a:r>
            <a:endParaRPr lang="ko-KR" altLang="en-US" sz="2200" dirty="0"/>
          </a:p>
          <a:p>
            <a:pPr marL="0" indent="0" eaLnBrk="0">
              <a:buNone/>
            </a:pPr>
            <a:r>
              <a:rPr lang="ko-KR" altLang="en-US" sz="1200" dirty="0">
                <a:solidFill>
                  <a:schemeClr val="tx2"/>
                </a:solidFill>
              </a:rPr>
              <a:t>켜진 뒤 응답 1건</a:t>
            </a:r>
            <a:endParaRPr lang="ko-KR" altLang="en-US" sz="2200" dirty="0"/>
          </a:p>
        </p:txBody>
      </p:sp>
      <p:sp>
        <p:nvSpPr>
          <p:cNvPr id="10" name="Text 7"/>
          <p:cNvSpPr txBox="1"/>
          <p:nvPr/>
        </p:nvSpPr>
        <p:spPr>
          <a:xfrm>
            <a:off x="10323576" y="5303520"/>
            <a:ext cx="1353312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eaLnBrk="0">
              <a:buNone/>
            </a:pPr>
            <a:r>
              <a:rPr lang="ko-KR" altLang="en-US" sz="2200" b="1" dirty="0">
                <a:solidFill>
                  <a:schemeClr val="accent1"/>
                </a:solidFill>
              </a:rPr>
              <a:t>5분</a:t>
            </a:r>
            <a:endParaRPr lang="ko-KR" altLang="en-US" sz="2200" dirty="0"/>
          </a:p>
          <a:p>
            <a:pPr marL="0" indent="0" eaLnBrk="0">
              <a:buNone/>
            </a:pPr>
            <a:r>
              <a:rPr lang="ko-KR" altLang="en-US" sz="1200" dirty="0">
                <a:solidFill>
                  <a:schemeClr val="tx2"/>
                </a:solidFill>
              </a:rPr>
              <a:t>미사용 시 자동 종료</a:t>
            </a:r>
            <a:endParaRPr lang="ko-KR" alt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400800"/>
            <a:ext cx="548640" cy="29260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100">
                <a:solidFill>
                  <a:srgbClr val="868B9E"/>
                </a:solidFill>
              </a:defRPr>
            </a:lvl1pPr>
          </a:lstStyle>
          <a:p>
            <a:pPr algn="r" eaLnBrk="0"/>
            <a:fld id="{F7021451-1387-4CA6-816F-3879F97B5CBC}" type="slidenum">
              <a:rPr lang="ko-KR" altLang="en-US" b="0"/>
              <a:t>14</a:t>
            </a:fld>
            <a:endParaRPr lang="ko-KR" alt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>
            <a:spLocks noGrp="1"/>
          </p:cNvSpPr>
          <p:nvPr>
            <p:ph type="title" idx="101" hasCustomPrompt="1"/>
          </p:nvPr>
        </p:nvSpPr>
        <p:spPr>
          <a:xfrm>
            <a:off x="1783080" y="347472"/>
            <a:ext cx="982980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 eaLnBrk="0">
              <a:buNone/>
            </a:pPr>
            <a:r>
              <a:rPr lang="ko-KR" altLang="en-US" sz="3000" b="1" dirty="0">
                <a:solidFill>
                  <a:schemeClr val="tx1"/>
                </a:solidFill>
              </a:rPr>
              <a:t>모바일 반응형</a:t>
            </a:r>
            <a:endParaRPr lang="ko-KR" altLang="en-US" sz="3000" dirty="0"/>
          </a:p>
        </p:txBody>
      </p:sp>
      <p:sp>
        <p:nvSpPr>
          <p:cNvPr id="3" name="seal F-15"/>
          <p:cNvSpPr/>
          <p:nvPr/>
        </p:nvSpPr>
        <p:spPr>
          <a:xfrm rot="-300000">
            <a:off x="548640" y="429768"/>
            <a:ext cx="1051560" cy="585216"/>
          </a:xfrm>
          <a:prstGeom prst="roundRect">
            <a:avLst>
              <a:gd name="adj" fmla="val 15625"/>
            </a:avLst>
          </a:prstGeom>
          <a:solidFill>
            <a:schemeClr val="accent1"/>
          </a:solidFill>
          <a:ln w="12700">
            <a:solidFill>
              <a:schemeClr val="accent1"/>
            </a:solidFill>
          </a:ln>
        </p:spPr>
        <p:txBody>
          <a:bodyPr wrap="square" lIns="0" tIns="0" rIns="0" bIns="0" rtlCol="0" anchor="ctr"/>
          <a:lstStyle/>
          <a:p>
            <a:pPr marL="0" indent="0" algn="ctr" eaLnBrk="0">
              <a:buNone/>
            </a:pPr>
            <a:r>
              <a:rPr lang="ko-KR" altLang="en-US" sz="1700" b="1" dirty="0">
                <a:solidFill>
                  <a:schemeClr val="bg1"/>
                </a:solidFill>
              </a:rPr>
              <a:t>F-15</a:t>
            </a:r>
            <a:endParaRPr lang="ko-KR" altLang="en-US" sz="1700" dirty="0"/>
          </a:p>
        </p:txBody>
      </p:sp>
      <p:sp>
        <p:nvSpPr>
          <p:cNvPr id="4" name="frame 19_mobile_main.jpg"/>
          <p:cNvSpPr/>
          <p:nvPr/>
        </p:nvSpPr>
        <p:spPr>
          <a:xfrm>
            <a:off x="512064" y="1243584"/>
            <a:ext cx="2185806" cy="4645152"/>
          </a:xfrm>
          <a:prstGeom prst="rect">
            <a:avLst/>
          </a:prstGeom>
          <a:solidFill>
            <a:schemeClr val="bg1"/>
          </a:solidFill>
          <a:ln w="9525">
            <a:solidFill>
              <a:srgbClr val="D9DBE3"/>
            </a:solidFill>
            <a:prstDash val="solid"/>
          </a:ln>
          <a:effectLst>
            <a:outerShdw blurRad="101600" dist="25400" dir="5400000" algn="bl" rotWithShape="0">
              <a:srgbClr val="1E2233">
                <a:alpha val="18000"/>
              </a:srgbClr>
            </a:outerShdw>
          </a:effectLst>
        </p:spPr>
      </p:sp>
      <p:pic>
        <p:nvPicPr>
          <p:cNvPr id="5" name="screen 19_mobile_main.jpg" descr="19_mobile_main.jp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1280160"/>
            <a:ext cx="2112654" cy="4572000"/>
          </a:xfrm>
          <a:prstGeom prst="rect">
            <a:avLst/>
          </a:prstGeom>
        </p:spPr>
      </p:pic>
      <p:sp>
        <p:nvSpPr>
          <p:cNvPr id="6" name="frame 20_mobile_regions.jpg"/>
          <p:cNvSpPr/>
          <p:nvPr/>
        </p:nvSpPr>
        <p:spPr>
          <a:xfrm>
            <a:off x="2990478" y="1243584"/>
            <a:ext cx="2185806" cy="4645152"/>
          </a:xfrm>
          <a:prstGeom prst="rect">
            <a:avLst/>
          </a:prstGeom>
          <a:solidFill>
            <a:schemeClr val="bg1"/>
          </a:solidFill>
          <a:ln w="9525">
            <a:solidFill>
              <a:srgbClr val="D9DBE3"/>
            </a:solidFill>
            <a:prstDash val="solid"/>
          </a:ln>
          <a:effectLst>
            <a:outerShdw blurRad="101600" dist="25400" dir="5400000" algn="bl" rotWithShape="0">
              <a:srgbClr val="1E2233">
                <a:alpha val="18000"/>
              </a:srgbClr>
            </a:outerShdw>
          </a:effectLst>
        </p:spPr>
      </p:sp>
      <p:pic>
        <p:nvPicPr>
          <p:cNvPr id="7" name="screen 20_mobile_regions.jpg" descr="20_mobile_regions.jp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027054" y="1280160"/>
            <a:ext cx="2112654" cy="4572000"/>
          </a:xfrm>
          <a:prstGeom prst="rect">
            <a:avLst/>
          </a:prstGeom>
        </p:spPr>
      </p:pic>
      <p:sp>
        <p:nvSpPr>
          <p:cNvPr id="8" name="frame 21_mobile_reviews.jpg"/>
          <p:cNvSpPr/>
          <p:nvPr/>
        </p:nvSpPr>
        <p:spPr>
          <a:xfrm>
            <a:off x="5468892" y="1243584"/>
            <a:ext cx="2185806" cy="4645152"/>
          </a:xfrm>
          <a:prstGeom prst="rect">
            <a:avLst/>
          </a:prstGeom>
          <a:solidFill>
            <a:schemeClr val="bg1"/>
          </a:solidFill>
          <a:ln w="9525">
            <a:solidFill>
              <a:srgbClr val="D9DBE3"/>
            </a:solidFill>
            <a:prstDash val="solid"/>
          </a:ln>
          <a:effectLst>
            <a:outerShdw blurRad="101600" dist="25400" dir="5400000" algn="bl" rotWithShape="0">
              <a:srgbClr val="1E2233">
                <a:alpha val="18000"/>
              </a:srgbClr>
            </a:outerShdw>
          </a:effectLst>
        </p:spPr>
      </p:sp>
      <p:pic>
        <p:nvPicPr>
          <p:cNvPr id="9" name="screen 21_mobile_reviews.jpg" descr="21_mobile_reviews.jp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505468" y="1280160"/>
            <a:ext cx="2112654" cy="4572000"/>
          </a:xfrm>
          <a:prstGeom prst="rect">
            <a:avLst/>
          </a:prstGeom>
        </p:spPr>
      </p:pic>
      <p:sp>
        <p:nvSpPr>
          <p:cNvPr id="10" name="Text 5"/>
          <p:cNvSpPr txBox="1"/>
          <p:nvPr/>
        </p:nvSpPr>
        <p:spPr>
          <a:xfrm>
            <a:off x="548640" y="5961888"/>
            <a:ext cx="211265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eaLnBrk="0">
              <a:buNone/>
            </a:pPr>
            <a:r>
              <a:rPr lang="ko-KR" altLang="en-US" sz="1300" dirty="0">
                <a:solidFill>
                  <a:schemeClr val="tx2"/>
                </a:solidFill>
              </a:rPr>
              <a:t>메인</a:t>
            </a:r>
            <a:endParaRPr lang="ko-KR" altLang="en-US" sz="1300" dirty="0"/>
          </a:p>
        </p:txBody>
      </p:sp>
      <p:sp>
        <p:nvSpPr>
          <p:cNvPr id="11" name="Text 6"/>
          <p:cNvSpPr txBox="1"/>
          <p:nvPr/>
        </p:nvSpPr>
        <p:spPr>
          <a:xfrm>
            <a:off x="3027054" y="5961888"/>
            <a:ext cx="211265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eaLnBrk="0">
              <a:buNone/>
            </a:pPr>
            <a:r>
              <a:rPr lang="ko-KR" altLang="en-US" sz="1300" dirty="0">
                <a:solidFill>
                  <a:schemeClr val="tx2"/>
                </a:solidFill>
              </a:rPr>
              <a:t>지역 선택</a:t>
            </a:r>
            <a:endParaRPr lang="ko-KR" altLang="en-US" sz="1300" dirty="0"/>
          </a:p>
        </p:txBody>
      </p:sp>
      <p:sp>
        <p:nvSpPr>
          <p:cNvPr id="12" name="Text 7"/>
          <p:cNvSpPr txBox="1"/>
          <p:nvPr/>
        </p:nvSpPr>
        <p:spPr>
          <a:xfrm>
            <a:off x="5505468" y="5961888"/>
            <a:ext cx="2112654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eaLnBrk="0">
              <a:buNone/>
            </a:pPr>
            <a:r>
              <a:rPr lang="ko-KR" altLang="en-US" sz="1300" dirty="0">
                <a:solidFill>
                  <a:schemeClr val="tx2"/>
                </a:solidFill>
              </a:rPr>
              <a:t>후기 분석</a:t>
            </a:r>
            <a:endParaRPr lang="ko-KR" altLang="en-US" sz="1300" dirty="0"/>
          </a:p>
        </p:txBody>
      </p:sp>
      <p:sp>
        <p:nvSpPr>
          <p:cNvPr id="13" name="description"/>
          <p:cNvSpPr txBox="1"/>
          <p:nvPr/>
        </p:nvSpPr>
        <p:spPr>
          <a:xfrm>
            <a:off x="8258202" y="1280160"/>
            <a:ext cx="3400398" cy="5029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eaLnBrk="0">
              <a:lnSpc>
                <a:spcPct val="95000"/>
              </a:lnSpc>
              <a:spcAft>
                <a:spcPts val="500"/>
              </a:spcAft>
              <a:buNone/>
            </a:pPr>
            <a:r>
              <a:rPr lang="ko-KR" altLang="en-US" sz="1650" b="1" dirty="0">
                <a:solidFill>
                  <a:schemeClr val="accent1"/>
                </a:solidFill>
              </a:rPr>
              <a:t>기능 설명</a:t>
            </a:r>
            <a:endParaRPr lang="ko-KR" altLang="en-US" sz="1650" dirty="0"/>
          </a:p>
          <a:p>
            <a:pPr marL="190500" indent="-190500" eaLnBrk="0">
              <a:lnSpc>
                <a:spcPct val="95000"/>
              </a:lnSpc>
              <a:spcAft>
                <a:spcPts val="600"/>
              </a:spcAft>
              <a:buSzPct val="100000"/>
              <a:buChar char="•"/>
            </a:pPr>
            <a:r>
              <a:rPr lang="ko-KR" altLang="en-US" sz="1450" dirty="0">
                <a:solidFill>
                  <a:schemeClr val="tx1"/>
                </a:solidFill>
              </a:rPr>
              <a:t>스마트폰(390px 폭)에서도 모든 기능 제공</a:t>
            </a:r>
            <a:endParaRPr lang="ko-KR" altLang="en-US" sz="1650" dirty="0"/>
          </a:p>
          <a:p>
            <a:pPr marL="190500" indent="-190500" eaLnBrk="0">
              <a:lnSpc>
                <a:spcPct val="95000"/>
              </a:lnSpc>
              <a:spcAft>
                <a:spcPts val="600"/>
              </a:spcAft>
              <a:buSzPct val="100000"/>
              <a:buChar char="•"/>
            </a:pPr>
            <a:r>
              <a:rPr lang="ko-KR" altLang="en-US" sz="1450" dirty="0">
                <a:solidFill>
                  <a:schemeClr val="tx1"/>
                </a:solidFill>
              </a:rPr>
              <a:t>지역 패널은 세로로 쌓고, 카테고리 탭은 가로 스크롤</a:t>
            </a:r>
            <a:endParaRPr lang="ko-KR" altLang="en-US" sz="1650" dirty="0"/>
          </a:p>
          <a:p>
            <a:pPr marL="190500" indent="-190500" eaLnBrk="0">
              <a:lnSpc>
                <a:spcPct val="95000"/>
              </a:lnSpc>
              <a:spcAft>
                <a:spcPts val="600"/>
              </a:spcAft>
              <a:buSzPct val="100000"/>
              <a:buChar char="•"/>
            </a:pPr>
            <a:r>
              <a:rPr lang="ko-KR" altLang="en-US" sz="1450" dirty="0">
                <a:solidFill>
                  <a:schemeClr val="tx1"/>
                </a:solidFill>
              </a:rPr>
              <a:t>장소 상세는 전체 화면 시트로 표시</a:t>
            </a:r>
            <a:endParaRPr lang="ko-KR" altLang="en-US" sz="1650" dirty="0"/>
          </a:p>
          <a:p>
            <a:pPr marL="0" indent="0" eaLnBrk="0">
              <a:lnSpc>
                <a:spcPct val="95000"/>
              </a:lnSpc>
              <a:spcBef>
                <a:spcPts val="1400"/>
              </a:spcBef>
              <a:spcAft>
                <a:spcPts val="500"/>
              </a:spcAft>
              <a:buNone/>
            </a:pPr>
            <a:r>
              <a:rPr lang="ko-KR" altLang="en-US" sz="1650" b="1" dirty="0">
                <a:solidFill>
                  <a:schemeClr val="accent1"/>
                </a:solidFill>
              </a:rPr>
              <a:t>접근성</a:t>
            </a:r>
            <a:endParaRPr lang="ko-KR" altLang="en-US" sz="1650" dirty="0"/>
          </a:p>
          <a:p>
            <a:pPr marL="190500" indent="-190500" eaLnBrk="0">
              <a:lnSpc>
                <a:spcPct val="95000"/>
              </a:lnSpc>
              <a:spcAft>
                <a:spcPts val="600"/>
              </a:spcAft>
              <a:buSzPct val="100000"/>
              <a:buChar char="•"/>
            </a:pPr>
            <a:r>
              <a:rPr lang="ko-KR" altLang="en-US" sz="1450" dirty="0">
                <a:solidFill>
                  <a:schemeClr val="tx1"/>
                </a:solidFill>
              </a:rPr>
              <a:t>키보드 초점 표시, 상세 시트 Esc로 닫기</a:t>
            </a:r>
            <a:endParaRPr lang="ko-KR" altLang="en-US" sz="1650" dirty="0"/>
          </a:p>
          <a:p>
            <a:pPr marL="190500" indent="-190500" eaLnBrk="0">
              <a:lnSpc>
                <a:spcPct val="95000"/>
              </a:lnSpc>
              <a:spcAft>
                <a:spcPts val="600"/>
              </a:spcAft>
              <a:buSzPct val="100000"/>
              <a:buChar char="•"/>
            </a:pPr>
            <a:r>
              <a:rPr lang="ko-KR" altLang="en-US" sz="1450" dirty="0">
                <a:solidFill>
                  <a:schemeClr val="tx1"/>
                </a:solidFill>
              </a:rPr>
              <a:t>'움직임 줄이기' 설정 시 애니메이션 최소화</a:t>
            </a:r>
            <a:endParaRPr lang="ko-KR" altLang="en-US" sz="1650" dirty="0"/>
          </a:p>
          <a:p>
            <a:pPr marL="190500" indent="-190500" eaLnBrk="0">
              <a:lnSpc>
                <a:spcPct val="95000"/>
              </a:lnSpc>
              <a:spcAft>
                <a:spcPts val="600"/>
              </a:spcAft>
              <a:buSzPct val="100000"/>
              <a:buChar char="•"/>
            </a:pPr>
            <a:r>
              <a:rPr lang="ko-KR" altLang="en-US" sz="1450" dirty="0">
                <a:solidFill>
                  <a:schemeClr val="tx1"/>
                </a:solidFill>
              </a:rPr>
              <a:t>도장 배지와 글자 라벨을 함께 표시해 색에만 의존하지 않음</a:t>
            </a:r>
            <a:endParaRPr lang="ko-KR" altLang="en-US" sz="16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400800"/>
            <a:ext cx="548640" cy="29260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100">
                <a:solidFill>
                  <a:srgbClr val="868B9E"/>
                </a:solidFill>
              </a:defRPr>
            </a:lvl1pPr>
          </a:lstStyle>
          <a:p>
            <a:pPr algn="r" eaLnBrk="0"/>
            <a:fld id="{F7021451-1387-4CA6-816F-3879F97B5CBC}" type="slidenum">
              <a:rPr lang="ko-KR" altLang="en-US" b="0"/>
              <a:t>15</a:t>
            </a:fld>
            <a:endParaRPr lang="ko-KR" alt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>
            <a:spLocks noGrp="1"/>
          </p:cNvSpPr>
          <p:nvPr>
            <p:ph type="title" idx="101" hasCustomPrompt="1"/>
          </p:nvPr>
        </p:nvSpPr>
        <p:spPr>
          <a:xfrm>
            <a:off x="548640" y="347472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 eaLnBrk="0">
              <a:buNone/>
            </a:pPr>
            <a:r>
              <a:rPr lang="ko-KR" altLang="en-US" sz="3000" b="1" dirty="0">
                <a:solidFill>
                  <a:schemeClr val="tx1"/>
                </a:solidFill>
              </a:rPr>
              <a:t>신뢰도 판정 파이프라인</a:t>
            </a:r>
            <a:endParaRPr lang="ko-KR" altLang="en-US" sz="3000" dirty="0"/>
          </a:p>
        </p:txBody>
      </p:sp>
      <p:sp>
        <p:nvSpPr>
          <p:cNvPr id="3" name="step 1"/>
          <p:cNvSpPr/>
          <p:nvPr/>
        </p:nvSpPr>
        <p:spPr>
          <a:xfrm>
            <a:off x="548640" y="1234440"/>
            <a:ext cx="1463040" cy="2057400"/>
          </a:xfrm>
          <a:prstGeom prst="roundRect">
            <a:avLst>
              <a:gd name="adj" fmla="val 625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Text 2"/>
          <p:cNvSpPr/>
          <p:nvPr/>
        </p:nvSpPr>
        <p:spPr>
          <a:xfrm>
            <a:off x="685800" y="1371600"/>
            <a:ext cx="384048" cy="384048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 wrap="square" lIns="0" tIns="0" rIns="0" bIns="0" rtlCol="0" anchor="ctr"/>
          <a:lstStyle/>
          <a:p>
            <a:pPr marL="0" indent="0" algn="ctr" eaLnBrk="0">
              <a:buNone/>
            </a:pPr>
            <a:r>
              <a:rPr lang="ko-KR" altLang="en-US" sz="1200" b="1" dirty="0">
                <a:solidFill>
                  <a:schemeClr val="bg1"/>
                </a:solidFill>
              </a:rPr>
              <a:t>1</a:t>
            </a:r>
            <a:endParaRPr lang="ko-KR" altLang="en-US" sz="1200" dirty="0"/>
          </a:p>
        </p:txBody>
      </p:sp>
      <p:sp>
        <p:nvSpPr>
          <p:cNvPr id="5" name="Text 3"/>
          <p:cNvSpPr txBox="1"/>
          <p:nvPr/>
        </p:nvSpPr>
        <p:spPr>
          <a:xfrm>
            <a:off x="667512" y="1837944"/>
            <a:ext cx="1243584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eaLnBrk="0">
              <a:spcAft>
                <a:spcPts val="300"/>
              </a:spcAft>
              <a:buNone/>
            </a:pPr>
            <a:r>
              <a:rPr lang="ko-KR" altLang="en-US" sz="1400" b="1" dirty="0">
                <a:solidFill>
                  <a:schemeClr val="tx1"/>
                </a:solidFill>
              </a:rPr>
              <a:t>수집</a:t>
            </a:r>
            <a:endParaRPr lang="ko-KR" altLang="en-US" sz="1400" dirty="0"/>
          </a:p>
          <a:p>
            <a:pPr marL="0" indent="0" eaLnBrk="0">
              <a:buNone/>
            </a:pPr>
            <a:r>
              <a:rPr lang="ko-KR" altLang="en-US" sz="1350" dirty="0">
                <a:solidFill>
                  <a:schemeClr val="tx2"/>
                </a:solidFill>
              </a:rPr>
              <a:t>TourAPI 장소 + 네이버 블로그 검색 요약</a:t>
            </a:r>
            <a:endParaRPr lang="ko-KR" altLang="en-US" sz="1400" dirty="0"/>
          </a:p>
        </p:txBody>
      </p:sp>
      <p:sp>
        <p:nvSpPr>
          <p:cNvPr id="6" name="step 2"/>
          <p:cNvSpPr/>
          <p:nvPr/>
        </p:nvSpPr>
        <p:spPr>
          <a:xfrm>
            <a:off x="2148840" y="1234440"/>
            <a:ext cx="1463040" cy="2057400"/>
          </a:xfrm>
          <a:prstGeom prst="roundRect">
            <a:avLst>
              <a:gd name="adj" fmla="val 625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7" name="Text 5"/>
          <p:cNvSpPr/>
          <p:nvPr/>
        </p:nvSpPr>
        <p:spPr>
          <a:xfrm>
            <a:off x="2286000" y="1371600"/>
            <a:ext cx="384048" cy="384048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 wrap="square" lIns="0" tIns="0" rIns="0" bIns="0" rtlCol="0" anchor="ctr"/>
          <a:lstStyle/>
          <a:p>
            <a:pPr marL="0" indent="0" algn="ctr" eaLnBrk="0">
              <a:buNone/>
            </a:pPr>
            <a:r>
              <a:rPr lang="ko-KR" altLang="en-US" sz="1200" b="1" dirty="0">
                <a:solidFill>
                  <a:schemeClr val="bg1"/>
                </a:solidFill>
              </a:rPr>
              <a:t>2</a:t>
            </a:r>
            <a:endParaRPr lang="ko-KR" altLang="en-US" sz="1200" dirty="0"/>
          </a:p>
        </p:txBody>
      </p:sp>
      <p:sp>
        <p:nvSpPr>
          <p:cNvPr id="8" name="Text 6"/>
          <p:cNvSpPr txBox="1"/>
          <p:nvPr/>
        </p:nvSpPr>
        <p:spPr>
          <a:xfrm>
            <a:off x="2267712" y="1837944"/>
            <a:ext cx="1243584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eaLnBrk="0">
              <a:spcAft>
                <a:spcPts val="300"/>
              </a:spcAft>
              <a:buNone/>
            </a:pPr>
            <a:r>
              <a:rPr lang="ko-KR" altLang="en-US" sz="1400" b="1" dirty="0">
                <a:solidFill>
                  <a:schemeClr val="tx1"/>
                </a:solidFill>
              </a:rPr>
              <a:t>개인정보 가리기</a:t>
            </a:r>
            <a:endParaRPr lang="ko-KR" altLang="en-US" sz="1400" dirty="0"/>
          </a:p>
          <a:p>
            <a:pPr marL="0" indent="0" eaLnBrk="0">
              <a:buNone/>
            </a:pPr>
            <a:r>
              <a:rPr lang="ko-KR" altLang="en-US" sz="1350" dirty="0">
                <a:solidFill>
                  <a:schemeClr val="tx2"/>
                </a:solidFill>
              </a:rPr>
              <a:t>전화, 이메일, 주민번호, 카드, 계좌, 메신저 ID</a:t>
            </a:r>
            <a:endParaRPr lang="ko-KR" altLang="en-US" sz="1400" dirty="0"/>
          </a:p>
        </p:txBody>
      </p:sp>
      <p:sp>
        <p:nvSpPr>
          <p:cNvPr id="9" name="step 3"/>
          <p:cNvSpPr/>
          <p:nvPr/>
        </p:nvSpPr>
        <p:spPr>
          <a:xfrm>
            <a:off x="3749040" y="1234440"/>
            <a:ext cx="1463040" cy="2057400"/>
          </a:xfrm>
          <a:prstGeom prst="roundRect">
            <a:avLst>
              <a:gd name="adj" fmla="val 625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Text 8"/>
          <p:cNvSpPr/>
          <p:nvPr/>
        </p:nvSpPr>
        <p:spPr>
          <a:xfrm>
            <a:off x="3886200" y="1371600"/>
            <a:ext cx="384048" cy="384048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 wrap="square" lIns="0" tIns="0" rIns="0" bIns="0" rtlCol="0" anchor="ctr"/>
          <a:lstStyle/>
          <a:p>
            <a:pPr marL="0" indent="0" algn="ctr" eaLnBrk="0">
              <a:buNone/>
            </a:pPr>
            <a:r>
              <a:rPr lang="ko-KR" altLang="en-US" sz="1200" b="1" dirty="0">
                <a:solidFill>
                  <a:schemeClr val="bg1"/>
                </a:solidFill>
              </a:rPr>
              <a:t>3</a:t>
            </a:r>
            <a:endParaRPr lang="ko-KR" altLang="en-US" sz="1200" dirty="0"/>
          </a:p>
        </p:txBody>
      </p:sp>
      <p:sp>
        <p:nvSpPr>
          <p:cNvPr id="11" name="Text 9"/>
          <p:cNvSpPr txBox="1"/>
          <p:nvPr/>
        </p:nvSpPr>
        <p:spPr>
          <a:xfrm>
            <a:off x="3867912" y="1837944"/>
            <a:ext cx="1243584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eaLnBrk="0">
              <a:spcAft>
                <a:spcPts val="300"/>
              </a:spcAft>
              <a:buNone/>
            </a:pPr>
            <a:r>
              <a:rPr lang="ko-KR" altLang="en-US" sz="1400" b="1" dirty="0">
                <a:solidFill>
                  <a:schemeClr val="tx1"/>
                </a:solidFill>
              </a:rPr>
              <a:t>숨은 명령 차단</a:t>
            </a:r>
            <a:endParaRPr lang="ko-KR" altLang="en-US" sz="1400" dirty="0"/>
          </a:p>
          <a:p>
            <a:pPr marL="0" indent="0" eaLnBrk="0">
              <a:buNone/>
            </a:pPr>
            <a:r>
              <a:rPr lang="ko-KR" altLang="en-US" sz="1350" dirty="0">
                <a:solidFill>
                  <a:schemeClr val="tx2"/>
                </a:solidFill>
              </a:rPr>
              <a:t>규칙 탐지 시 AI에 전달 X</a:t>
            </a:r>
            <a:endParaRPr lang="ko-KR" altLang="en-US" sz="1400" dirty="0"/>
          </a:p>
        </p:txBody>
      </p:sp>
      <p:sp>
        <p:nvSpPr>
          <p:cNvPr id="12" name="step 4"/>
          <p:cNvSpPr/>
          <p:nvPr/>
        </p:nvSpPr>
        <p:spPr>
          <a:xfrm>
            <a:off x="5349240" y="1234440"/>
            <a:ext cx="1463040" cy="2057400"/>
          </a:xfrm>
          <a:prstGeom prst="roundRect">
            <a:avLst>
              <a:gd name="adj" fmla="val 625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5486400" y="1371600"/>
            <a:ext cx="384048" cy="384048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 wrap="square" lIns="0" tIns="0" rIns="0" bIns="0" rtlCol="0" anchor="ctr"/>
          <a:lstStyle/>
          <a:p>
            <a:pPr marL="0" indent="0" algn="ctr" eaLnBrk="0">
              <a:buNone/>
            </a:pPr>
            <a:r>
              <a:rPr lang="ko-KR" altLang="en-US" sz="1200" b="1" dirty="0">
                <a:solidFill>
                  <a:schemeClr val="bg1"/>
                </a:solidFill>
              </a:rPr>
              <a:t>4</a:t>
            </a:r>
            <a:endParaRPr lang="ko-KR" altLang="en-US" sz="1200" dirty="0"/>
          </a:p>
        </p:txBody>
      </p:sp>
      <p:sp>
        <p:nvSpPr>
          <p:cNvPr id="14" name="Text 12"/>
          <p:cNvSpPr txBox="1"/>
          <p:nvPr/>
        </p:nvSpPr>
        <p:spPr>
          <a:xfrm>
            <a:off x="5468112" y="1837944"/>
            <a:ext cx="1243584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eaLnBrk="0">
              <a:spcAft>
                <a:spcPts val="300"/>
              </a:spcAft>
              <a:buNone/>
            </a:pPr>
            <a:r>
              <a:rPr lang="ko-KR" altLang="en-US" sz="1400" b="1" dirty="0">
                <a:solidFill>
                  <a:schemeClr val="tx1"/>
                </a:solidFill>
              </a:rPr>
              <a:t>협찬 고지 확인</a:t>
            </a:r>
            <a:endParaRPr lang="ko-KR" altLang="en-US" sz="1400" dirty="0"/>
          </a:p>
          <a:p>
            <a:pPr marL="0" indent="0" eaLnBrk="0">
              <a:buNone/>
            </a:pPr>
            <a:r>
              <a:rPr lang="ko-KR" altLang="en-US" sz="1350" dirty="0">
                <a:solidFill>
                  <a:schemeClr val="tx2"/>
                </a:solidFill>
              </a:rPr>
              <a:t>공정위 표기 → 숨기지 않고 표시</a:t>
            </a:r>
            <a:endParaRPr lang="ko-KR" altLang="en-US" sz="1400" dirty="0"/>
          </a:p>
        </p:txBody>
      </p:sp>
      <p:sp>
        <p:nvSpPr>
          <p:cNvPr id="15" name="step 5"/>
          <p:cNvSpPr/>
          <p:nvPr/>
        </p:nvSpPr>
        <p:spPr>
          <a:xfrm>
            <a:off x="6949440" y="1234440"/>
            <a:ext cx="1463040" cy="2057400"/>
          </a:xfrm>
          <a:prstGeom prst="roundRect">
            <a:avLst>
              <a:gd name="adj" fmla="val 625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6" name="Text 14"/>
          <p:cNvSpPr/>
          <p:nvPr/>
        </p:nvSpPr>
        <p:spPr>
          <a:xfrm>
            <a:off x="7086600" y="1371600"/>
            <a:ext cx="384048" cy="384048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 wrap="square" lIns="0" tIns="0" rIns="0" bIns="0" rtlCol="0" anchor="ctr"/>
          <a:lstStyle/>
          <a:p>
            <a:pPr marL="0" indent="0" algn="ctr" eaLnBrk="0">
              <a:buNone/>
            </a:pPr>
            <a:r>
              <a:rPr lang="ko-KR" altLang="en-US" sz="1200" b="1" dirty="0">
                <a:solidFill>
                  <a:schemeClr val="bg1"/>
                </a:solidFill>
              </a:rPr>
              <a:t>5</a:t>
            </a:r>
            <a:endParaRPr lang="ko-KR" altLang="en-US" sz="1200" dirty="0"/>
          </a:p>
        </p:txBody>
      </p:sp>
      <p:sp>
        <p:nvSpPr>
          <p:cNvPr id="17" name="Text 15"/>
          <p:cNvSpPr txBox="1"/>
          <p:nvPr/>
        </p:nvSpPr>
        <p:spPr>
          <a:xfrm>
            <a:off x="7068312" y="1837944"/>
            <a:ext cx="1243584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eaLnBrk="0">
              <a:spcAft>
                <a:spcPts val="300"/>
              </a:spcAft>
              <a:buNone/>
            </a:pPr>
            <a:r>
              <a:rPr lang="ko-KR" altLang="en-US" sz="1400" b="1" dirty="0">
                <a:solidFill>
                  <a:schemeClr val="tx1"/>
                </a:solidFill>
              </a:rPr>
              <a:t>문맥 읽기</a:t>
            </a:r>
            <a:endParaRPr lang="ko-KR" altLang="en-US" sz="1400" dirty="0"/>
          </a:p>
          <a:p>
            <a:pPr marL="0" indent="0" eaLnBrk="0">
              <a:buNone/>
            </a:pPr>
            <a:r>
              <a:rPr lang="ko-KR" altLang="en-US" sz="1350" dirty="0">
                <a:solidFill>
                  <a:schemeClr val="tx2"/>
                </a:solidFill>
              </a:rPr>
              <a:t>Qwen2.5-7B 보안 분류 · 숨은 광고 판단 · 번역</a:t>
            </a:r>
            <a:endParaRPr lang="ko-KR" altLang="en-US" sz="1400" dirty="0"/>
          </a:p>
        </p:txBody>
      </p:sp>
      <p:sp>
        <p:nvSpPr>
          <p:cNvPr id="18" name="step 6"/>
          <p:cNvSpPr/>
          <p:nvPr/>
        </p:nvSpPr>
        <p:spPr>
          <a:xfrm>
            <a:off x="8549640" y="1234440"/>
            <a:ext cx="1463040" cy="2057400"/>
          </a:xfrm>
          <a:prstGeom prst="roundRect">
            <a:avLst>
              <a:gd name="adj" fmla="val 6250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9" name="Text 17"/>
          <p:cNvSpPr/>
          <p:nvPr/>
        </p:nvSpPr>
        <p:spPr>
          <a:xfrm>
            <a:off x="8686800" y="1371600"/>
            <a:ext cx="384048" cy="384048"/>
          </a:xfrm>
          <a:prstGeom prst="ellipse">
            <a:avLst/>
          </a:prstGeom>
          <a:solidFill>
            <a:schemeClr val="tx1"/>
          </a:solidFill>
          <a:ln>
            <a:solidFill>
              <a:schemeClr val="tx1"/>
            </a:solidFill>
          </a:ln>
        </p:spPr>
        <p:txBody>
          <a:bodyPr wrap="square" lIns="0" tIns="0" rIns="0" bIns="0" rtlCol="0" anchor="ctr"/>
          <a:lstStyle/>
          <a:p>
            <a:pPr marL="0" indent="0" algn="ctr" eaLnBrk="0">
              <a:buNone/>
            </a:pPr>
            <a:r>
              <a:rPr lang="ko-KR" altLang="en-US" sz="1200" b="1" dirty="0">
                <a:solidFill>
                  <a:schemeClr val="bg1"/>
                </a:solidFill>
              </a:rPr>
              <a:t>6</a:t>
            </a:r>
            <a:endParaRPr lang="ko-KR" altLang="en-US" sz="1200" dirty="0"/>
          </a:p>
        </p:txBody>
      </p:sp>
      <p:sp>
        <p:nvSpPr>
          <p:cNvPr id="20" name="Text 18"/>
          <p:cNvSpPr txBox="1"/>
          <p:nvPr/>
        </p:nvSpPr>
        <p:spPr>
          <a:xfrm>
            <a:off x="8668512" y="1837944"/>
            <a:ext cx="1243584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eaLnBrk="0">
              <a:spcAft>
                <a:spcPts val="300"/>
              </a:spcAft>
              <a:buNone/>
            </a:pPr>
            <a:r>
              <a:rPr lang="ko-KR" altLang="en-US" sz="1400" b="1" dirty="0">
                <a:solidFill>
                  <a:schemeClr val="tx1"/>
                </a:solidFill>
              </a:rPr>
              <a:t>AI 작성 판별</a:t>
            </a:r>
            <a:endParaRPr lang="ko-KR" altLang="en-US" sz="1400" dirty="0"/>
          </a:p>
          <a:p>
            <a:pPr marL="0" indent="0" eaLnBrk="0">
              <a:buNone/>
            </a:pPr>
            <a:r>
              <a:rPr lang="ko-KR" altLang="en-US" sz="1350" dirty="0">
                <a:solidFill>
                  <a:schemeClr val="tx2"/>
                </a:solidFill>
              </a:rPr>
              <a:t>Fast-DetectGPT + Qwen 문체 평균</a:t>
            </a:r>
            <a:endParaRPr lang="ko-KR" altLang="en-US" sz="1400" dirty="0"/>
          </a:p>
        </p:txBody>
      </p:sp>
      <p:sp>
        <p:nvSpPr>
          <p:cNvPr id="21" name="step 7"/>
          <p:cNvSpPr/>
          <p:nvPr/>
        </p:nvSpPr>
        <p:spPr>
          <a:xfrm>
            <a:off x="10149840" y="1234440"/>
            <a:ext cx="1463040" cy="2057400"/>
          </a:xfrm>
          <a:prstGeom prst="roundRect">
            <a:avLst>
              <a:gd name="adj" fmla="val 6250"/>
            </a:avLst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22" name="Text 20"/>
          <p:cNvSpPr/>
          <p:nvPr/>
        </p:nvSpPr>
        <p:spPr>
          <a:xfrm>
            <a:off x="10287000" y="1371600"/>
            <a:ext cx="384048" cy="384048"/>
          </a:xfrm>
          <a:prstGeom prst="ellipse">
            <a:avLst/>
          </a:prstGeom>
          <a:solidFill>
            <a:schemeClr val="accent1"/>
          </a:solidFill>
          <a:ln>
            <a:solidFill>
              <a:schemeClr val="accent1"/>
            </a:solidFill>
          </a:ln>
        </p:spPr>
        <p:txBody>
          <a:bodyPr wrap="square" lIns="0" tIns="0" rIns="0" bIns="0" rtlCol="0" anchor="ctr"/>
          <a:lstStyle/>
          <a:p>
            <a:pPr marL="0" indent="0" algn="ctr" eaLnBrk="0">
              <a:buNone/>
            </a:pPr>
            <a:r>
              <a:rPr lang="ko-KR" altLang="en-US" sz="1200" b="1" dirty="0">
                <a:solidFill>
                  <a:schemeClr val="bg1"/>
                </a:solidFill>
              </a:rPr>
              <a:t>7</a:t>
            </a:r>
            <a:endParaRPr lang="ko-KR" alt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10268712" y="1837944"/>
            <a:ext cx="1243584" cy="1417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eaLnBrk="0">
              <a:spcAft>
                <a:spcPts val="300"/>
              </a:spcAft>
              <a:buNone/>
            </a:pPr>
            <a:r>
              <a:rPr lang="ko-KR" altLang="en-US" sz="1400" b="1" dirty="0">
                <a:solidFill>
                  <a:schemeClr val="tx1"/>
                </a:solidFill>
              </a:rPr>
              <a:t>판정 도장</a:t>
            </a:r>
            <a:endParaRPr lang="ko-KR" altLang="en-US" sz="1400" dirty="0"/>
          </a:p>
          <a:p>
            <a:pPr marL="0" indent="0" eaLnBrk="0">
              <a:buNone/>
            </a:pPr>
            <a:r>
              <a:rPr lang="ko-KR" altLang="en-US" sz="1350" dirty="0">
                <a:solidFill>
                  <a:schemeClr val="tx2"/>
                </a:solidFill>
              </a:rPr>
              <a:t>신뢰, 참고, 협찬 고지, 의심, 차단</a:t>
            </a:r>
            <a:endParaRPr lang="ko-KR" altLang="en-US" sz="1400" dirty="0"/>
          </a:p>
        </p:txBody>
      </p:sp>
      <p:graphicFrame>
        <p:nvGraphicFramePr>
          <p:cNvPr id="24" name="badge rules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3520440"/>
          <a:ext cx="6766560" cy="914400"/>
        </p:xfrm>
        <a:graphic>
          <a:graphicData uri="http://schemas.openxmlformats.org/drawingml/2006/table">
            <a:tbl>
              <a:tblPr/>
              <a:tblGrid>
                <a:gridCol w="178308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1546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82880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</a:tblGrid>
              <a:tr h="429768">
                <a:tc>
                  <a:txBody>
                    <a:bodyPr/>
                    <a:lstStyle/>
                    <a:p>
                      <a:pPr marL="0" indent="0" eaLnBrk="0">
                        <a:buNone/>
                      </a:pPr>
                      <a:r>
                        <a:rPr lang="ko-KR" altLang="en-US" sz="1350" b="1" dirty="0">
                          <a:solidFill>
                            <a:schemeClr val="bg1"/>
                          </a:solidFill>
                        </a:rPr>
                        <a:t>배지</a:t>
                      </a:r>
                      <a:endParaRPr lang="ko-KR" altLang="en-US" sz="135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0">
                        <a:buNone/>
                      </a:pPr>
                      <a:r>
                        <a:rPr lang="ko-KR" altLang="en-US" sz="1350" b="1" dirty="0">
                          <a:solidFill>
                            <a:schemeClr val="bg1"/>
                          </a:solidFill>
                        </a:rPr>
                        <a:t>조건</a:t>
                      </a:r>
                      <a:endParaRPr lang="ko-KR" altLang="en-US" sz="135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0">
                        <a:buNone/>
                      </a:pPr>
                      <a:r>
                        <a:rPr lang="ko-KR" altLang="en-US" sz="1350" b="1" dirty="0">
                          <a:solidFill>
                            <a:schemeClr val="bg1"/>
                          </a:solidFill>
                        </a:rPr>
                        <a:t>화면 표시</a:t>
                      </a:r>
                      <a:endParaRPr lang="ko-KR" altLang="en-US" sz="135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429768">
                <a:tc>
                  <a:txBody>
                    <a:bodyPr/>
                    <a:lstStyle/>
                    <a:p>
                      <a:pPr marL="0" indent="0" eaLnBrk="0">
                        <a:buNone/>
                      </a:pPr>
                      <a:r>
                        <a:rPr lang="ko-KR" altLang="en-US" sz="1350" b="1" dirty="0">
                          <a:solidFill>
                            <a:schemeClr val="accent2"/>
                          </a:solidFill>
                        </a:rPr>
                        <a:t>신뢰</a:t>
                      </a:r>
                      <a:endParaRPr lang="ko-KR" altLang="en-US" sz="135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eaLnBrk="0">
                        <a:buNone/>
                      </a:pPr>
                      <a:r>
                        <a:rPr lang="ko-KR" altLang="en-US" sz="1350" dirty="0">
                          <a:solidFill>
                            <a:schemeClr val="tx1"/>
                          </a:solidFill>
                        </a:rPr>
                        <a:t>점수 ≥ 0.70</a:t>
                      </a:r>
                      <a:endParaRPr lang="ko-KR" altLang="en-US" sz="135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eaLnBrk="0">
                        <a:buNone/>
                      </a:pPr>
                      <a:r>
                        <a:rPr lang="ko-KR" altLang="en-US" sz="1350" dirty="0">
                          <a:solidFill>
                            <a:schemeClr val="tx1"/>
                          </a:solidFill>
                        </a:rPr>
                        <a:t>기본 노출</a:t>
                      </a:r>
                      <a:endParaRPr lang="ko-KR" altLang="en-US" sz="135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429768">
                <a:tc>
                  <a:txBody>
                    <a:bodyPr/>
                    <a:lstStyle/>
                    <a:p>
                      <a:pPr marL="0" indent="0" eaLnBrk="0">
                        <a:buNone/>
                      </a:pPr>
                      <a:r>
                        <a:rPr lang="ko-KR" altLang="en-US" sz="1350" b="1" dirty="0">
                          <a:solidFill>
                            <a:schemeClr val="accent3"/>
                          </a:solidFill>
                        </a:rPr>
                        <a:t>참고</a:t>
                      </a:r>
                      <a:endParaRPr lang="ko-KR" altLang="en-US" sz="135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eaLnBrk="0">
                        <a:buNone/>
                      </a:pPr>
                      <a:r>
                        <a:rPr lang="ko-KR" altLang="en-US" sz="1350" dirty="0">
                          <a:solidFill>
                            <a:schemeClr val="tx1"/>
                          </a:solidFill>
                        </a:rPr>
                        <a:t>0.40 ≤ 점수 &lt; 0.70, 또는 AI 분석 실패</a:t>
                      </a:r>
                      <a:endParaRPr lang="ko-KR" altLang="en-US" sz="135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eaLnBrk="0">
                        <a:buNone/>
                      </a:pPr>
                      <a:r>
                        <a:rPr lang="ko-KR" altLang="en-US" sz="1350" dirty="0">
                          <a:solidFill>
                            <a:schemeClr val="tx1"/>
                          </a:solidFill>
                        </a:rPr>
                        <a:t>기본 노출</a:t>
                      </a:r>
                      <a:endParaRPr lang="ko-KR" altLang="en-US" sz="135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429768">
                <a:tc>
                  <a:txBody>
                    <a:bodyPr/>
                    <a:lstStyle/>
                    <a:p>
                      <a:pPr marL="0" indent="0" eaLnBrk="0">
                        <a:buNone/>
                      </a:pPr>
                      <a:r>
                        <a:rPr lang="ko-KR" altLang="en-US" sz="1350" b="1" dirty="0">
                          <a:solidFill>
                            <a:srgbClr val="2D5F8F"/>
                          </a:solidFill>
                        </a:rPr>
                        <a:t>협찬 고지</a:t>
                      </a:r>
                      <a:endParaRPr lang="ko-KR" altLang="en-US" sz="135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eaLnBrk="0">
                        <a:buNone/>
                      </a:pPr>
                      <a:r>
                        <a:rPr lang="ko-KR" altLang="en-US" sz="1350" dirty="0">
                          <a:solidFill>
                            <a:schemeClr val="tx1"/>
                          </a:solidFill>
                        </a:rPr>
                        <a:t>협찬을 밝힌 글 (공정위 표기)</a:t>
                      </a:r>
                      <a:endParaRPr lang="ko-KR" altLang="en-US" sz="135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eaLnBrk="0">
                        <a:buNone/>
                      </a:pPr>
                      <a:r>
                        <a:rPr lang="ko-KR" altLang="en-US" sz="1350" dirty="0">
                          <a:solidFill>
                            <a:schemeClr val="tx1"/>
                          </a:solidFill>
                        </a:rPr>
                        <a:t>기본 노출 · 협찬 표시</a:t>
                      </a:r>
                      <a:endParaRPr lang="ko-KR" altLang="en-US" sz="135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429768">
                <a:tc>
                  <a:txBody>
                    <a:bodyPr/>
                    <a:lstStyle/>
                    <a:p>
                      <a:pPr marL="0" indent="0" eaLnBrk="0">
                        <a:buNone/>
                      </a:pPr>
                      <a:r>
                        <a:rPr lang="ko-KR" altLang="en-US" sz="1350" b="1" dirty="0">
                          <a:solidFill>
                            <a:schemeClr val="accent1"/>
                          </a:solidFill>
                        </a:rPr>
                        <a:t>숨은 광고·AI 의심</a:t>
                      </a:r>
                      <a:endParaRPr lang="ko-KR" altLang="en-US" sz="135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eaLnBrk="0">
                        <a:buNone/>
                      </a:pPr>
                      <a:r>
                        <a:rPr lang="ko-KR" altLang="en-US" sz="1350" dirty="0">
                          <a:solidFill>
                            <a:schemeClr val="tx1"/>
                          </a:solidFill>
                        </a:rPr>
                        <a:t>표기 없는 홍보, 또는 점수 &lt; 0.40</a:t>
                      </a:r>
                      <a:endParaRPr lang="ko-KR" altLang="en-US" sz="135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eaLnBrk="0">
                        <a:buNone/>
                      </a:pPr>
                      <a:r>
                        <a:rPr lang="ko-KR" altLang="en-US" sz="1350" dirty="0">
                          <a:solidFill>
                            <a:schemeClr val="tx1"/>
                          </a:solidFill>
                        </a:rPr>
                        <a:t>기본 숨김 · 펼치기</a:t>
                      </a:r>
                      <a:endParaRPr lang="ko-KR" altLang="en-US" sz="135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429768">
                <a:tc>
                  <a:txBody>
                    <a:bodyPr/>
                    <a:lstStyle/>
                    <a:p>
                      <a:pPr marL="0" indent="0" eaLnBrk="0">
                        <a:buNone/>
                      </a:pPr>
                      <a:r>
                        <a:rPr lang="ko-KR" altLang="en-US" sz="1350" b="1" dirty="0">
                          <a:solidFill>
                            <a:schemeClr val="tx1"/>
                          </a:solidFill>
                        </a:rPr>
                        <a:t>차단</a:t>
                      </a:r>
                      <a:endParaRPr lang="ko-KR" altLang="en-US" sz="135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eaLnBrk="0">
                        <a:buNone/>
                      </a:pPr>
                      <a:r>
                        <a:rPr lang="ko-KR" altLang="en-US" sz="1350" dirty="0">
                          <a:solidFill>
                            <a:schemeClr val="tx1"/>
                          </a:solidFill>
                        </a:rPr>
                        <a:t>프롬프트 인젝션 탐지</a:t>
                      </a:r>
                      <a:endParaRPr lang="ko-KR" altLang="en-US" sz="135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eaLnBrk="0">
                        <a:buNone/>
                      </a:pPr>
                      <a:r>
                        <a:rPr lang="ko-KR" altLang="en-US" sz="1350" dirty="0">
                          <a:solidFill>
                            <a:schemeClr val="tx1"/>
                          </a:solidFill>
                        </a:rPr>
                        <a:t>분석 안 함 · 사유 표시</a:t>
                      </a:r>
                      <a:endParaRPr lang="ko-KR" altLang="en-US" sz="1350" dirty="0"/>
                    </a:p>
                  </a:txBody>
                  <a:tcPr marL="54864" marR="54864" marT="54864" marB="54864" anchor="ctr">
                    <a:lnL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</a:tbl>
          </a:graphicData>
        </a:graphic>
      </p:graphicFrame>
      <p:sp>
        <p:nvSpPr>
          <p:cNvPr id="25" name="description"/>
          <p:cNvSpPr txBox="1"/>
          <p:nvPr/>
        </p:nvSpPr>
        <p:spPr>
          <a:xfrm>
            <a:off x="7589520" y="3566160"/>
            <a:ext cx="4069080" cy="2743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eaLnBrk="0">
              <a:lnSpc>
                <a:spcPct val="95000"/>
              </a:lnSpc>
              <a:spcAft>
                <a:spcPts val="500"/>
              </a:spcAft>
              <a:buNone/>
            </a:pPr>
            <a:r>
              <a:rPr lang="ko-KR" altLang="en-US" sz="1550" b="1" dirty="0">
                <a:solidFill>
                  <a:schemeClr val="accent1"/>
                </a:solidFill>
              </a:rPr>
              <a:t>신뢰도 점수 (1.0에서 감점)</a:t>
            </a:r>
            <a:endParaRPr lang="ko-KR" altLang="en-US" sz="1550" dirty="0"/>
          </a:p>
          <a:p>
            <a:pPr marL="190500" indent="-190500" eaLnBrk="0">
              <a:lnSpc>
                <a:spcPct val="95000"/>
              </a:lnSpc>
              <a:spcAft>
                <a:spcPts val="600"/>
              </a:spcAft>
              <a:buSzPct val="100000"/>
              <a:buChar char="•"/>
            </a:pPr>
            <a:r>
              <a:rPr lang="ko-KR" altLang="en-US" sz="1350" dirty="0">
                <a:solidFill>
                  <a:schemeClr val="tx1"/>
                </a:solidFill>
              </a:rPr>
              <a:t>협찬 고지(공정위 표기·협찬 명시): −0.30, 숨기지 않음</a:t>
            </a:r>
            <a:endParaRPr lang="ko-KR" altLang="en-US" sz="1550" dirty="0"/>
          </a:p>
          <a:p>
            <a:pPr marL="190500" indent="-190500" eaLnBrk="0">
              <a:lnSpc>
                <a:spcPct val="95000"/>
              </a:lnSpc>
              <a:spcAft>
                <a:spcPts val="600"/>
              </a:spcAft>
              <a:buSzPct val="100000"/>
              <a:buChar char="•"/>
            </a:pPr>
            <a:r>
              <a:rPr lang="ko-KR" altLang="en-US" sz="1350" dirty="0">
                <a:solidFill>
                  <a:schemeClr val="tx1"/>
                </a:solidFill>
              </a:rPr>
              <a:t>표기 없는 홍보 등급: possible −0.15 · likely −0.35 (숨은 광고 → 의심)</a:t>
            </a:r>
            <a:endParaRPr lang="ko-KR" altLang="en-US" sz="1550" dirty="0"/>
          </a:p>
          <a:p>
            <a:pPr marL="190500" indent="-190500" eaLnBrk="0">
              <a:lnSpc>
                <a:spcPct val="95000"/>
              </a:lnSpc>
              <a:spcAft>
                <a:spcPts val="600"/>
              </a:spcAft>
              <a:buSzPct val="100000"/>
              <a:buChar char="•"/>
            </a:pPr>
            <a:r>
              <a:rPr lang="ko-KR" altLang="en-US" sz="1350" dirty="0">
                <a:solidFill>
                  <a:schemeClr val="tx1"/>
                </a:solidFill>
              </a:rPr>
              <a:t>AI 작성 확률 p: −0.5 × p (판별기·문체 신호 평균)</a:t>
            </a:r>
            <a:endParaRPr lang="ko-KR" altLang="en-US" sz="1550" dirty="0"/>
          </a:p>
          <a:p>
            <a:pPr marL="190500" indent="-190500" eaLnBrk="0">
              <a:lnSpc>
                <a:spcPct val="95000"/>
              </a:lnSpc>
              <a:spcAft>
                <a:spcPts val="600"/>
              </a:spcAft>
              <a:buSzPct val="100000"/>
              <a:buChar char="•"/>
            </a:pPr>
            <a:r>
              <a:rPr lang="ko-KR" altLang="en-US" sz="1350" dirty="0">
                <a:solidFill>
                  <a:schemeClr val="tx1"/>
                </a:solidFill>
              </a:rPr>
              <a:t>AI 조작 의심 문구: −0.20</a:t>
            </a:r>
            <a:endParaRPr lang="ko-KR" altLang="en-US" sz="1550" dirty="0"/>
          </a:p>
          <a:p>
            <a:pPr marL="0" indent="0" eaLnBrk="0">
              <a:lnSpc>
                <a:spcPct val="95000"/>
              </a:lnSpc>
              <a:spcBef>
                <a:spcPts val="1400"/>
              </a:spcBef>
              <a:spcAft>
                <a:spcPts val="500"/>
              </a:spcAft>
              <a:buNone/>
            </a:pPr>
            <a:r>
              <a:rPr lang="ko-KR" altLang="en-US" sz="1550" b="1" dirty="0">
                <a:solidFill>
                  <a:schemeClr val="accent1"/>
                </a:solidFill>
              </a:rPr>
              <a:t>7B 모델 안정화</a:t>
            </a:r>
            <a:endParaRPr lang="ko-KR" altLang="en-US" sz="1550" dirty="0"/>
          </a:p>
          <a:p>
            <a:pPr marL="0" indent="0" eaLnBrk="0">
              <a:lnSpc>
                <a:spcPct val="95000"/>
              </a:lnSpc>
              <a:spcAft>
                <a:spcPts val="200"/>
              </a:spcAft>
              <a:buNone/>
            </a:pPr>
            <a:r>
              <a:rPr lang="ko-KR" altLang="en-US" sz="1300" dirty="0">
                <a:solidFill>
                  <a:schemeClr val="tx2"/>
                </a:solidFill>
              </a:rPr>
              <a:t>숫자 점수 대신 등급(none/possible/likely/explicit, low/medium/high)으로 받아 코드에서 점수화</a:t>
            </a:r>
            <a:endParaRPr lang="ko-KR" altLang="en-US" sz="1550" dirty="0"/>
          </a:p>
        </p:txBody>
      </p:sp>
      <p:sp>
        <p:nvSpPr>
          <p:cNvPr id="26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400800"/>
            <a:ext cx="548640" cy="29260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100">
                <a:solidFill>
                  <a:srgbClr val="868B9E"/>
                </a:solidFill>
              </a:defRPr>
            </a:lvl1pPr>
          </a:lstStyle>
          <a:p>
            <a:pPr algn="r" eaLnBrk="0"/>
            <a:fld id="{F7021451-1387-4CA6-816F-3879F97B5CBC}" type="slidenum">
              <a:rPr lang="ko-KR" altLang="en-US" b="0"/>
              <a:t>16</a:t>
            </a:fld>
            <a:endParaRPr lang="ko-KR" alt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>
            <a:spLocks noGrp="1"/>
          </p:cNvSpPr>
          <p:nvPr>
            <p:ph type="title" idx="101" hasCustomPrompt="1"/>
          </p:nvPr>
        </p:nvSpPr>
        <p:spPr>
          <a:xfrm>
            <a:off x="548640" y="347472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 eaLnBrk="0">
              <a:buNone/>
            </a:pPr>
            <a:r>
              <a:rPr lang="ko-KR" altLang="en-US" sz="3000" b="1" dirty="0">
                <a:solidFill>
                  <a:schemeClr val="tx1"/>
                </a:solidFill>
              </a:rPr>
              <a:t>보안 설계</a:t>
            </a:r>
            <a:endParaRPr lang="ko-KR" altLang="en-US" sz="3000" dirty="0"/>
          </a:p>
        </p:txBody>
      </p:sp>
      <p:sp>
        <p:nvSpPr>
          <p:cNvPr id="3" name="security 1"/>
          <p:cNvSpPr/>
          <p:nvPr/>
        </p:nvSpPr>
        <p:spPr>
          <a:xfrm>
            <a:off x="548640" y="1234440"/>
            <a:ext cx="5440680" cy="2395728"/>
          </a:xfrm>
          <a:prstGeom prst="roundRect">
            <a:avLst>
              <a:gd name="adj" fmla="val 381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4" name="seal 개인"/>
          <p:cNvSpPr/>
          <p:nvPr/>
        </p:nvSpPr>
        <p:spPr>
          <a:xfrm rot="-300000">
            <a:off x="777240" y="1463040"/>
            <a:ext cx="1051560" cy="585216"/>
          </a:xfrm>
          <a:prstGeom prst="roundRect">
            <a:avLst>
              <a:gd name="adj" fmla="val 15625"/>
            </a:avLst>
          </a:prstGeom>
          <a:solidFill>
            <a:schemeClr val="accent1"/>
          </a:solidFill>
          <a:ln w="12700">
            <a:solidFill>
              <a:schemeClr val="accent1"/>
            </a:solidFill>
          </a:ln>
        </p:spPr>
        <p:txBody>
          <a:bodyPr wrap="square" lIns="0" tIns="0" rIns="0" bIns="0" rtlCol="0" anchor="ctr"/>
          <a:lstStyle/>
          <a:p>
            <a:pPr marL="0" indent="0" algn="ctr" eaLnBrk="0">
              <a:buNone/>
            </a:pPr>
            <a:r>
              <a:rPr lang="ko-KR" altLang="en-US" sz="1700" b="1" dirty="0">
                <a:solidFill>
                  <a:schemeClr val="bg1"/>
                </a:solidFill>
              </a:rPr>
              <a:t>개인</a:t>
            </a:r>
            <a:endParaRPr lang="ko-KR" altLang="en-US" sz="1700" dirty="0"/>
          </a:p>
        </p:txBody>
      </p:sp>
      <p:sp>
        <p:nvSpPr>
          <p:cNvPr id="5" name="Text 3"/>
          <p:cNvSpPr txBox="1"/>
          <p:nvPr/>
        </p:nvSpPr>
        <p:spPr>
          <a:xfrm>
            <a:off x="2011680" y="1490472"/>
            <a:ext cx="3749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eaLnBrk="0">
              <a:buNone/>
            </a:pPr>
            <a:r>
              <a:rPr lang="ko-KR" altLang="en-US" sz="1900" b="1" dirty="0">
                <a:solidFill>
                  <a:schemeClr val="tx1"/>
                </a:solidFill>
              </a:rPr>
              <a:t>개인정보 비식별화</a:t>
            </a:r>
            <a:endParaRPr lang="ko-KR" altLang="en-US" sz="19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2148840"/>
            <a:ext cx="4983480" cy="1389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90500" indent="-190500" eaLnBrk="0">
              <a:lnSpc>
                <a:spcPct val="95000"/>
              </a:lnSpc>
              <a:spcAft>
                <a:spcPts val="600"/>
              </a:spcAft>
              <a:buSzPct val="100000"/>
              <a:buChar char="•"/>
            </a:pPr>
            <a:r>
              <a:rPr lang="ko-KR" altLang="en-US" sz="1550" dirty="0">
                <a:solidFill>
                  <a:schemeClr val="tx1"/>
                </a:solidFill>
              </a:rPr>
              <a:t>분석 전에 정규식으로 전화·이메일·주민번호·카드·계좌·메신저ID 마스킹</a:t>
            </a:r>
            <a:endParaRPr lang="ko-KR" altLang="en-US" sz="1550" dirty="0"/>
          </a:p>
          <a:p>
            <a:pPr marL="190500" indent="-190500" eaLnBrk="0">
              <a:lnSpc>
                <a:spcPct val="95000"/>
              </a:lnSpc>
              <a:spcAft>
                <a:spcPts val="600"/>
              </a:spcAft>
              <a:buSzPct val="100000"/>
              <a:buChar char="•"/>
            </a:pPr>
            <a:r>
              <a:rPr lang="ko-KR" altLang="en-US" sz="1550" dirty="0">
                <a:solidFill>
                  <a:schemeClr val="tx1"/>
                </a:solidFill>
              </a:rPr>
              <a:t>AI 모델·화면에는 가려진 텍스트만 전달</a:t>
            </a:r>
            <a:endParaRPr lang="ko-KR" altLang="en-US" sz="1550" dirty="0"/>
          </a:p>
          <a:p>
            <a:pPr marL="190500" indent="-190500" eaLnBrk="0">
              <a:lnSpc>
                <a:spcPct val="95000"/>
              </a:lnSpc>
              <a:spcAft>
                <a:spcPts val="600"/>
              </a:spcAft>
              <a:buSzPct val="100000"/>
              <a:buChar char="•"/>
            </a:pPr>
            <a:r>
              <a:rPr lang="ko-KR" altLang="en-US" sz="1550" dirty="0">
                <a:solidFill>
                  <a:schemeClr val="tx1"/>
                </a:solidFill>
              </a:rPr>
              <a:t>가린 건수를 후기마다 표시</a:t>
            </a:r>
            <a:endParaRPr lang="ko-KR" altLang="en-US" sz="1550" dirty="0"/>
          </a:p>
        </p:txBody>
      </p:sp>
      <p:sp>
        <p:nvSpPr>
          <p:cNvPr id="7" name="security 2"/>
          <p:cNvSpPr/>
          <p:nvPr/>
        </p:nvSpPr>
        <p:spPr>
          <a:xfrm>
            <a:off x="6172200" y="1234440"/>
            <a:ext cx="5440680" cy="2395728"/>
          </a:xfrm>
          <a:prstGeom prst="roundRect">
            <a:avLst>
              <a:gd name="adj" fmla="val 381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8" name="seal 인젝"/>
          <p:cNvSpPr/>
          <p:nvPr/>
        </p:nvSpPr>
        <p:spPr>
          <a:xfrm rot="-300000">
            <a:off x="6400800" y="1463040"/>
            <a:ext cx="1051560" cy="585216"/>
          </a:xfrm>
          <a:prstGeom prst="roundRect">
            <a:avLst>
              <a:gd name="adj" fmla="val 15625"/>
            </a:avLst>
          </a:prstGeom>
          <a:solidFill>
            <a:schemeClr val="accent1"/>
          </a:solidFill>
          <a:ln w="12700">
            <a:solidFill>
              <a:schemeClr val="accent1"/>
            </a:solidFill>
          </a:ln>
        </p:spPr>
        <p:txBody>
          <a:bodyPr wrap="square" lIns="0" tIns="0" rIns="0" bIns="0" rtlCol="0" anchor="ctr"/>
          <a:lstStyle/>
          <a:p>
            <a:pPr marL="0" indent="0" algn="ctr" eaLnBrk="0">
              <a:buNone/>
            </a:pPr>
            <a:r>
              <a:rPr lang="ko-KR" altLang="en-US" sz="1700" b="1" dirty="0">
                <a:solidFill>
                  <a:schemeClr val="bg1"/>
                </a:solidFill>
              </a:rPr>
              <a:t>인젝</a:t>
            </a:r>
            <a:endParaRPr lang="ko-KR" altLang="en-US" sz="1700" dirty="0"/>
          </a:p>
        </p:txBody>
      </p:sp>
      <p:sp>
        <p:nvSpPr>
          <p:cNvPr id="9" name="Text 7"/>
          <p:cNvSpPr txBox="1"/>
          <p:nvPr/>
        </p:nvSpPr>
        <p:spPr>
          <a:xfrm>
            <a:off x="7635240" y="1490472"/>
            <a:ext cx="3749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eaLnBrk="0">
              <a:buNone/>
            </a:pPr>
            <a:r>
              <a:rPr lang="ko-KR" altLang="en-US" sz="1900" b="1" dirty="0">
                <a:solidFill>
                  <a:schemeClr val="tx1"/>
                </a:solidFill>
              </a:rPr>
              <a:t>프롬프트 인젝션 3중 방어</a:t>
            </a:r>
            <a:endParaRPr lang="ko-KR" altLang="en-US" sz="1900" dirty="0"/>
          </a:p>
        </p:txBody>
      </p:sp>
      <p:sp>
        <p:nvSpPr>
          <p:cNvPr id="10" name="Text 8"/>
          <p:cNvSpPr txBox="1"/>
          <p:nvPr/>
        </p:nvSpPr>
        <p:spPr>
          <a:xfrm>
            <a:off x="6446520" y="2148840"/>
            <a:ext cx="4983480" cy="1389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90500" indent="-190500" eaLnBrk="0">
              <a:lnSpc>
                <a:spcPct val="95000"/>
              </a:lnSpc>
              <a:spcAft>
                <a:spcPts val="600"/>
              </a:spcAft>
              <a:buSzPct val="100000"/>
              <a:buChar char="•"/>
            </a:pPr>
            <a:r>
              <a:rPr lang="ko-KR" altLang="en-US" sz="1550" dirty="0">
                <a:solidFill>
                  <a:schemeClr val="tx1"/>
                </a:solidFill>
              </a:rPr>
              <a:t>① 규칙 탐지: 명백한 조작 문구는 AI에 전달하지 않고 차단</a:t>
            </a:r>
            <a:endParaRPr lang="ko-KR" altLang="en-US" sz="1550" dirty="0"/>
          </a:p>
          <a:p>
            <a:pPr marL="190500" indent="-190500" eaLnBrk="0">
              <a:lnSpc>
                <a:spcPct val="95000"/>
              </a:lnSpc>
              <a:spcAft>
                <a:spcPts val="600"/>
              </a:spcAft>
              <a:buSzPct val="100000"/>
              <a:buChar char="•"/>
            </a:pPr>
            <a:r>
              <a:rPr lang="ko-KR" altLang="en-US" sz="1550" dirty="0">
                <a:solidFill>
                  <a:schemeClr val="tx1"/>
                </a:solidFill>
              </a:rPr>
              <a:t>② Qwen 보안 분류: 문맥상 조작 의도를 정상·의심·차단으로 분류</a:t>
            </a:r>
            <a:endParaRPr lang="ko-KR" altLang="en-US" sz="1550" dirty="0"/>
          </a:p>
          <a:p>
            <a:pPr marL="190500" indent="-190500" eaLnBrk="0">
              <a:lnSpc>
                <a:spcPct val="95000"/>
              </a:lnSpc>
              <a:spcAft>
                <a:spcPts val="600"/>
              </a:spcAft>
              <a:buSzPct val="100000"/>
              <a:buChar char="•"/>
            </a:pPr>
            <a:r>
              <a:rPr lang="ko-KR" altLang="en-US" sz="1550" dirty="0">
                <a:solidFill>
                  <a:schemeClr val="tx1"/>
                </a:solidFill>
              </a:rPr>
              <a:t>③ 외부 글은 &lt;review&gt; 데이터로만 전달, 특수 토큰 제거, JSON 스키마 강제</a:t>
            </a:r>
            <a:endParaRPr lang="ko-KR" altLang="en-US" sz="1550" dirty="0"/>
          </a:p>
        </p:txBody>
      </p:sp>
      <p:sp>
        <p:nvSpPr>
          <p:cNvPr id="11" name="security 3"/>
          <p:cNvSpPr/>
          <p:nvPr/>
        </p:nvSpPr>
        <p:spPr>
          <a:xfrm>
            <a:off x="548640" y="3794760"/>
            <a:ext cx="5440680" cy="2395728"/>
          </a:xfrm>
          <a:prstGeom prst="roundRect">
            <a:avLst>
              <a:gd name="adj" fmla="val 381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2" name="seal 키"/>
          <p:cNvSpPr/>
          <p:nvPr/>
        </p:nvSpPr>
        <p:spPr>
          <a:xfrm rot="-300000">
            <a:off x="777240" y="4023360"/>
            <a:ext cx="1051560" cy="585216"/>
          </a:xfrm>
          <a:prstGeom prst="roundRect">
            <a:avLst>
              <a:gd name="adj" fmla="val 15625"/>
            </a:avLst>
          </a:prstGeom>
          <a:solidFill>
            <a:schemeClr val="accent1"/>
          </a:solidFill>
          <a:ln w="12700">
            <a:solidFill>
              <a:schemeClr val="accent1"/>
            </a:solidFill>
          </a:ln>
        </p:spPr>
        <p:txBody>
          <a:bodyPr wrap="square" lIns="0" tIns="0" rIns="0" bIns="0" rtlCol="0" anchor="ctr"/>
          <a:lstStyle/>
          <a:p>
            <a:pPr marL="0" indent="0" algn="ctr" eaLnBrk="0">
              <a:buNone/>
            </a:pPr>
            <a:r>
              <a:rPr lang="ko-KR" altLang="en-US" sz="1700" b="1" dirty="0">
                <a:solidFill>
                  <a:schemeClr val="bg1"/>
                </a:solidFill>
              </a:rPr>
              <a:t>키</a:t>
            </a:r>
            <a:endParaRPr lang="ko-KR" altLang="en-US" sz="1700" dirty="0"/>
          </a:p>
        </p:txBody>
      </p:sp>
      <p:sp>
        <p:nvSpPr>
          <p:cNvPr id="13" name="Text 11"/>
          <p:cNvSpPr txBox="1"/>
          <p:nvPr/>
        </p:nvSpPr>
        <p:spPr>
          <a:xfrm>
            <a:off x="2011680" y="4050792"/>
            <a:ext cx="3749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eaLnBrk="0">
              <a:buNone/>
            </a:pPr>
            <a:r>
              <a:rPr lang="ko-KR" altLang="en-US" sz="1900" b="1" dirty="0">
                <a:solidFill>
                  <a:schemeClr val="tx1"/>
                </a:solidFill>
              </a:rPr>
              <a:t>키 · 접근 관리</a:t>
            </a:r>
            <a:endParaRPr lang="ko-KR" altLang="en-US" sz="1900" dirty="0"/>
          </a:p>
        </p:txBody>
      </p:sp>
      <p:sp>
        <p:nvSpPr>
          <p:cNvPr id="14" name="Text 12"/>
          <p:cNvSpPr txBox="1"/>
          <p:nvPr/>
        </p:nvSpPr>
        <p:spPr>
          <a:xfrm>
            <a:off x="822960" y="4709160"/>
            <a:ext cx="4983480" cy="1389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90500" indent="-190500" eaLnBrk="0">
              <a:lnSpc>
                <a:spcPct val="95000"/>
              </a:lnSpc>
              <a:spcAft>
                <a:spcPts val="600"/>
              </a:spcAft>
              <a:buSzPct val="100000"/>
              <a:buChar char="•"/>
            </a:pPr>
            <a:r>
              <a:rPr lang="ko-KR" altLang="en-US" sz="1550" dirty="0">
                <a:solidFill>
                  <a:schemeClr val="tx1"/>
                </a:solidFill>
              </a:rPr>
              <a:t>API 키는 .env와 Vercel 환경변수(민감 값 암호화)에만 보관, 저장소 커밋 기록 검사</a:t>
            </a:r>
            <a:endParaRPr lang="ko-KR" altLang="en-US" sz="1550" dirty="0"/>
          </a:p>
          <a:p>
            <a:pPr marL="190500" indent="-190500" eaLnBrk="0">
              <a:lnSpc>
                <a:spcPct val="95000"/>
              </a:lnSpc>
              <a:spcAft>
                <a:spcPts val="600"/>
              </a:spcAft>
              <a:buSzPct val="100000"/>
              <a:buChar char="•"/>
            </a:pPr>
            <a:r>
              <a:rPr lang="ko-KR" altLang="en-US" sz="1550" dirty="0">
                <a:solidFill>
                  <a:schemeClr val="tx1"/>
                </a:solidFill>
              </a:rPr>
              <a:t>Modal GPU·판별기는 API 키 인증 → 키 없이 호출하면 401</a:t>
            </a:r>
            <a:endParaRPr lang="ko-KR" altLang="en-US" sz="1550" dirty="0"/>
          </a:p>
          <a:p>
            <a:pPr marL="190500" indent="-190500" eaLnBrk="0">
              <a:lnSpc>
                <a:spcPct val="95000"/>
              </a:lnSpc>
              <a:spcAft>
                <a:spcPts val="600"/>
              </a:spcAft>
              <a:buSzPct val="100000"/>
              <a:buChar char="•"/>
            </a:pPr>
            <a:r>
              <a:rPr lang="ko-KR" altLang="en-US" sz="1550" dirty="0">
                <a:solidFill>
                  <a:schemeClr val="tx1"/>
                </a:solidFill>
              </a:rPr>
              <a:t>블로그 원문은 textContent로만 출력 (XSS 차단)</a:t>
            </a:r>
            <a:endParaRPr lang="ko-KR" altLang="en-US" sz="1550" dirty="0"/>
          </a:p>
        </p:txBody>
      </p:sp>
      <p:sp>
        <p:nvSpPr>
          <p:cNvPr id="15" name="security 4"/>
          <p:cNvSpPr/>
          <p:nvPr/>
        </p:nvSpPr>
        <p:spPr>
          <a:xfrm>
            <a:off x="6172200" y="3794760"/>
            <a:ext cx="5440680" cy="2395728"/>
          </a:xfrm>
          <a:prstGeom prst="roundRect">
            <a:avLst>
              <a:gd name="adj" fmla="val 3817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6" name="seal 최소"/>
          <p:cNvSpPr/>
          <p:nvPr/>
        </p:nvSpPr>
        <p:spPr>
          <a:xfrm rot="-300000">
            <a:off x="6400800" y="4023360"/>
            <a:ext cx="1051560" cy="585216"/>
          </a:xfrm>
          <a:prstGeom prst="roundRect">
            <a:avLst>
              <a:gd name="adj" fmla="val 15625"/>
            </a:avLst>
          </a:prstGeom>
          <a:solidFill>
            <a:schemeClr val="accent1"/>
          </a:solidFill>
          <a:ln w="12700">
            <a:solidFill>
              <a:schemeClr val="accent1"/>
            </a:solidFill>
          </a:ln>
        </p:spPr>
        <p:txBody>
          <a:bodyPr wrap="square" lIns="0" tIns="0" rIns="0" bIns="0" rtlCol="0" anchor="ctr"/>
          <a:lstStyle/>
          <a:p>
            <a:pPr marL="0" indent="0" algn="ctr" eaLnBrk="0">
              <a:buNone/>
            </a:pPr>
            <a:r>
              <a:rPr lang="ko-KR" altLang="en-US" sz="1700" b="1" dirty="0">
                <a:solidFill>
                  <a:schemeClr val="bg1"/>
                </a:solidFill>
              </a:rPr>
              <a:t>최소</a:t>
            </a:r>
            <a:endParaRPr lang="ko-KR" altLang="en-US" sz="1700" dirty="0"/>
          </a:p>
        </p:txBody>
      </p:sp>
      <p:sp>
        <p:nvSpPr>
          <p:cNvPr id="17" name="Text 15"/>
          <p:cNvSpPr txBox="1"/>
          <p:nvPr/>
        </p:nvSpPr>
        <p:spPr>
          <a:xfrm>
            <a:off x="7635240" y="4050792"/>
            <a:ext cx="37490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eaLnBrk="0">
              <a:buNone/>
            </a:pPr>
            <a:r>
              <a:rPr lang="ko-KR" altLang="en-US" sz="1900" b="1" dirty="0">
                <a:solidFill>
                  <a:schemeClr val="tx1"/>
                </a:solidFill>
              </a:rPr>
              <a:t>수집 범위 최소화</a:t>
            </a:r>
            <a:endParaRPr lang="ko-KR" altLang="en-US" sz="1900" dirty="0"/>
          </a:p>
        </p:txBody>
      </p:sp>
      <p:sp>
        <p:nvSpPr>
          <p:cNvPr id="18" name="Text 16"/>
          <p:cNvSpPr txBox="1"/>
          <p:nvPr/>
        </p:nvSpPr>
        <p:spPr>
          <a:xfrm>
            <a:off x="6446520" y="4709160"/>
            <a:ext cx="4983480" cy="13898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190500" indent="-190500" eaLnBrk="0">
              <a:lnSpc>
                <a:spcPct val="95000"/>
              </a:lnSpc>
              <a:spcAft>
                <a:spcPts val="600"/>
              </a:spcAft>
              <a:buSzPct val="100000"/>
              <a:buChar char="•"/>
            </a:pPr>
            <a:r>
              <a:rPr lang="ko-KR" altLang="en-US" sz="1550" dirty="0">
                <a:solidFill>
                  <a:schemeClr val="tx1"/>
                </a:solidFill>
              </a:rPr>
              <a:t>네이버 공식 검색 API 요약만 사용, 본문 크롤링 안 함</a:t>
            </a:r>
            <a:endParaRPr lang="ko-KR" altLang="en-US" sz="1550" dirty="0"/>
          </a:p>
          <a:p>
            <a:pPr marL="190500" indent="-190500" eaLnBrk="0">
              <a:lnSpc>
                <a:spcPct val="95000"/>
              </a:lnSpc>
              <a:spcAft>
                <a:spcPts val="600"/>
              </a:spcAft>
              <a:buSzPct val="100000"/>
              <a:buChar char="•"/>
            </a:pPr>
            <a:r>
              <a:rPr lang="ko-KR" altLang="en-US" sz="1550" dirty="0">
                <a:solidFill>
                  <a:schemeClr val="tx1"/>
                </a:solidFill>
              </a:rPr>
              <a:t>네이버 블로그 robots.txt의 AI·RAG 봇 금지 정책 준수</a:t>
            </a:r>
            <a:endParaRPr lang="ko-KR" altLang="en-US" sz="1550" dirty="0"/>
          </a:p>
          <a:p>
            <a:pPr marL="190500" indent="-190500" eaLnBrk="0">
              <a:lnSpc>
                <a:spcPct val="95000"/>
              </a:lnSpc>
              <a:spcAft>
                <a:spcPts val="600"/>
              </a:spcAft>
              <a:buSzPct val="100000"/>
              <a:buChar char="•"/>
            </a:pPr>
            <a:r>
              <a:rPr lang="ko-KR" altLang="en-US" sz="1550" dirty="0">
                <a:solidFill>
                  <a:schemeClr val="tx1"/>
                </a:solidFill>
              </a:rPr>
              <a:t>사용자 계정·개인정보를 수집하지 않음</a:t>
            </a:r>
            <a:endParaRPr lang="ko-KR" altLang="en-US" sz="15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400800"/>
            <a:ext cx="548640" cy="29260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100">
                <a:solidFill>
                  <a:srgbClr val="868B9E"/>
                </a:solidFill>
              </a:defRPr>
            </a:lvl1pPr>
          </a:lstStyle>
          <a:p>
            <a:pPr algn="r" eaLnBrk="0"/>
            <a:fld id="{F7021451-1387-4CA6-816F-3879F97B5CBC}" type="slidenum">
              <a:rPr lang="ko-KR" altLang="en-US" b="0"/>
              <a:t>17</a:t>
            </a:fld>
            <a:endParaRPr lang="ko-KR" alt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>
            <a:spLocks noGrp="1"/>
          </p:cNvSpPr>
          <p:nvPr>
            <p:ph type="title" idx="101" hasCustomPrompt="1"/>
          </p:nvPr>
        </p:nvSpPr>
        <p:spPr>
          <a:xfrm>
            <a:off x="548640" y="347472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 eaLnBrk="0">
              <a:buNone/>
            </a:pPr>
            <a:r>
              <a:rPr lang="ko-KR" altLang="en-US" sz="3000" b="1" dirty="0">
                <a:solidFill>
                  <a:schemeClr val="tx1"/>
                </a:solidFill>
              </a:rPr>
              <a:t>검증 결과와 한계</a:t>
            </a:r>
            <a:endParaRPr lang="ko-KR" altLang="en-US" sz="3000" dirty="0"/>
          </a:p>
        </p:txBody>
      </p:sp>
      <p:sp>
        <p:nvSpPr>
          <p:cNvPr id="3" name="stat 1"/>
          <p:cNvSpPr/>
          <p:nvPr/>
        </p:nvSpPr>
        <p:spPr>
          <a:xfrm>
            <a:off x="548640" y="1280160"/>
            <a:ext cx="2606040" cy="2240280"/>
          </a:xfrm>
          <a:prstGeom prst="roundRect">
            <a:avLst>
              <a:gd name="adj" fmla="val 4082"/>
            </a:avLst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444752"/>
            <a:ext cx="2148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eaLnBrk="0">
              <a:buNone/>
            </a:pPr>
            <a:r>
              <a:rPr lang="ko-KR" altLang="en-US" sz="4000" b="1" dirty="0">
                <a:solidFill>
                  <a:schemeClr val="accent1"/>
                </a:solidFill>
              </a:rPr>
              <a:t>0.92</a:t>
            </a:r>
            <a:endParaRPr lang="ko-KR" altLang="en-US" sz="4000" dirty="0"/>
          </a:p>
        </p:txBody>
      </p:sp>
      <p:sp>
        <p:nvSpPr>
          <p:cNvPr id="5" name="Text 3"/>
          <p:cNvSpPr txBox="1"/>
          <p:nvPr/>
        </p:nvSpPr>
        <p:spPr>
          <a:xfrm>
            <a:off x="749808" y="2286000"/>
            <a:ext cx="222199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eaLnBrk="0">
              <a:spcAft>
                <a:spcPts val="400"/>
              </a:spcAft>
              <a:buNone/>
            </a:pPr>
            <a:r>
              <a:rPr lang="ko-KR" altLang="en-US" sz="1500" b="1" dirty="0">
                <a:solidFill>
                  <a:schemeClr val="tx1"/>
                </a:solidFill>
              </a:rPr>
              <a:t>AUROC · 에세이 1000자</a:t>
            </a:r>
            <a:endParaRPr lang="ko-KR" altLang="en-US" sz="1500" dirty="0"/>
          </a:p>
          <a:p>
            <a:pPr marL="0" indent="0" eaLnBrk="0">
              <a:buNone/>
            </a:pPr>
            <a:r>
              <a:rPr lang="ko-KR" altLang="en-US" sz="1300" dirty="0">
                <a:solidFill>
                  <a:schemeClr val="tx2"/>
                </a:solidFill>
              </a:rPr>
              <a:t>KatFish 한국어 벤치마크(ACL 2025), 보정에 쓰지 않은 절반으로 평가</a:t>
            </a:r>
            <a:endParaRPr lang="ko-KR" altLang="en-US" sz="1500" dirty="0"/>
          </a:p>
        </p:txBody>
      </p:sp>
      <p:sp>
        <p:nvSpPr>
          <p:cNvPr id="6" name="stat 2"/>
          <p:cNvSpPr/>
          <p:nvPr/>
        </p:nvSpPr>
        <p:spPr>
          <a:xfrm>
            <a:off x="3364992" y="1280160"/>
            <a:ext cx="2606040" cy="2240280"/>
          </a:xfrm>
          <a:prstGeom prst="roundRect">
            <a:avLst>
              <a:gd name="adj" fmla="val 4082"/>
            </a:avLst>
          </a:prstGeom>
          <a:solidFill>
            <a:schemeClr val="accent4"/>
          </a:solidFill>
          <a:ln w="12700">
            <a:solidFill>
              <a:schemeClr val="accent4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3593592" y="1444752"/>
            <a:ext cx="2148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eaLnBrk="0">
              <a:buNone/>
            </a:pPr>
            <a:r>
              <a:rPr lang="ko-KR" altLang="en-US" sz="4000" b="1" dirty="0">
                <a:solidFill>
                  <a:schemeClr val="accent1"/>
                </a:solidFill>
              </a:rPr>
              <a:t>0.66</a:t>
            </a:r>
            <a:endParaRPr lang="ko-KR" altLang="en-US" sz="4000" dirty="0"/>
          </a:p>
        </p:txBody>
      </p:sp>
      <p:sp>
        <p:nvSpPr>
          <p:cNvPr id="8" name="Text 6"/>
          <p:cNvSpPr txBox="1"/>
          <p:nvPr/>
        </p:nvSpPr>
        <p:spPr>
          <a:xfrm>
            <a:off x="3566160" y="2286000"/>
            <a:ext cx="222199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eaLnBrk="0">
              <a:spcAft>
                <a:spcPts val="400"/>
              </a:spcAft>
              <a:buNone/>
            </a:pPr>
            <a:r>
              <a:rPr lang="ko-KR" altLang="en-US" sz="1500" b="1" dirty="0">
                <a:solidFill>
                  <a:schemeClr val="tx1"/>
                </a:solidFill>
              </a:rPr>
              <a:t>AUROC · 요약 길이 200자</a:t>
            </a:r>
            <a:endParaRPr lang="ko-KR" altLang="en-US" sz="1500" dirty="0"/>
          </a:p>
          <a:p>
            <a:pPr marL="0" indent="0" eaLnBrk="0">
              <a:buNone/>
            </a:pPr>
            <a:r>
              <a:rPr lang="ko-KR" altLang="en-US" sz="1300" dirty="0">
                <a:solidFill>
                  <a:schemeClr val="tx2"/>
                </a:solidFill>
              </a:rPr>
              <a:t>블로그 요약처럼 짧은 글에서는 판별력이 낮아짐</a:t>
            </a:r>
            <a:endParaRPr lang="ko-KR" altLang="en-US" sz="1500" dirty="0"/>
          </a:p>
        </p:txBody>
      </p:sp>
      <p:sp>
        <p:nvSpPr>
          <p:cNvPr id="9" name="stat 3"/>
          <p:cNvSpPr/>
          <p:nvPr/>
        </p:nvSpPr>
        <p:spPr>
          <a:xfrm>
            <a:off x="6181344" y="1280160"/>
            <a:ext cx="2606040" cy="2240280"/>
          </a:xfrm>
          <a:prstGeom prst="roundRect">
            <a:avLst>
              <a:gd name="adj" fmla="val 4082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6409944" y="1444752"/>
            <a:ext cx="2148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eaLnBrk="0">
              <a:buNone/>
            </a:pPr>
            <a:r>
              <a:rPr lang="ko-KR" altLang="en-US" sz="4000" b="1" dirty="0">
                <a:solidFill>
                  <a:schemeClr val="accent1"/>
                </a:solidFill>
              </a:rPr>
              <a:t>58개</a:t>
            </a:r>
            <a:endParaRPr lang="ko-KR" altLang="en-US" sz="4000" dirty="0"/>
          </a:p>
        </p:txBody>
      </p:sp>
      <p:sp>
        <p:nvSpPr>
          <p:cNvPr id="11" name="Text 9"/>
          <p:cNvSpPr txBox="1"/>
          <p:nvPr/>
        </p:nvSpPr>
        <p:spPr>
          <a:xfrm>
            <a:off x="6382512" y="2286000"/>
            <a:ext cx="222199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eaLnBrk="0">
              <a:spcAft>
                <a:spcPts val="400"/>
              </a:spcAft>
              <a:buNone/>
            </a:pPr>
            <a:r>
              <a:rPr lang="ko-KR" altLang="en-US" sz="1500" b="1" dirty="0">
                <a:solidFill>
                  <a:schemeClr val="tx1"/>
                </a:solidFill>
              </a:rPr>
              <a:t>단위 테스트 통과</a:t>
            </a:r>
            <a:endParaRPr lang="ko-KR" altLang="en-US" sz="1500" dirty="0"/>
          </a:p>
          <a:p>
            <a:pPr marL="0" indent="0" eaLnBrk="0">
              <a:buNone/>
            </a:pPr>
            <a:r>
              <a:rPr lang="ko-KR" altLang="en-US" sz="1300" dirty="0">
                <a:solidFill>
                  <a:schemeClr val="tx2"/>
                </a:solidFill>
              </a:rPr>
              <a:t>개인정보·인젝션·협찬 규칙, 점수·배지, 매칭, 주소 영문 변환, 콜드 스타트</a:t>
            </a:r>
            <a:endParaRPr lang="ko-KR" altLang="en-US" sz="1500" dirty="0"/>
          </a:p>
        </p:txBody>
      </p:sp>
      <p:sp>
        <p:nvSpPr>
          <p:cNvPr id="12" name="stat 4"/>
          <p:cNvSpPr/>
          <p:nvPr/>
        </p:nvSpPr>
        <p:spPr>
          <a:xfrm>
            <a:off x="8997696" y="1280160"/>
            <a:ext cx="2606040" cy="2240280"/>
          </a:xfrm>
          <a:prstGeom prst="roundRect">
            <a:avLst>
              <a:gd name="adj" fmla="val 4082"/>
            </a:avLst>
          </a:prstGeom>
          <a:solidFill>
            <a:schemeClr val="bg2"/>
          </a:solidFill>
          <a:ln w="12700">
            <a:solidFill>
              <a:schemeClr val="bg2"/>
            </a:solidFill>
            <a:prstDash val="solid"/>
          </a:ln>
        </p:spPr>
      </p:sp>
      <p:sp>
        <p:nvSpPr>
          <p:cNvPr id="13" name="Text 11"/>
          <p:cNvSpPr txBox="1"/>
          <p:nvPr/>
        </p:nvSpPr>
        <p:spPr>
          <a:xfrm>
            <a:off x="9226296" y="1444752"/>
            <a:ext cx="214884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eaLnBrk="0">
              <a:buNone/>
            </a:pPr>
            <a:r>
              <a:rPr lang="ko-KR" altLang="en-US" sz="4000" b="1" dirty="0">
                <a:solidFill>
                  <a:schemeClr val="accent1"/>
                </a:solidFill>
              </a:rPr>
              <a:t>2.214</a:t>
            </a:r>
            <a:endParaRPr lang="ko-KR" altLang="en-US" sz="4000" dirty="0"/>
          </a:p>
        </p:txBody>
      </p:sp>
      <p:sp>
        <p:nvSpPr>
          <p:cNvPr id="14" name="Text 12"/>
          <p:cNvSpPr txBox="1"/>
          <p:nvPr/>
        </p:nvSpPr>
        <p:spPr>
          <a:xfrm>
            <a:off x="9198864" y="2286000"/>
            <a:ext cx="2221992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eaLnBrk="0">
              <a:spcAft>
                <a:spcPts val="400"/>
              </a:spcAft>
              <a:buNone/>
            </a:pPr>
            <a:r>
              <a:rPr lang="ko-KR" altLang="en-US" sz="1500" b="1" dirty="0">
                <a:solidFill>
                  <a:schemeClr val="tx1"/>
                </a:solidFill>
              </a:rPr>
              <a:t>원격 = 로컬 판별 점수</a:t>
            </a:r>
            <a:endParaRPr lang="ko-KR" altLang="en-US" sz="1500" dirty="0"/>
          </a:p>
          <a:p>
            <a:pPr marL="0" indent="0" eaLnBrk="0">
              <a:buNone/>
            </a:pPr>
            <a:r>
              <a:rPr lang="ko-KR" altLang="en-US" sz="1300" dirty="0">
                <a:solidFill>
                  <a:schemeClr val="tx2"/>
                </a:solidFill>
              </a:rPr>
              <a:t>Modal 판별기와 로컬 계산 결과 일치 확인</a:t>
            </a:r>
            <a:endParaRPr lang="ko-KR" altLang="en-US" sz="1500" dirty="0"/>
          </a:p>
        </p:txBody>
      </p:sp>
      <p:sp>
        <p:nvSpPr>
          <p:cNvPr id="15" name="description"/>
          <p:cNvSpPr txBox="1"/>
          <p:nvPr/>
        </p:nvSpPr>
        <p:spPr>
          <a:xfrm>
            <a:off x="548640" y="3749040"/>
            <a:ext cx="539496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eaLnBrk="0">
              <a:lnSpc>
                <a:spcPct val="95000"/>
              </a:lnSpc>
              <a:spcAft>
                <a:spcPts val="500"/>
              </a:spcAft>
              <a:buNone/>
            </a:pPr>
            <a:r>
              <a:rPr lang="ko-KR" altLang="en-US" sz="1750" b="1" dirty="0">
                <a:solidFill>
                  <a:schemeClr val="accent1"/>
                </a:solidFill>
              </a:rPr>
              <a:t>실제 데이터 시연 결과</a:t>
            </a:r>
            <a:endParaRPr lang="ko-KR" altLang="en-US" sz="1750" dirty="0"/>
          </a:p>
          <a:p>
            <a:pPr marL="190500" indent="-190500" eaLnBrk="0">
              <a:lnSpc>
                <a:spcPct val="95000"/>
              </a:lnSpc>
              <a:spcAft>
                <a:spcPts val="600"/>
              </a:spcAft>
              <a:buSzPct val="100000"/>
              <a:buChar char="•"/>
            </a:pPr>
            <a:r>
              <a:rPr lang="ko-KR" altLang="en-US" sz="1550" dirty="0">
                <a:solidFill>
                  <a:schemeClr val="tx1"/>
                </a:solidFill>
              </a:rPr>
              <a:t>누메로뜨레쓰(성수): 후기 6건 중 신뢰 3 · 참고 1 · 의심 2 (표기 없는 해시태그 홍보, 할인·예약 유도)</a:t>
            </a:r>
            <a:endParaRPr lang="ko-KR" altLang="en-US" sz="1750" dirty="0"/>
          </a:p>
          <a:p>
            <a:pPr marL="190500" indent="-190500" eaLnBrk="0">
              <a:lnSpc>
                <a:spcPct val="95000"/>
              </a:lnSpc>
              <a:spcAft>
                <a:spcPts val="600"/>
              </a:spcAft>
              <a:buSzPct val="100000"/>
              <a:buChar char="•"/>
            </a:pPr>
            <a:r>
              <a:rPr lang="ko-KR" altLang="en-US" sz="1550" dirty="0">
                <a:solidFill>
                  <a:schemeClr val="tx1"/>
                </a:solidFill>
              </a:rPr>
              <a:t>직접 검사: 협찬 글 '협찬 고지'(57), 진짜 후기 '신뢰'(89), 인젝션 '차단' + 개인정보 1건 가림</a:t>
            </a:r>
            <a:endParaRPr lang="ko-KR" altLang="en-US" sz="1750" dirty="0"/>
          </a:p>
        </p:txBody>
      </p:sp>
      <p:sp>
        <p:nvSpPr>
          <p:cNvPr id="16" name="description"/>
          <p:cNvSpPr txBox="1"/>
          <p:nvPr/>
        </p:nvSpPr>
        <p:spPr>
          <a:xfrm>
            <a:off x="6217920" y="3749040"/>
            <a:ext cx="5440680" cy="2606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eaLnBrk="0">
              <a:lnSpc>
                <a:spcPct val="95000"/>
              </a:lnSpc>
              <a:spcAft>
                <a:spcPts val="500"/>
              </a:spcAft>
              <a:buNone/>
            </a:pPr>
            <a:r>
              <a:rPr lang="ko-KR" altLang="en-US" sz="1700" b="1" dirty="0">
                <a:solidFill>
                  <a:schemeClr val="accent1"/>
                </a:solidFill>
              </a:rPr>
              <a:t>한계 (참고 지표로 제공)</a:t>
            </a:r>
            <a:endParaRPr lang="ko-KR" altLang="en-US" sz="1700" dirty="0"/>
          </a:p>
          <a:p>
            <a:pPr marL="190500" indent="-190500" eaLnBrk="0">
              <a:lnSpc>
                <a:spcPct val="95000"/>
              </a:lnSpc>
              <a:spcAft>
                <a:spcPts val="600"/>
              </a:spcAft>
              <a:buSzPct val="100000"/>
              <a:buChar char="•"/>
            </a:pPr>
            <a:r>
              <a:rPr lang="ko-KR" altLang="en-US" sz="1500" dirty="0">
                <a:solidFill>
                  <a:schemeClr val="tx1"/>
                </a:solidFill>
              </a:rPr>
              <a:t>짧은 글은 정확도 하락 → AI 판별은 참고 지표로만</a:t>
            </a:r>
            <a:endParaRPr lang="ko-KR" altLang="en-US" sz="1700" dirty="0"/>
          </a:p>
          <a:p>
            <a:pPr marL="190500" indent="-190500" eaLnBrk="0">
              <a:lnSpc>
                <a:spcPct val="95000"/>
              </a:lnSpc>
              <a:spcAft>
                <a:spcPts val="600"/>
              </a:spcAft>
              <a:buSzPct val="100000"/>
              <a:buChar char="•"/>
            </a:pPr>
            <a:r>
              <a:rPr lang="ko-KR" altLang="en-US" sz="1500" dirty="0">
                <a:solidFill>
                  <a:schemeClr val="tx1"/>
                </a:solidFill>
              </a:rPr>
              <a:t>보정 데이터는 에세이·논문 → 블로그 후기와 분야 차이</a:t>
            </a:r>
            <a:endParaRPr lang="ko-KR" altLang="en-US" sz="1700" dirty="0"/>
          </a:p>
          <a:p>
            <a:pPr marL="190500" indent="-190500" eaLnBrk="0">
              <a:lnSpc>
                <a:spcPct val="95000"/>
              </a:lnSpc>
              <a:spcAft>
                <a:spcPts val="600"/>
              </a:spcAft>
              <a:buSzPct val="100000"/>
              <a:buChar char="•"/>
            </a:pPr>
            <a:r>
              <a:rPr lang="ko-KR" altLang="en-US" sz="1500" dirty="0">
                <a:solidFill>
                  <a:schemeClr val="tx1"/>
                </a:solidFill>
              </a:rPr>
              <a:t>7B 모델의 고유명사 번역 오류 가능 → 한글 원래 이름 병기, 공식 번역 우선</a:t>
            </a:r>
            <a:endParaRPr lang="ko-KR" altLang="en-US" sz="1700" dirty="0"/>
          </a:p>
          <a:p>
            <a:pPr marL="190500" indent="-190500" eaLnBrk="0">
              <a:lnSpc>
                <a:spcPct val="95000"/>
              </a:lnSpc>
              <a:spcAft>
                <a:spcPts val="600"/>
              </a:spcAft>
              <a:buSzPct val="100000"/>
              <a:buChar char="•"/>
            </a:pPr>
            <a:r>
              <a:rPr lang="ko-KR" altLang="en-US" sz="1500" dirty="0">
                <a:solidFill>
                  <a:schemeClr val="tx1"/>
                </a:solidFill>
              </a:rPr>
              <a:t>숨은 광고는 완벽히 잡지 못함 → 근거를 공개하고 숨기되 지우지 않음</a:t>
            </a:r>
            <a:endParaRPr lang="ko-KR" alt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400800"/>
            <a:ext cx="548640" cy="29260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100">
                <a:solidFill>
                  <a:srgbClr val="868B9E"/>
                </a:solidFill>
              </a:defRPr>
            </a:lvl1pPr>
          </a:lstStyle>
          <a:p>
            <a:pPr algn="r" eaLnBrk="0"/>
            <a:fld id="{F7021451-1387-4CA6-816F-3879F97B5CBC}" type="slidenum">
              <a:rPr lang="ko-KR" altLang="en-US" b="0"/>
              <a:t>18</a:t>
            </a:fld>
            <a:endParaRPr lang="ko-KR" alt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>
            <a:spLocks noGrp="1"/>
          </p:cNvSpPr>
          <p:nvPr>
            <p:ph type="title" idx="101" hasCustomPrompt="1"/>
          </p:nvPr>
        </p:nvSpPr>
        <p:spPr>
          <a:xfrm>
            <a:off x="548640" y="347472"/>
            <a:ext cx="1106424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 eaLnBrk="0">
              <a:buNone/>
            </a:pPr>
            <a:r>
              <a:rPr lang="ko-KR" altLang="en-US" sz="3000" b="1" dirty="0">
                <a:solidFill>
                  <a:schemeClr val="tx1"/>
                </a:solidFill>
              </a:rPr>
              <a:t>기술 스택 · 운영 비용</a:t>
            </a:r>
            <a:endParaRPr lang="ko-KR" altLang="en-US" sz="3000" dirty="0"/>
          </a:p>
        </p:txBody>
      </p:sp>
      <p:graphicFrame>
        <p:nvGraphicFramePr>
          <p:cNvPr id="20" name="stack table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234440"/>
          <a:ext cx="11064240" cy="914400"/>
        </p:xfrm>
        <a:graphic>
          <a:graphicData uri="http://schemas.openxmlformats.org/drawingml/2006/table">
            <a:tbl>
              <a:tblPr/>
              <a:tblGrid>
                <a:gridCol w="141732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379476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33832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2468880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530352">
                <a:tc>
                  <a:txBody>
                    <a:bodyPr/>
                    <a:lstStyle/>
                    <a:p>
                      <a:pPr marL="0" indent="0" eaLnBrk="0">
                        <a:buNone/>
                      </a:pPr>
                      <a:r>
                        <a:rPr lang="ko-KR" altLang="en-US" sz="1400" b="1" dirty="0">
                          <a:solidFill>
                            <a:schemeClr val="bg1"/>
                          </a:solidFill>
                        </a:rPr>
                        <a:t>구성</a:t>
                      </a:r>
                      <a:endParaRPr lang="ko-KR" altLang="en-US" sz="1400" dirty="0"/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0">
                        <a:buNone/>
                      </a:pPr>
                      <a:r>
                        <a:rPr lang="ko-KR" altLang="en-US" sz="1400" b="1" dirty="0">
                          <a:solidFill>
                            <a:schemeClr val="bg1"/>
                          </a:solidFill>
                        </a:rPr>
                        <a:t>기술</a:t>
                      </a:r>
                      <a:endParaRPr lang="ko-KR" altLang="en-US" sz="1400" dirty="0"/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0">
                        <a:buNone/>
                      </a:pPr>
                      <a:r>
                        <a:rPr lang="ko-KR" altLang="en-US" sz="1400" b="1" dirty="0">
                          <a:solidFill>
                            <a:schemeClr val="bg1"/>
                          </a:solidFill>
                        </a:rPr>
                        <a:t>역할</a:t>
                      </a:r>
                      <a:endParaRPr lang="ko-KR" altLang="en-US" sz="1400" dirty="0"/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tc>
                  <a:txBody>
                    <a:bodyPr/>
                    <a:lstStyle/>
                    <a:p>
                      <a:pPr marL="0" indent="0" eaLnBrk="0">
                        <a:buNone/>
                      </a:pPr>
                      <a:r>
                        <a:rPr lang="ko-KR" altLang="en-US" sz="1400" b="1" dirty="0">
                          <a:solidFill>
                            <a:schemeClr val="bg1"/>
                          </a:solidFill>
                        </a:rPr>
                        <a:t>비용</a:t>
                      </a:r>
                      <a:endParaRPr lang="ko-KR" altLang="en-US" sz="1400" dirty="0"/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chemeClr val="tx1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530352">
                <a:tc>
                  <a:txBody>
                    <a:bodyPr/>
                    <a:lstStyle/>
                    <a:p>
                      <a:pPr marL="0" indent="0" eaLnBrk="0">
                        <a:buNone/>
                      </a:pPr>
                      <a:r>
                        <a:rPr lang="ko-KR" altLang="en-US" sz="1400" dirty="0">
                          <a:solidFill>
                            <a:schemeClr val="tx1"/>
                          </a:solidFill>
                        </a:rPr>
                        <a:t>웹 서버</a:t>
                      </a:r>
                      <a:endParaRPr lang="ko-KR" altLang="en-US" sz="1400" dirty="0"/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eaLnBrk="0">
                        <a:buNone/>
                      </a:pPr>
                      <a:r>
                        <a:rPr lang="ko-KR" altLang="en-US" sz="1400" dirty="0">
                          <a:solidFill>
                            <a:schemeClr val="tx1"/>
                          </a:solidFill>
                        </a:rPr>
                        <a:t>Vercel · FastAPI (Python)</a:t>
                      </a:r>
                      <a:endParaRPr lang="ko-KR" altLang="en-US" sz="1400" dirty="0"/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eaLnBrk="0">
                        <a:buNone/>
                      </a:pPr>
                      <a:r>
                        <a:rPr lang="ko-KR" altLang="en-US" sz="1400" dirty="0">
                          <a:solidFill>
                            <a:schemeClr val="tx1"/>
                          </a:solidFill>
                        </a:rPr>
                        <a:t>화면·API, 보안 필터, 판정 로직 (서울 리전)</a:t>
                      </a:r>
                      <a:endParaRPr lang="ko-KR" altLang="en-US" sz="1400" dirty="0"/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eaLnBrk="0">
                        <a:buNone/>
                      </a:pPr>
                      <a:r>
                        <a:rPr lang="ko-KR" altLang="en-US" sz="1400" dirty="0">
                          <a:solidFill>
                            <a:schemeClr val="tx1"/>
                          </a:solidFill>
                        </a:rPr>
                        <a:t>Hobby 무료</a:t>
                      </a:r>
                      <a:endParaRPr lang="ko-KR" altLang="en-US" sz="1400" dirty="0"/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530352">
                <a:tc>
                  <a:txBody>
                    <a:bodyPr/>
                    <a:lstStyle/>
                    <a:p>
                      <a:pPr marL="0" indent="0" eaLnBrk="0">
                        <a:buNone/>
                      </a:pPr>
                      <a:r>
                        <a:rPr lang="ko-KR" altLang="en-US" sz="1400" dirty="0">
                          <a:solidFill>
                            <a:schemeClr val="tx1"/>
                          </a:solidFill>
                        </a:rPr>
                        <a:t>관광 데이터</a:t>
                      </a:r>
                      <a:endParaRPr lang="ko-KR" altLang="en-US" sz="1400" dirty="0"/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eaLnBrk="0">
                        <a:buNone/>
                      </a:pPr>
                      <a:r>
                        <a:rPr lang="ko-KR" altLang="en-US" sz="1400" dirty="0">
                          <a:solidFill>
                            <a:schemeClr val="tx1"/>
                          </a:solidFill>
                        </a:rPr>
                        <a:t>한국관광공사 TourAPI 4.0 (국·영·일·중)</a:t>
                      </a:r>
                      <a:endParaRPr lang="ko-KR" altLang="en-US" sz="1400" dirty="0"/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eaLnBrk="0">
                        <a:buNone/>
                      </a:pPr>
                      <a:r>
                        <a:rPr lang="ko-KR" altLang="en-US" sz="1400" dirty="0">
                          <a:solidFill>
                            <a:schemeClr val="tx1"/>
                          </a:solidFill>
                        </a:rPr>
                        <a:t>장소·축제·운영시간·공식 번역</a:t>
                      </a:r>
                      <a:endParaRPr lang="ko-KR" altLang="en-US" sz="1400" dirty="0"/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eaLnBrk="0">
                        <a:buNone/>
                      </a:pPr>
                      <a:r>
                        <a:rPr lang="ko-KR" altLang="en-US" sz="1400" dirty="0">
                          <a:solidFill>
                            <a:schemeClr val="tx1"/>
                          </a:solidFill>
                        </a:rPr>
                        <a:t>무료 (개발계정 일 1,000회)</a:t>
                      </a:r>
                      <a:endParaRPr lang="ko-KR" altLang="en-US" sz="1400" dirty="0"/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530352">
                <a:tc>
                  <a:txBody>
                    <a:bodyPr/>
                    <a:lstStyle/>
                    <a:p>
                      <a:pPr marL="0" indent="0" eaLnBrk="0">
                        <a:buNone/>
                      </a:pPr>
                      <a:r>
                        <a:rPr lang="ko-KR" altLang="en-US" sz="1400" dirty="0">
                          <a:solidFill>
                            <a:schemeClr val="tx1"/>
                          </a:solidFill>
                        </a:rPr>
                        <a:t>후기 수집</a:t>
                      </a:r>
                      <a:endParaRPr lang="ko-KR" altLang="en-US" sz="1400" dirty="0"/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eaLnBrk="0">
                        <a:buNone/>
                      </a:pPr>
                      <a:r>
                        <a:rPr lang="ko-KR" altLang="en-US" sz="1400" dirty="0">
                          <a:solidFill>
                            <a:schemeClr val="tx1"/>
                          </a:solidFill>
                        </a:rPr>
                        <a:t>NAVER API HUB 블로그 검색</a:t>
                      </a:r>
                      <a:endParaRPr lang="ko-KR" altLang="en-US" sz="1400" dirty="0"/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eaLnBrk="0">
                        <a:buNone/>
                      </a:pPr>
                      <a:r>
                        <a:rPr lang="ko-KR" altLang="en-US" sz="1400" dirty="0">
                          <a:solidFill>
                            <a:schemeClr val="tx1"/>
                          </a:solidFill>
                        </a:rPr>
                        <a:t>후기 원문 후보 (공식 API 요약)</a:t>
                      </a:r>
                      <a:endParaRPr lang="ko-KR" altLang="en-US" sz="1400" dirty="0"/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eaLnBrk="0">
                        <a:buNone/>
                      </a:pPr>
                      <a:r>
                        <a:rPr lang="ko-KR" altLang="en-US" sz="1400" dirty="0">
                          <a:solidFill>
                            <a:schemeClr val="tx1"/>
                          </a:solidFill>
                        </a:rPr>
                        <a:t>현재 임시 무료</a:t>
                      </a:r>
                      <a:endParaRPr lang="ko-KR" altLang="en-US" sz="1400" dirty="0"/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530352">
                <a:tc>
                  <a:txBody>
                    <a:bodyPr/>
                    <a:lstStyle/>
                    <a:p>
                      <a:pPr marL="0" indent="0" eaLnBrk="0">
                        <a:buNone/>
                      </a:pPr>
                      <a:r>
                        <a:rPr lang="ko-KR" altLang="en-US" sz="1400" dirty="0">
                          <a:solidFill>
                            <a:schemeClr val="tx1"/>
                          </a:solidFill>
                        </a:rPr>
                        <a:t>언어 모델</a:t>
                      </a:r>
                      <a:endParaRPr lang="ko-KR" altLang="en-US" sz="1400" dirty="0"/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eaLnBrk="0">
                        <a:buNone/>
                      </a:pPr>
                      <a:r>
                        <a:rPr lang="ko-KR" altLang="en-US" sz="1400" dirty="0">
                          <a:solidFill>
                            <a:schemeClr val="tx1"/>
                          </a:solidFill>
                        </a:rPr>
                        <a:t>Qwen2.5-7B-Instruct · vLLM · Modal L4 GPU</a:t>
                      </a:r>
                      <a:endParaRPr lang="ko-KR" altLang="en-US" sz="1400" dirty="0"/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eaLnBrk="0">
                        <a:buNone/>
                      </a:pPr>
                      <a:r>
                        <a:rPr lang="ko-KR" altLang="en-US" sz="1400" dirty="0">
                          <a:solidFill>
                            <a:schemeClr val="tx1"/>
                          </a:solidFill>
                        </a:rPr>
                        <a:t>보안 분류, 숨은 광고 판단, 번역·요약</a:t>
                      </a:r>
                      <a:endParaRPr lang="ko-KR" altLang="en-US" sz="1400" dirty="0"/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eaLnBrk="0">
                        <a:buNone/>
                      </a:pPr>
                      <a:r>
                        <a:rPr lang="ko-KR" altLang="en-US" sz="1400" dirty="0">
                          <a:solidFill>
                            <a:schemeClr val="tx1"/>
                          </a:solidFill>
                        </a:rPr>
                        <a:t>쓸 때만 약 $0.8/시간</a:t>
                      </a:r>
                      <a:endParaRPr lang="ko-KR" altLang="en-US" sz="1400" dirty="0"/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530352">
                <a:tc>
                  <a:txBody>
                    <a:bodyPr/>
                    <a:lstStyle/>
                    <a:p>
                      <a:pPr marL="0" indent="0" eaLnBrk="0">
                        <a:buNone/>
                      </a:pPr>
                      <a:r>
                        <a:rPr lang="ko-KR" altLang="en-US" sz="1400" dirty="0">
                          <a:solidFill>
                            <a:schemeClr val="tx1"/>
                          </a:solidFill>
                        </a:rPr>
                        <a:t>AI 작성 판별</a:t>
                      </a:r>
                      <a:endParaRPr lang="ko-KR" altLang="en-US" sz="1400" dirty="0"/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eaLnBrk="0">
                        <a:buNone/>
                      </a:pPr>
                      <a:r>
                        <a:rPr lang="ko-KR" altLang="en-US" sz="1400" dirty="0">
                          <a:solidFill>
                            <a:schemeClr val="tx1"/>
                          </a:solidFill>
                        </a:rPr>
                        <a:t>Fast-DetectGPT · Qwen2.5-1.5B · Modal CPU</a:t>
                      </a:r>
                      <a:endParaRPr lang="ko-KR" altLang="en-US" sz="1400" dirty="0"/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eaLnBrk="0">
                        <a:buNone/>
                      </a:pPr>
                      <a:r>
                        <a:rPr lang="ko-KR" altLang="en-US" sz="1400" dirty="0">
                          <a:solidFill>
                            <a:schemeClr val="tx1"/>
                          </a:solidFill>
                        </a:rPr>
                        <a:t>AI 작성 확률 (무료 오픈 모델)</a:t>
                      </a:r>
                      <a:endParaRPr lang="ko-KR" altLang="en-US" sz="1400" dirty="0"/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eaLnBrk="0">
                        <a:buNone/>
                      </a:pPr>
                      <a:r>
                        <a:rPr lang="ko-KR" altLang="en-US" sz="1400" dirty="0">
                          <a:solidFill>
                            <a:schemeClr val="tx1"/>
                          </a:solidFill>
                        </a:rPr>
                        <a:t>쓸 때만, 소액</a:t>
                      </a:r>
                      <a:endParaRPr lang="ko-KR" altLang="en-US" sz="1400" dirty="0"/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530352">
                <a:tc>
                  <a:txBody>
                    <a:bodyPr/>
                    <a:lstStyle/>
                    <a:p>
                      <a:pPr marL="0" indent="0" eaLnBrk="0">
                        <a:buNone/>
                      </a:pPr>
                      <a:r>
                        <a:rPr lang="ko-KR" altLang="en-US" sz="1400" dirty="0">
                          <a:solidFill>
                            <a:schemeClr val="tx1"/>
                          </a:solidFill>
                        </a:rPr>
                        <a:t>화면</a:t>
                      </a:r>
                      <a:endParaRPr lang="ko-KR" altLang="en-US" sz="1400" dirty="0"/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eaLnBrk="0">
                        <a:buNone/>
                      </a:pPr>
                      <a:r>
                        <a:rPr lang="ko-KR" altLang="en-US" sz="1400" dirty="0">
                          <a:solidFill>
                            <a:schemeClr val="tx1"/>
                          </a:solidFill>
                        </a:rPr>
                        <a:t>HTML · CSS · JavaScript (프레임워크 없음)</a:t>
                      </a:r>
                      <a:endParaRPr lang="ko-KR" altLang="en-US" sz="1400" dirty="0"/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eaLnBrk="0">
                        <a:buNone/>
                      </a:pPr>
                      <a:r>
                        <a:rPr lang="ko-KR" altLang="en-US" sz="1400" dirty="0">
                          <a:solidFill>
                            <a:schemeClr val="tx1"/>
                          </a:solidFill>
                        </a:rPr>
                        <a:t>4개 언어, 반응형, 실시간 스트리밍</a:t>
                      </a:r>
                      <a:endParaRPr lang="ko-KR" altLang="en-US" sz="1400" dirty="0"/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eaLnBrk="0">
                        <a:buNone/>
                      </a:pPr>
                      <a:r>
                        <a:rPr lang="ko-KR" altLang="en-US" sz="1400" dirty="0">
                          <a:solidFill>
                            <a:schemeClr val="tx1"/>
                          </a:solidFill>
                        </a:rPr>
                        <a:t>—</a:t>
                      </a:r>
                      <a:endParaRPr lang="ko-KR" altLang="en-US" sz="1400" dirty="0"/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530352">
                <a:tc>
                  <a:txBody>
                    <a:bodyPr/>
                    <a:lstStyle/>
                    <a:p>
                      <a:pPr marL="0" indent="0" eaLnBrk="0">
                        <a:buNone/>
                      </a:pPr>
                      <a:r>
                        <a:rPr lang="ko-KR" altLang="en-US" sz="1400" dirty="0">
                          <a:solidFill>
                            <a:schemeClr val="tx1"/>
                          </a:solidFill>
                        </a:rPr>
                        <a:t>소스 관리</a:t>
                      </a:r>
                      <a:endParaRPr lang="ko-KR" altLang="en-US" sz="1400" dirty="0"/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eaLnBrk="0">
                        <a:buNone/>
                      </a:pPr>
                      <a:r>
                        <a:rPr lang="ko-KR" altLang="en-US" sz="1400" dirty="0">
                          <a:solidFill>
                            <a:schemeClr val="tx1"/>
                          </a:solidFill>
                        </a:rPr>
                        <a:t>GitHub 비공개 저장소</a:t>
                      </a:r>
                      <a:endParaRPr lang="ko-KR" altLang="en-US" sz="1400" dirty="0"/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eaLnBrk="0">
                        <a:buNone/>
                      </a:pPr>
                      <a:r>
                        <a:rPr lang="ko-KR" altLang="en-US" sz="1400" dirty="0">
                          <a:solidFill>
                            <a:schemeClr val="tx1"/>
                          </a:solidFill>
                        </a:rPr>
                        <a:t>버전 관리, 키는 저장소에 없음</a:t>
                      </a:r>
                      <a:endParaRPr lang="ko-KR" altLang="en-US" sz="1400" dirty="0"/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tc>
                  <a:txBody>
                    <a:bodyPr/>
                    <a:lstStyle/>
                    <a:p>
                      <a:pPr marL="0" indent="0" eaLnBrk="0">
                        <a:buNone/>
                      </a:pPr>
                      <a:r>
                        <a:rPr lang="ko-KR" altLang="en-US" sz="1400" dirty="0">
                          <a:solidFill>
                            <a:schemeClr val="tx1"/>
                          </a:solidFill>
                        </a:rPr>
                        <a:t>무료</a:t>
                      </a:r>
                      <a:endParaRPr lang="ko-KR" altLang="en-US" sz="1400" dirty="0"/>
                    </a:p>
                  </a:txBody>
                  <a:tcPr marL="64008" marR="64008" marT="64008" marB="64008" anchor="ctr">
                    <a:lnL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D9DBE3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548640" y="5623560"/>
            <a:ext cx="1106424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eaLnBrk="0">
              <a:buNone/>
            </a:pPr>
            <a:r>
              <a:rPr lang="ko-KR" altLang="en-US" sz="1450" dirty="0">
                <a:solidFill>
                  <a:schemeClr val="tx2"/>
                </a:solidFill>
              </a:rPr>
              <a:t>Modal은 월 $30 무료 크레딧을 제공하고, 두 서비스 모두 사용하지 않으면 5분 뒤 꺼지므로 시연 1시간에 $1~2 수준입니다. GPT 계열 유료 API를 쓰지 않아 데이터가 외부 AI 회사로 나가지 않습니다.</a:t>
            </a:r>
            <a:endParaRPr lang="ko-KR" altLang="en-US" sz="145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109960" y="6400800"/>
            <a:ext cx="548640" cy="292608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xmlns="" val="0"/>
            </a:ext>
          </a:extLst>
        </p:spPr>
        <p:txBody>
          <a:bodyPr/>
          <a:lstStyle>
            <a:lvl1pPr>
              <a:defRPr sz="1100">
                <a:solidFill>
                  <a:srgbClr val="868B9E"/>
                </a:solidFill>
              </a:defRPr>
            </a:lvl1pPr>
          </a:lstStyle>
          <a:p>
            <a:pPr algn="r" eaLnBrk="0"/>
            <a:fld id="{F7021451-1387-4CA6-816F-3879F97B5CBC}" type="slidenum">
              <a:rPr lang="ko-KR" altLang="en-US" b="0"/>
              <a:t>19</a:t>
            </a:fld>
            <a:endParaRPr lang="ko-KR" alt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>
            <a:spLocks noGrp="1"/>
          </p:cNvSpPr>
          <p:nvPr>
            <p:ph type="title" idx="100" hasCustomPrompt="1"/>
          </p:nvPr>
        </p:nvSpPr>
        <p:spPr>
          <a:xfrm>
            <a:off x="640080" y="1417320"/>
            <a:ext cx="11064240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b"/>
          <a:lstStyle/>
          <a:p>
            <a:pPr marL="0" indent="0" algn="l" eaLnBrk="0">
              <a:buNone/>
            </a:pPr>
            <a:r>
              <a:rPr lang="ko-KR" altLang="en-US" sz="4800" b="1" dirty="0">
                <a:solidFill>
                  <a:schemeClr val="bg1"/>
                </a:solidFill>
              </a:rPr>
              <a:t>번역은 이미 다들 합니다.</a:t>
            </a:r>
            <a:endParaRPr lang="ko-KR" altLang="en-US" sz="4800" dirty="0"/>
          </a:p>
          <a:p>
            <a:pPr marL="0" indent="0" algn="l" eaLnBrk="0">
              <a:buNone/>
            </a:pPr>
            <a:r>
              <a:rPr lang="ko-KR" altLang="en-US" sz="4800" b="1" dirty="0">
                <a:solidFill>
                  <a:schemeClr val="bg1"/>
                </a:solidFill>
              </a:rPr>
              <a:t>우리는 그 정보가 진짜인지 가려냅니다.</a:t>
            </a:r>
            <a:endParaRPr lang="ko-KR" altLang="en-US" sz="4800" dirty="0"/>
          </a:p>
        </p:txBody>
      </p:sp>
      <p:sp>
        <p:nvSpPr>
          <p:cNvPr id="3" name="Text 0"/>
          <p:cNvSpPr>
            <a:spLocks noGrp="1"/>
          </p:cNvSpPr>
          <p:nvPr>
            <p:ph type="body" idx="101" hasCustomPrompt="1"/>
          </p:nvPr>
        </p:nvSpPr>
        <p:spPr>
          <a:xfrm>
            <a:off x="640080" y="3749040"/>
            <a:ext cx="10881360" cy="2468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0" indent="0" eaLnBrk="0">
              <a:lnSpc>
                <a:spcPct val="125000"/>
              </a:lnSpc>
              <a:buNone/>
            </a:pPr>
            <a:r>
              <a:rPr lang="ko-KR" altLang="en-US" sz="2400" u="sng" dirty="0">
                <a:solidFill>
                  <a:schemeClr val="bg1"/>
                </a:solidFill>
                <a:hlinkClick r:id="rId3">
                  <a:extLst>
                    <a:ext uri="{A12FA001-AC4F-418D-AE19-62706E023703}">
                      <ahyp:hlinkClr xmlns:ahyp="http://schemas.microsoft.com/office/drawing/2018/hyperlinkcolor" val="tx"/>
                    </a:ext>
                  </a:extLst>
                </a:hlinkClick>
              </a:rPr>
              <a:t>서비스  https://localpass-kappa.vercel.app</a:t>
            </a:r>
            <a:endParaRPr lang="ko-KR" altLang="en-US" sz="2400" dirty="0"/>
          </a:p>
          <a:p>
            <a:pPr marL="0" indent="0" eaLnBrk="0">
              <a:lnSpc>
                <a:spcPct val="125000"/>
              </a:lnSpc>
              <a:buNone/>
            </a:pPr>
            <a:r>
              <a:rPr lang="ko-KR" altLang="en-US" sz="2400" dirty="0">
                <a:solidFill>
                  <a:srgbClr val="C9CCD8"/>
                </a:solidFill>
              </a:rPr>
              <a:t>소스  제출 ZIP의 03_소스코드 (GitHub 비공개 저장소)</a:t>
            </a:r>
            <a:endParaRPr lang="ko-KR" altLang="en-US" sz="2400" dirty="0"/>
          </a:p>
          <a:p>
            <a:pPr marL="0" indent="0" eaLnBrk="0">
              <a:lnSpc>
                <a:spcPct val="125000"/>
              </a:lnSpc>
              <a:buNone/>
            </a:pPr>
            <a:r>
              <a:rPr lang="ko-KR" altLang="en-US" sz="2400" dirty="0">
                <a:solidFill>
                  <a:srgbClr val="C9CCD8"/>
                </a:solidFill>
              </a:rPr>
              <a:t>팀  류황규 · 박건우 · 홍승우 · 황지룡</a:t>
            </a:r>
            <a:endParaRPr lang="ko-KR" altLang="en-US" sz="2400" dirty="0"/>
          </a:p>
          <a:p>
            <a:pPr marL="0" indent="0" eaLnBrk="0">
              <a:lnSpc>
                <a:spcPct val="125000"/>
              </a:lnSpc>
              <a:buNone/>
            </a:pPr>
            <a:r>
              <a:rPr lang="ko-KR" altLang="en-US" sz="2400" dirty="0">
                <a:solidFill>
                  <a:srgbClr val="C9CCD8"/>
                </a:solidFill>
              </a:rPr>
              <a:t>2026 지역혁신 인재양성 연합 페스티벌 · AI·DX 산출물</a:t>
            </a:r>
            <a:endParaRPr lang="ko-KR" altLang="en-US" sz="2400" dirty="0"/>
          </a:p>
        </p:txBody>
      </p:sp>
      <p:sp>
        <p:nvSpPr>
          <p:cNvPr id="4" name="seal 찐"/>
          <p:cNvSpPr/>
          <p:nvPr/>
        </p:nvSpPr>
        <p:spPr>
          <a:xfrm rot="-300000">
            <a:off x="10607040" y="548640"/>
            <a:ext cx="1051560" cy="585216"/>
          </a:xfrm>
          <a:prstGeom prst="roundRect">
            <a:avLst>
              <a:gd name="adj" fmla="val 15625"/>
            </a:avLst>
          </a:prstGeom>
          <a:solidFill>
            <a:schemeClr val="accent1"/>
          </a:solidFill>
          <a:ln w="12700">
            <a:solidFill>
              <a:schemeClr val="accent1"/>
            </a:solidFill>
          </a:ln>
        </p:spPr>
        <p:txBody>
          <a:bodyPr wrap="square" lIns="0" tIns="0" rIns="0" bIns="0" rtlCol="0" anchor="ctr"/>
          <a:lstStyle/>
          <a:p>
            <a:pPr marL="0" indent="0" algn="ctr" eaLnBrk="0">
              <a:buNone/>
            </a:pPr>
            <a:r>
              <a:rPr lang="ko-KR" altLang="en-US" sz="1700" b="1" dirty="0">
                <a:solidFill>
                  <a:schemeClr val="bg1"/>
                </a:solidFill>
              </a:rPr>
              <a:t>찐</a:t>
            </a:r>
            <a:endParaRPr lang="ko-KR" altLang="en-US" sz="17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LocalPass">
  <a:themeElements>
    <a:clrScheme name="LocalPass">
      <a:dk1>
        <a:srgbClr val="1E2233"/>
      </a:dk1>
      <a:lt1>
        <a:srgbClr val="FFFFFF"/>
      </a:lt1>
      <a:dk2>
        <a:srgbClr val="4A5068"/>
      </a:dk2>
      <a:lt2>
        <a:srgbClr val="F5F5F7"/>
      </a:lt2>
      <a:accent1>
        <a:srgbClr val="C8283F"/>
      </a:accent1>
      <a:accent2>
        <a:srgbClr val="1F6F57"/>
      </a:accent2>
      <a:accent3>
        <a:srgbClr val="9A6410"/>
      </a:accent3>
      <a:accent4>
        <a:srgbClr val="FBE4E7"/>
      </a:accent4>
      <a:accent5>
        <a:srgbClr val="DCEBF5"/>
      </a:accent5>
      <a:accent6>
        <a:srgbClr val="E2EADB"/>
      </a:accent6>
      <a:hlink>
        <a:srgbClr val="C8283F"/>
      </a:hlink>
      <a:folHlink>
        <a:srgbClr val="4A5068"/>
      </a:folHlink>
    </a:clrScheme>
    <a:fontScheme name="LocalPass">
      <a:majorFont>
        <a:latin typeface="Noto Sans KR"/>
        <a:ea typeface="Noto Sans KR"/>
        <a:cs typeface=""/>
        <a:font script="Jpan" typeface="游ゴシック Light"/>
        <a:font script="Hang" typeface="Noto Sans KR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Noto Sans KR"/>
        <a:ea typeface="Noto Sans KR"/>
        <a:cs typeface=""/>
        <a:font script="Jpan" typeface="游ゴシック"/>
        <a:font script="Hang" typeface="Noto Sans KR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맑은 고딕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맑은 고딕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2534</Words>
  <Application>Microsoft Office PowerPoint</Application>
  <PresentationFormat>와이드스크린</PresentationFormat>
  <Paragraphs>426</Paragraphs>
  <Slides>20</Slides>
  <Notes>20</Notes>
  <HiddenSlides>0</HiddenSlides>
  <MMClips>0</MMClips>
  <ScaleCrop>false</ScaleCrop>
  <HeadingPairs>
    <vt:vector size="6" baseType="variant">
      <vt:variant>
        <vt:lpstr>사용한 글꼴</vt:lpstr>
      </vt:variant>
      <vt:variant>
        <vt:i4>2</vt:i4>
      </vt:variant>
      <vt:variant>
        <vt:lpstr>테마</vt:lpstr>
      </vt:variant>
      <vt:variant>
        <vt:i4>1</vt:i4>
      </vt:variant>
      <vt:variant>
        <vt:lpstr>슬라이드 제목</vt:lpstr>
      </vt:variant>
      <vt:variant>
        <vt:i4>20</vt:i4>
      </vt:variant>
    </vt:vector>
  </HeadingPairs>
  <TitlesOfParts>
    <vt:vector size="23" baseType="lpstr">
      <vt:lpstr>Noto Sans KR</vt:lpstr>
      <vt:lpstr>Arial</vt:lpstr>
      <vt:lpstr>LocalPass</vt:lpstr>
      <vt:lpstr>LocalPass 기능명세서</vt:lpstr>
      <vt:lpstr>서비스 개요</vt:lpstr>
      <vt:lpstr>시스템 구성도</vt:lpstr>
      <vt:lpstr>기능 목록</vt:lpstr>
      <vt:lpstr>메인 화면 · 언어 전환</vt:lpstr>
      <vt:lpstr>지역 선택 · 장소 목록</vt:lpstr>
      <vt:lpstr>필터 · 정렬 · 전국 검색</vt:lpstr>
      <vt:lpstr>장소 상세 정보</vt:lpstr>
      <vt:lpstr>후기 신뢰도 분석</vt:lpstr>
      <vt:lpstr>분석 진행 표시</vt:lpstr>
      <vt:lpstr>의심 후기 숨김 · 원문 확인</vt:lpstr>
      <vt:lpstr>직접 후기 검사 · 인젝션 차단</vt:lpstr>
      <vt:lpstr>다국어 지원</vt:lpstr>
      <vt:lpstr>GPU 온디맨드 · 콜드 스타트 안내</vt:lpstr>
      <vt:lpstr>모바일 반응형</vt:lpstr>
      <vt:lpstr>신뢰도 판정 파이프라인</vt:lpstr>
      <vt:lpstr>보안 설계</vt:lpstr>
      <vt:lpstr>검증 결과와 한계</vt:lpstr>
      <vt:lpstr>기술 스택 · 운영 비용</vt:lpstr>
      <vt:lpstr>번역은 이미 다들 합니다. 우리는 그 정보가 진짜인지 가려냅니다.</vt:lpstr>
    </vt:vector>
  </TitlesOfParts>
  <Company>2026 지역혁신 인재양성 연합 페스티벌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LocalPass 기능명세서</dc:title>
  <dc:subject>PptxGenJS Presentation</dc:subject>
  <dc:creator>류황규, 박건우, 홍승우, 황지룡</dc:creator>
  <cp:lastModifiedBy>건우 박</cp:lastModifiedBy>
  <cp:revision>2</cp:revision>
  <dcterms:created xsi:type="dcterms:W3CDTF">2026-10-02T15:28:40Z</dcterms:created>
  <dcterms:modified xsi:type="dcterms:W3CDTF">2026-10-02T15:29:01Z</dcterms:modified>
</cp:coreProperties>
</file>